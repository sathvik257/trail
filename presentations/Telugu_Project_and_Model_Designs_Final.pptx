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b919ecb2af4687" /><Relationship Type="http://schemas.openxmlformats.org/officeDocument/2006/relationships/extended-properties" Target="/docProps/app.xml" Id="R5a78e8a3a54b4b13" /><Relationship Type="http://schemas.openxmlformats.org/officeDocument/2006/relationships/officeDocument" Target="/ppt/presentation.xml" Id="Rfe430f13e8e74c0b" /></Relationships>
</file>

<file path=ppt/presentation.xml><?xml version="1.0" encoding="utf-8"?>
<p:presentation xmlns:p="http://schemas.openxmlformats.org/presentationml/2006/main">
  <p:sldMasterIdLst>
    <p:sldMasterId xmlns:r="http://schemas.openxmlformats.org/officeDocument/2006/relationships" id="2147483648" r:id="R17be59b161a74b62"/>
  </p:sldMasterIdLst>
  <p:notesMasterIdLst>
    <p:notesMasterId xmlns:r="http://schemas.openxmlformats.org/officeDocument/2006/relationships" r:id="Rcd16fd28b7984ffa"/>
  </p:notesMasterIdLst>
  <p:sldIdLst>
    <p:sldId xmlns:r="http://schemas.openxmlformats.org/officeDocument/2006/relationships" id="256" r:id="R05a9f5fb6ef24624"/>
    <p:sldId xmlns:r="http://schemas.openxmlformats.org/officeDocument/2006/relationships" id="257" r:id="R8d4f402bd6264fe2"/>
    <p:sldId xmlns:r="http://schemas.openxmlformats.org/officeDocument/2006/relationships" id="258" r:id="Rd2b6075d4dc54eb7"/>
    <p:sldId xmlns:r="http://schemas.openxmlformats.org/officeDocument/2006/relationships" id="259" r:id="R5cbdec8e6d024c3a"/>
    <p:sldId xmlns:r="http://schemas.openxmlformats.org/officeDocument/2006/relationships" id="260" r:id="R90da3a114b1b4b61"/>
    <p:sldId xmlns:r="http://schemas.openxmlformats.org/officeDocument/2006/relationships" id="261" r:id="Rc94f845ce19544c6"/>
    <p:sldId xmlns:r="http://schemas.openxmlformats.org/officeDocument/2006/relationships" id="262" r:id="Rebea8331b6ea445e"/>
    <p:sldId xmlns:r="http://schemas.openxmlformats.org/officeDocument/2006/relationships" id="263" r:id="Re8758ebdc5984c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715e72b7bc4106" /><Relationship Type="http://schemas.openxmlformats.org/officeDocument/2006/relationships/slideMaster" Target="/ppt/slideMasters/slideMaster1.xml" Id="R17be59b161a74b62" /><Relationship Type="http://schemas.openxmlformats.org/officeDocument/2006/relationships/notesMaster" Target="/ppt/notesMasters/notesMaster1.xml" Id="Rcd16fd28b7984ffa" /><Relationship Type="http://schemas.openxmlformats.org/officeDocument/2006/relationships/presProps" Target="/ppt/presProps.xml" Id="Ra3231d168f194a48" /><Relationship Type="http://schemas.openxmlformats.org/officeDocument/2006/relationships/tableStyles" Target="/ppt/tableStyles.xml" Id="Rd58323b044484baf" /><Relationship Type="http://schemas.openxmlformats.org/officeDocument/2006/relationships/slide" Target="/ppt/slides/slide1.xml" Id="R05a9f5fb6ef24624" /><Relationship Type="http://schemas.openxmlformats.org/officeDocument/2006/relationships/slide" Target="/ppt/slides/slide2.xml" Id="R8d4f402bd6264fe2" /><Relationship Type="http://schemas.openxmlformats.org/officeDocument/2006/relationships/slide" Target="/ppt/slides/slide3.xml" Id="Rd2b6075d4dc54eb7" /><Relationship Type="http://schemas.openxmlformats.org/officeDocument/2006/relationships/slide" Target="/ppt/slides/slide4.xml" Id="R5cbdec8e6d024c3a" /><Relationship Type="http://schemas.openxmlformats.org/officeDocument/2006/relationships/slide" Target="/ppt/slides/slide5.xml" Id="R90da3a114b1b4b61" /><Relationship Type="http://schemas.openxmlformats.org/officeDocument/2006/relationships/slide" Target="/ppt/slides/slide6.xml" Id="Rc94f845ce19544c6" /><Relationship Type="http://schemas.openxmlformats.org/officeDocument/2006/relationships/slide" Target="/ppt/slides/slide7.xml" Id="Rebea8331b6ea445e" /><Relationship Type="http://schemas.openxmlformats.org/officeDocument/2006/relationships/slide" Target="/ppt/slides/slide8.xml" Id="Re8758ebdc5984c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b011bdc9a94f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457339f83244c6" /><Relationship Type="http://schemas.openxmlformats.org/officeDocument/2006/relationships/notesMaster" Target="/ppt/notesMasters/notesMaster1.xml" Id="R981808203f2442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ae3b6763f54a28" /><Relationship Type="http://schemas.openxmlformats.org/officeDocument/2006/relationships/notesMaster" Target="/ppt/notesMasters/notesMaster1.xml" Id="R09a2a7820f0745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2b650cc8cb432e" /><Relationship Type="http://schemas.openxmlformats.org/officeDocument/2006/relationships/notesMaster" Target="/ppt/notesMasters/notesMaster1.xml" Id="R7266d8fb9f9f41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1c503297aa4520" /><Relationship Type="http://schemas.openxmlformats.org/officeDocument/2006/relationships/notesMaster" Target="/ppt/notesMasters/notesMaster1.xml" Id="R7eb84eaf6c0745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f39ddd6e7d4e11" /><Relationship Type="http://schemas.openxmlformats.org/officeDocument/2006/relationships/notesMaster" Target="/ppt/notesMasters/notesMaster1.xml" Id="R7bd942f2257447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426abea04943f5" /><Relationship Type="http://schemas.openxmlformats.org/officeDocument/2006/relationships/notesMaster" Target="/ppt/notesMasters/notesMaster1.xml" Id="Rd12974636d4c43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f752b9322f4a23" /><Relationship Type="http://schemas.openxmlformats.org/officeDocument/2006/relationships/notesMaster" Target="/ppt/notesMasters/notesMaster1.xml" Id="R26f0de4e4c6b46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1b15d56bd248a7" /><Relationship Type="http://schemas.openxmlformats.org/officeDocument/2006/relationships/notesMaster" Target="/ppt/notesMasters/notesMaster1.xml" Id="R5f035b1621c24c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predicts the next word from a short text prefix. The overall scope is multilingual, with Telugu as the current implementation. All four models have completed five epochs, held-out evaluation and verification.</a:t>
            </a:r>
          </a:p>
          <a:p xmlns:a="http://schemas.openxmlformats.org/drawingml/2006/main">
            <a:r>
              <a:t/>
            </a:r>
          </a:p>
          <a:p xmlns:a="http://schemas.openxmlformats.org/drawingml/2006/main">
            <a:r>
              <a:t>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supports Telugu. Multilingual expansion remains future scope. The fixed output vocabulary limits which target words can be suggested.</a:t>
            </a:r>
          </a:p>
          <a:p xmlns:a="http://schemas.openxmlformats.org/drawingml/2006/main">
            <a:r>
              <a:t/>
            </a:r>
          </a:p>
          <a:p xmlns:a="http://schemas.openxmlformats.org/drawingml/2006/main">
            <a:r>
              <a:t>Evidence: src/telugu_neural_predictor.py; src/wordchar_model.py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size 200,092. Word CNN top-1 17.67%, gated word-character CNN 18.55%. Results are single seed with different parameter counts. Research originality and the gate-specific benefit remain unestablished.</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row describes training and held-out evaluation. The lower row is the live application, which uses the saved LSTM. The other models are research comparisons, not deployed options. Vocabulary is fitted only on training data.</a:t>
            </a:r>
          </a:p>
          <a:p xmlns:a="http://schemas.openxmlformats.org/drawingml/2006/main">
            <a:r>
              <a:t/>
            </a:r>
          </a:p>
          <a:p xmlns:a="http://schemas.openxmlformats.org/drawingml/2006/main">
            <a:r>
              <a:t>Evidence: src/train_telugu_comparison.py; src/telugu_app.py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recurrent layer. f, i and o are sigmoid forget, input and output gates. g is the tanh candidate state, c is cell memory. The prediction head consumes the final hidden state.</a:t>
            </a:r>
          </a:p>
          <a:p xmlns:a="http://schemas.openxmlformats.org/drawingml/2006/main">
            <a:r>
              <a:t/>
            </a:r>
          </a:p>
          <a:p xmlns:a="http://schemas.openxmlformats.org/drawingml/2006/main">
            <a:r>
              <a:t>Evidence: src/model.py; outputs/telugu_comparison/lstm_test_metrics.json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embedding sequence. Their terminal hidden states concatenate before output projection. Arrows indicate branch flow. More parameters than the LSTM baseline, so the comparison does not isolate directionality alone.</a:t>
            </a:r>
          </a:p>
          <a:p xmlns:a="http://schemas.openxmlformats.org/drawingml/2006/main">
            <a:r>
              <a:t/>
            </a:r>
          </a:p>
          <a:p xmlns:a="http://schemas.openxmlformats.org/drawingml/2006/main">
            <a:r>
              <a:t>Evidence: src/model.py; outputs/telugu_comparison/bilstm_test_metrics.json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convolution outputs value v and gate logits u. The sigmoid gate modulates the residual update. The last position representation feeds a 20,000-class head. This model uses word embeddings only.</a:t>
            </a:r>
          </a:p>
          <a:p xmlns:a="http://schemas.openxmlformats.org/drawingml/2006/main">
            <a:r>
              <a:t/>
            </a:r>
          </a:p>
          <a:p xmlns:a="http://schemas.openxmlformats.org/drawingml/2006/main">
            <a:r>
              <a:t>Evidence: src/model.py; outputs/telugu_cnn/cnn_test_metrics.json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word. The character branch uses a training-only alphabet, 16-d character embeddings, kernel-3 convolution, ReLU and masked max pooling. It retains the last 32 code points. Word and character features combine through an element-wise sigmoid gate, then a projection and the causal CNN. Unknown-prefix top-1 improves from 13.13% to 14.64% over word CNN; rare-target improvement was not demonstrated. Gate ablation and research originality remain future validation.</a:t>
            </a:r>
          </a:p>
          <a:p xmlns:a="http://schemas.openxmlformats.org/drawingml/2006/main">
            <a:r>
              <a:t/>
            </a:r>
          </a:p>
          <a:p xmlns:a="http://schemas.openxmlformats.org/drawingml/2006/main">
            <a:r>
              <a:t>Evidence: src/wordchar_model.py; outputs/telugu_wordchar/wordchar_cnn_test_metrics.json;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c0135101bd4e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756b9214e745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e35c412eda4f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4bd0feff0946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7e85751fea4ab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28b57cf8a647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40FAB9-997E-4C86-883C-C7E7546B3F9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AA9179-B589-498E-8350-BCE7A82AB02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F9EAA6-1E1A-47B6-BE67-B2703C91C9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090895-3BB9-4E4B-9EC7-52C333A31A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9CCF08-8AED-410C-8CD7-75ADDECC9C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695DE0-27BE-4089-9A8C-3904A09A59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A6A29E-74CA-4E07-BB0C-4DCF8E9A7F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8A8851-F5FF-4E56-B535-10DD7E2BDD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992F6E-95B3-4404-A1AB-6941EFFD6B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7F99D5-CBED-4E50-80C6-32BFFE3CA2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f45743996540dd" /><Relationship Type="http://schemas.openxmlformats.org/officeDocument/2006/relationships/slideLayout" Target="/ppt/slideLayouts/slideLayout1.xml" Id="R28cd665c0e184d10" /><Relationship Type="http://schemas.openxmlformats.org/officeDocument/2006/relationships/slideLayout" Target="/ppt/slideLayouts/slideLayout2.xml" Id="R58e3a137e5f549a2" /><Relationship Type="http://schemas.openxmlformats.org/officeDocument/2006/relationships/slideLayout" Target="/ppt/slideLayouts/slideLayout3.xml" Id="R0271ae680a234ff4" /><Relationship Type="http://schemas.openxmlformats.org/officeDocument/2006/relationships/slideLayout" Target="/ppt/slideLayouts/slideLayout4.xml" Id="Rfa4e222751c549e2" /><Relationship Type="http://schemas.openxmlformats.org/officeDocument/2006/relationships/slideLayout" Target="/ppt/slideLayouts/slideLayout5.xml" Id="R6755ac37ef534da7" /><Relationship Type="http://schemas.openxmlformats.org/officeDocument/2006/relationships/slideLayout" Target="/ppt/slideLayouts/slideLayout6.xml" Id="R5be47d7b3b5c4c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cd665c0e184d10"/>
    <p:sldLayoutId xmlns:r="http://schemas.openxmlformats.org/officeDocument/2006/relationships" id="2147483650" r:id="R58e3a137e5f549a2"/>
    <p:sldLayoutId xmlns:r="http://schemas.openxmlformats.org/officeDocument/2006/relationships" id="2147483651" r:id="R0271ae680a234ff4"/>
    <p:sldLayoutId xmlns:r="http://schemas.openxmlformats.org/officeDocument/2006/relationships" id="2147483652" r:id="Rfa4e222751c549e2"/>
    <p:sldLayoutId xmlns:r="http://schemas.openxmlformats.org/officeDocument/2006/relationships" id="2147483653" r:id="R6755ac37ef534da7"/>
    <p:sldLayoutId xmlns:r="http://schemas.openxmlformats.org/officeDocument/2006/relationships" id="2147483654" r:id="R5be47d7b3b5c4c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2027466ef044ea" /><Relationship Type="http://schemas.openxmlformats.org/officeDocument/2006/relationships/notesSlide" Target="/ppt/notesSlides/notesSlide1.xml" Id="Rd0a0938989314c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e96b1d4b7d4350" /><Relationship Type="http://schemas.openxmlformats.org/officeDocument/2006/relationships/notesSlide" Target="/ppt/notesSlides/notesSlide2.xml" Id="Rb288e0e866e94a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eeb1a80aa9b496d" /><Relationship Type="http://schemas.openxmlformats.org/officeDocument/2006/relationships/notesSlide" Target="/ppt/notesSlides/notesSlide3.xml" Id="R91b2e75f1d6945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3fa56e1d594f2c" /><Relationship Type="http://schemas.openxmlformats.org/officeDocument/2006/relationships/notesSlide" Target="/ppt/notesSlides/notesSlide4.xml" Id="R6f7a0c4f83834e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2f4d90d23248f6" /><Relationship Type="http://schemas.openxmlformats.org/officeDocument/2006/relationships/notesSlide" Target="/ppt/notesSlides/notesSlide5.xml" Id="R58ae10d9d3044f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0665cfcb244e9e" /><Relationship Type="http://schemas.openxmlformats.org/officeDocument/2006/relationships/notesSlide" Target="/ppt/notesSlides/notesSlide6.xml" Id="Rb3035269ab324f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a4bfb19ad54fec" /><Relationship Type="http://schemas.openxmlformats.org/officeDocument/2006/relationships/notesSlide" Target="/ppt/notesSlides/notesSlide7.xml" Id="R7f26574f0e7148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a0580b4d46456c" /><Relationship Type="http://schemas.openxmlformats.org/officeDocument/2006/relationships/notesSlide" Target="/ppt/notesSlides/notesSlide8.xml" Id="Re0198a85f7f645b1" /></Relationships>
</file>

<file path=ppt/slides/slide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E7DDD9-47B0-4589-9B58-93AF3965C4F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7E7D80-DFF1-4BF1-B8D9-CF9DD78048B1}"/>
              </a:ext>
            </a:extLst>
          </p:cNvPr>
          <p:cNvSpPr>
            <a:spLocks xmlns:a="http://schemas.openxmlformats.org/drawingml/2006/main" noGrp="1"/>
          </p:cNvSpPr>
          <p:nvPr/>
        </p:nvSpPr>
        <p:spPr>
          <a:xfrm xmlns:a="http://schemas.openxmlformats.org/drawingml/2006/main">
            <a:off x="714375" y="1381125"/>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5700" b="0">
                <a:solidFill>
                  <a:srgbClr val="344E41"/>
                </a:solidFill>
                <a:latin typeface="Georgia"/>
                <a:ea typeface="Georgia"/>
                <a:cs typeface="Georgia"/>
              </a:defRPr>
            </a:defPPr>
          </a:lstStyle>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MULTILINGUAL</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NEXT-WORD</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PREDICTION</a:t>
            </a:r>
          </a:p>
        </p:txBody>
      </p:sp>
      <p:sp>
        <p:nvSpPr>
          <p:cNvPr id="3" name="">
            <a:extLst xmlns:a="http://schemas.openxmlformats.org/drawingml/2006/main">
              <a:ext uri="{FF2B5EF4-FFF2-40B4-BE49-F238E27FC236}">
                <a16:creationId xmlns:a16="http://schemas.microsoft.com/office/drawing/2014/main" id="{ECE4F49E-ACE5-41C8-BE5F-2B322E29E6A4}"/>
              </a:ext>
            </a:extLst>
          </p:cNvPr>
          <p:cNvSpPr>
            <a:spLocks xmlns:a="http://schemas.openxmlformats.org/drawingml/2006/main" noGrp="1"/>
          </p:cNvSpPr>
          <p:nvPr/>
        </p:nvSpPr>
        <p:spPr>
          <a:xfrm xmlns:a="http://schemas.openxmlformats.org/drawingml/2006/main">
            <a:off x="714375" y="714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TELUGU PHASE</a:t>
            </a:r>
          </a:p>
        </p:txBody>
      </p:sp>
      <p:sp>
        <p:nvSpPr>
          <p:cNvPr id="4" name="">
            <a:extLst xmlns:a="http://schemas.openxmlformats.org/drawingml/2006/main">
              <a:ext uri="{FF2B5EF4-FFF2-40B4-BE49-F238E27FC236}">
                <a16:creationId xmlns:a16="http://schemas.microsoft.com/office/drawing/2014/main" id="{F55B8761-0F42-46EA-908D-07B09D71CE44}"/>
              </a:ext>
            </a:extLst>
          </p:cNvPr>
          <p:cNvSpPr>
            <a:spLocks xmlns:a="http://schemas.openxmlformats.org/drawingml/2006/main" noGrp="1"/>
          </p:cNvSpPr>
          <p:nvPr/>
        </p:nvSpPr>
        <p:spPr>
          <a:xfrm xmlns:a="http://schemas.openxmlformats.org/drawingml/2006/main">
            <a:off x="714375" y="4857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LSTM, Bi-LSTM and convolutional models</a:t>
            </a:r>
          </a:p>
        </p:txBody>
      </p:sp>
      <p:sp>
        <p:nvSpPr>
          <p:cNvPr id="5" name="">
            <a:extLst xmlns:a="http://schemas.openxmlformats.org/drawingml/2006/main">
              <a:ext uri="{FF2B5EF4-FFF2-40B4-BE49-F238E27FC236}">
                <a16:creationId xmlns:a16="http://schemas.microsoft.com/office/drawing/2014/main" id="{6D2235FA-D59C-47C3-891E-6BB670FF0527}"/>
              </a:ext>
            </a:extLst>
          </p:cNvPr>
          <p:cNvSpPr>
            <a:spLocks xmlns:a="http://schemas.openxmlformats.org/drawingml/2006/main" noGrp="1"/>
          </p:cNvSpPr>
          <p:nvPr/>
        </p:nvSpPr>
        <p:spPr>
          <a:xfrm xmlns:a="http://schemas.openxmlformats.org/drawingml/2006/main">
            <a:off x="571500" y="64008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14 October 2026</a:t>
            </a:r>
          </a:p>
        </p:txBody>
      </p:sp>
      <p:sp>
        <p:nvSpPr>
          <p:cNvPr id="6" name="">
            <a:extLst xmlns:a="http://schemas.openxmlformats.org/drawingml/2006/main">
              <a:ext uri="{FF2B5EF4-FFF2-40B4-BE49-F238E27FC236}">
                <a16:creationId xmlns:a16="http://schemas.microsoft.com/office/drawing/2014/main" id="{0C2947DB-0279-4755-A4CC-898D86A1B233}"/>
              </a:ext>
            </a:extLst>
          </p:cNvPr>
          <p:cNvSpPr>
            <a:spLocks xmlns:a="http://schemas.openxmlformats.org/drawingml/2006/main" noGrp="1"/>
          </p:cNvSpPr>
          <p:nvPr/>
        </p:nvSpPr>
        <p:spPr>
          <a:xfrm xmlns:a="http://schemas.openxmlformats.org/drawingml/2006/main">
            <a:off x="8382000" y="6400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UROP PROJECT REVIEW</a:t>
            </a:r>
          </a:p>
        </p:txBody>
      </p:sp>
    </p:spTree>
    <p:extLst>
      <p:ext uri="{BB962C8B-B14F-4D97-AF65-F5344CB8AC3E}">
        <p14:creationId xmlns:p14="http://schemas.microsoft.com/office/powerpoint/2010/main" val="1099620804"/>
      </p:ext>
    </p:extLst>
  </p:cSld>
</p:sld>
</file>

<file path=ppt/slides/slide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552D05-18B5-4A63-97B6-BF0C310B5AE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FC980B-F84F-4452-9585-5FA63FEF3251}"/>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PROBLEM STATEMENT</a:t>
            </a:r>
          </a:p>
        </p:txBody>
      </p:sp>
      <p:sp>
        <p:nvSpPr>
          <p:cNvPr id="3" name="">
            <a:extLst xmlns:a="http://schemas.openxmlformats.org/drawingml/2006/main">
              <a:ext uri="{FF2B5EF4-FFF2-40B4-BE49-F238E27FC236}">
                <a16:creationId xmlns:a16="http://schemas.microsoft.com/office/drawing/2014/main" id="{45FDBB42-CE77-4347-BF73-1AF18D2DC0B8}"/>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2B9DCEC9-CF0F-4C4F-BC34-0BE7E76BE416}"/>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5FE6F62-11BE-4CF1-894F-C8BF76F228AB}"/>
              </a:ext>
            </a:extLst>
          </p:cNvPr>
          <p:cNvSpPr>
            <a:spLocks xmlns:a="http://schemas.openxmlformats.org/drawingml/2006/main" noGrp="1"/>
          </p:cNvSpPr>
          <p:nvPr/>
        </p:nvSpPr>
        <p:spPr>
          <a:xfrm xmlns:a="http://schemas.openxmlformats.org/drawingml/2006/main">
            <a:off x="571500" y="1857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44E41"/>
                </a:solidFill>
                <a:latin typeface="Arial"/>
                <a:ea typeface="Arial"/>
                <a:cs typeface="Arial"/>
              </a:defRPr>
            </a:defPPr>
          </a:lstStyle>
          <a:p xmlns:a="http://schemas.openxmlformats.org/drawingml/2006/main">
            <a:pPr>
              <a:defRPr sz="2550" b="1">
                <a:solidFill>
                  <a:srgbClr val="344E41"/>
                </a:solidFill>
                <a:latin typeface="Arial"/>
                <a:ea typeface="Arial"/>
                <a:cs typeface="Arial"/>
              </a:defRPr>
            </a:pPr>
            <a:r>
              <a:rPr sz="2550" b="1">
                <a:solidFill>
                  <a:srgbClr val="344E41"/>
                </a:solidFill>
                <a:latin typeface="Arial"/>
                <a:ea typeface="Arial"/>
                <a:cs typeface="Arial"/>
              </a:rPr>
              <a:t>Predict a useful next Telugu word from a short typed phrase.</a:t>
            </a:r>
          </a:p>
        </p:txBody>
      </p:sp>
      <p:sp>
        <p:nvSpPr>
          <p:cNvPr id="6" name="">
            <a:extLst xmlns:a="http://schemas.openxmlformats.org/drawingml/2006/main">
              <a:ext uri="{FF2B5EF4-FFF2-40B4-BE49-F238E27FC236}">
                <a16:creationId xmlns:a16="http://schemas.microsoft.com/office/drawing/2014/main" id="{9A0AEADF-C77E-4A6D-B735-97F5593CA479}"/>
              </a:ext>
            </a:extLst>
          </p:cNvPr>
          <p:cNvSpPr>
            <a:spLocks xmlns:a="http://schemas.openxmlformats.org/drawingml/2006/main" noGrp="1"/>
          </p:cNvSpPr>
          <p:nvPr/>
        </p:nvSpPr>
        <p:spPr>
          <a:xfrm xmlns:a="http://schemas.openxmlformats.org/drawingml/2006/main">
            <a:off x="571500" y="27146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948E771-F92E-4C66-BC52-6373B8BC9F5B}"/>
              </a:ext>
            </a:extLst>
          </p:cNvPr>
          <p:cNvSpPr>
            <a:spLocks xmlns:a="http://schemas.openxmlformats.org/drawingml/2006/main" noGrp="1"/>
          </p:cNvSpPr>
          <p:nvPr/>
        </p:nvSpPr>
        <p:spPr>
          <a:xfrm xmlns:a="http://schemas.openxmlformats.org/drawingml/2006/main">
            <a:off x="1428750" y="27146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Word-only models collapse unfamiliar spellings into one unknown token.</a:t>
            </a:r>
          </a:p>
        </p:txBody>
      </p:sp>
      <p:sp>
        <p:nvSpPr>
          <p:cNvPr id="8" name="">
            <a:extLst xmlns:a="http://schemas.openxmlformats.org/drawingml/2006/main">
              <a:ext uri="{FF2B5EF4-FFF2-40B4-BE49-F238E27FC236}">
                <a16:creationId xmlns:a16="http://schemas.microsoft.com/office/drawing/2014/main" id="{D845B36F-1DB4-4DCB-9D99-D9DD61DA9DF5}"/>
              </a:ext>
            </a:extLst>
          </p:cNvPr>
          <p:cNvSpPr>
            <a:spLocks xmlns:a="http://schemas.openxmlformats.org/drawingml/2006/main" noGrp="1"/>
          </p:cNvSpPr>
          <p:nvPr/>
        </p:nvSpPr>
        <p:spPr>
          <a:xfrm xmlns:a="http://schemas.openxmlformats.org/drawingml/2006/main">
            <a:off x="571500" y="36480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69D658B-D2FF-4650-957C-E226F4F94E60}"/>
              </a:ext>
            </a:extLst>
          </p:cNvPr>
          <p:cNvSpPr>
            <a:spLocks xmlns:a="http://schemas.openxmlformats.org/drawingml/2006/main" noGrp="1"/>
          </p:cNvSpPr>
          <p:nvPr/>
        </p:nvSpPr>
        <p:spPr>
          <a:xfrm xmlns:a="http://schemas.openxmlformats.org/drawingml/2006/main">
            <a:off x="1428750" y="36480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Telugu spelling variations motivate combining word and character features.</a:t>
            </a:r>
          </a:p>
        </p:txBody>
      </p:sp>
      <p:sp>
        <p:nvSpPr>
          <p:cNvPr id="10" name="">
            <a:extLst xmlns:a="http://schemas.openxmlformats.org/drawingml/2006/main">
              <a:ext uri="{FF2B5EF4-FFF2-40B4-BE49-F238E27FC236}">
                <a16:creationId xmlns:a16="http://schemas.microsoft.com/office/drawing/2014/main" id="{86156C4B-1DD0-445C-9FD0-9FA3C0F57F6C}"/>
              </a:ext>
            </a:extLst>
          </p:cNvPr>
          <p:cNvSpPr>
            <a:spLocks xmlns:a="http://schemas.openxmlformats.org/drawingml/2006/main" noGrp="1"/>
          </p:cNvSpPr>
          <p:nvPr/>
        </p:nvSpPr>
        <p:spPr>
          <a:xfrm xmlns:a="http://schemas.openxmlformats.org/drawingml/2006/main">
            <a:off x="571500" y="45815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9142735-AAE5-4084-90B6-82A70E095608}"/>
              </a:ext>
            </a:extLst>
          </p:cNvPr>
          <p:cNvSpPr>
            <a:spLocks xmlns:a="http://schemas.openxmlformats.org/drawingml/2006/main" noGrp="1"/>
          </p:cNvSpPr>
          <p:nvPr/>
        </p:nvSpPr>
        <p:spPr>
          <a:xfrm xmlns:a="http://schemas.openxmlformats.org/drawingml/2006/main">
            <a:off x="1428750" y="45815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Compare four models on the same data and show five suggestions in a web app.</a:t>
            </a:r>
          </a:p>
        </p:txBody>
      </p:sp>
    </p:spTree>
    <p:extLst>
      <p:ext uri="{BB962C8B-B14F-4D97-AF65-F5344CB8AC3E}">
        <p14:creationId xmlns:p14="http://schemas.microsoft.com/office/powerpoint/2010/main" val="477921584"/>
      </p:ext>
    </p:extLst>
  </p:cSld>
</p:sld>
</file>

<file path=ppt/slides/slide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545C7A-CB9D-4038-8916-8245529D10BB}"/>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3098E0-9938-4239-8E2F-2E422B5F087A}"/>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ABSTRACT</a:t>
            </a:r>
          </a:p>
        </p:txBody>
      </p:sp>
      <p:sp>
        <p:nvSpPr>
          <p:cNvPr id="3" name="">
            <a:extLst xmlns:a="http://schemas.openxmlformats.org/drawingml/2006/main">
              <a:ext uri="{FF2B5EF4-FFF2-40B4-BE49-F238E27FC236}">
                <a16:creationId xmlns:a16="http://schemas.microsoft.com/office/drawing/2014/main" id="{DDCF9D98-C99D-4244-B244-D58F10E75C98}"/>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696450A0-9A8A-474E-81B1-49D5ABF832E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9888D12-9B63-4D09-8E09-E6B6347033BB}"/>
              </a:ext>
            </a:extLst>
          </p:cNvPr>
          <p:cNvSpPr>
            <a:spLocks xmlns:a="http://schemas.openxmlformats.org/drawingml/2006/main" noGrp="1"/>
          </p:cNvSpPr>
          <p:nvPr/>
        </p:nvSpPr>
        <p:spPr>
          <a:xfrm xmlns:a="http://schemas.openxmlformats.org/drawingml/2006/main">
            <a:off x="571500" y="1809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This project studies multilingual next-word prediction with Telugu as the current language. Native Telugu text from Alpaca and GPTeacher supplies the training data.</a:t>
            </a:r>
          </a:p>
        </p:txBody>
      </p:sp>
      <p:sp>
        <p:nvSpPr>
          <p:cNvPr id="6" name="">
            <a:extLst xmlns:a="http://schemas.openxmlformats.org/drawingml/2006/main">
              <a:ext uri="{FF2B5EF4-FFF2-40B4-BE49-F238E27FC236}">
                <a16:creationId xmlns:a16="http://schemas.microsoft.com/office/drawing/2014/main" id="{CD0101A8-9D35-4CC8-9425-A7236274A0EC}"/>
              </a:ext>
            </a:extLst>
          </p:cNvPr>
          <p:cNvSpPr>
            <a:spLocks xmlns:a="http://schemas.openxmlformats.org/drawingml/2006/main" noGrp="1"/>
          </p:cNvSpPr>
          <p:nvPr/>
        </p:nvSpPr>
        <p:spPr>
          <a:xfrm xmlns:a="http://schemas.openxmlformats.org/drawingml/2006/main">
            <a:off x="571500" y="2952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We compare LSTM, Bi-LSTM, a causal word CNN and a gated word–character CNN using eight-word contexts. The character model learns to combine whole-word and spelling features.</a:t>
            </a:r>
          </a:p>
        </p:txBody>
      </p:sp>
      <p:sp>
        <p:nvSpPr>
          <p:cNvPr id="7" name="">
            <a:extLst xmlns:a="http://schemas.openxmlformats.org/drawingml/2006/main">
              <a:ext uri="{FF2B5EF4-FFF2-40B4-BE49-F238E27FC236}">
                <a16:creationId xmlns:a16="http://schemas.microsoft.com/office/drawing/2014/main" id="{12C6A1A0-B411-427E-AB16-6230499EA944}"/>
              </a:ext>
            </a:extLst>
          </p:cNvPr>
          <p:cNvSpPr>
            <a:spLocks xmlns:a="http://schemas.openxmlformats.org/drawingml/2006/main" noGrp="1"/>
          </p:cNvSpPr>
          <p:nvPr/>
        </p:nvSpPr>
        <p:spPr>
          <a:xfrm xmlns:a="http://schemas.openxmlformats.org/drawingml/2006/main">
            <a:off x="571500" y="4333875"/>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All models completed five epochs. Bi-LSTM achieved 18.82% top-1 accuracy. Character fusion improved over word CNN, including on inputs containing unknown words. A Streamlit interface provides five suggestions.</a:t>
            </a:r>
          </a:p>
        </p:txBody>
      </p:sp>
    </p:spTree>
    <p:extLst>
      <p:ext uri="{BB962C8B-B14F-4D97-AF65-F5344CB8AC3E}">
        <p14:creationId xmlns:p14="http://schemas.microsoft.com/office/powerpoint/2010/main" val="596650236"/>
      </p:ext>
    </p:extLst>
  </p:cSld>
</p:sld>
</file>

<file path=ppt/slides/slide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3F3808B-1967-4322-A398-5CCAB8055069}"/>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A0A07D-8213-42C9-BA5E-D88A67DF66C0}"/>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PROJECT ARCHITECTURE</a:t>
            </a:r>
          </a:p>
        </p:txBody>
      </p:sp>
      <p:sp>
        <p:nvSpPr>
          <p:cNvPr id="3" name="">
            <a:extLst xmlns:a="http://schemas.openxmlformats.org/drawingml/2006/main">
              <a:ext uri="{FF2B5EF4-FFF2-40B4-BE49-F238E27FC236}">
                <a16:creationId xmlns:a16="http://schemas.microsoft.com/office/drawing/2014/main" id="{AF598F83-F403-439A-B837-BA225081D18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Research pipeline and the deployed prediction path</a:t>
            </a:r>
          </a:p>
        </p:txBody>
      </p:sp>
      <p:sp>
        <p:nvSpPr>
          <p:cNvPr id="4" name="">
            <a:extLst xmlns:a="http://schemas.openxmlformats.org/drawingml/2006/main">
              <a:ext uri="{FF2B5EF4-FFF2-40B4-BE49-F238E27FC236}">
                <a16:creationId xmlns:a16="http://schemas.microsoft.com/office/drawing/2014/main" id="{1E5FA0FC-C194-4179-A014-FDA1BC6C538D}"/>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ED29CACC-6EFC-4BAF-AD55-F976D39911F2}"/>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3B349977-B6AB-49ED-802B-41F9CBCA571D}"/>
              </a:ext>
            </a:extLst>
          </p:cNvPr>
          <p:cNvSpPr>
            <a:spLocks xmlns:a="http://schemas.openxmlformats.org/drawingml/2006/main" noGrp="1"/>
          </p:cNvSpPr>
          <p:nvPr/>
        </p:nvSpPr>
        <p:spPr>
          <a:xfrm xmlns:a="http://schemas.openxmlformats.org/drawingml/2006/main">
            <a:off x="571500" y="195262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46136950-034F-4551-B707-65D53FD3EF70}"/>
              </a:ext>
            </a:extLst>
          </p:cNvPr>
          <p:cNvSpPr>
            <a:spLocks xmlns:a="http://schemas.openxmlformats.org/drawingml/2006/main" noGrp="1"/>
          </p:cNvSpPr>
          <p:nvPr/>
        </p:nvSpPr>
        <p:spPr>
          <a:xfrm xmlns:a="http://schemas.openxmlformats.org/drawingml/2006/main">
            <a:off x="647700" y="212407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Telugu datasets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Native text</a:t>
            </a:r>
          </a:p>
        </p:txBody>
      </p:sp>
      <p:sp>
        <p:nvSpPr>
          <p:cNvPr id="8" name="">
            <a:extLst xmlns:a="http://schemas.openxmlformats.org/drawingml/2006/main">
              <a:ext uri="{FF2B5EF4-FFF2-40B4-BE49-F238E27FC236}">
                <a16:creationId xmlns:a16="http://schemas.microsoft.com/office/drawing/2014/main" id="{AC44B482-90BB-4A7B-ADDF-1BE86FE4AE4A}"/>
              </a:ext>
            </a:extLst>
          </p:cNvPr>
          <p:cNvSpPr>
            <a:spLocks xmlns:a="http://schemas.openxmlformats.org/drawingml/2006/main" noGrp="1"/>
          </p:cNvSpPr>
          <p:nvPr/>
        </p:nvSpPr>
        <p:spPr>
          <a:xfrm xmlns:a="http://schemas.openxmlformats.org/drawingml/2006/main">
            <a:off x="2952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C1E3C828-3944-4D05-AA25-5BCB8D6EB192}"/>
              </a:ext>
            </a:extLst>
          </p:cNvPr>
          <p:cNvSpPr>
            <a:spLocks xmlns:a="http://schemas.openxmlformats.org/drawingml/2006/main" noGrp="1"/>
          </p:cNvSpPr>
          <p:nvPr/>
        </p:nvSpPr>
        <p:spPr>
          <a:xfrm xmlns:a="http://schemas.openxmlformats.org/drawingml/2006/main">
            <a:off x="3429000" y="195262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640EA996-BC0D-41DC-802C-B3CE2ACE000D}"/>
              </a:ext>
            </a:extLst>
          </p:cNvPr>
          <p:cNvSpPr>
            <a:spLocks xmlns:a="http://schemas.openxmlformats.org/drawingml/2006/main" noGrp="1"/>
          </p:cNvSpPr>
          <p:nvPr/>
        </p:nvSpPr>
        <p:spPr>
          <a:xfrm xmlns:a="http://schemas.openxmlformats.org/drawingml/2006/main">
            <a:off x="3505200" y="212407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Prepare splits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contexts</a:t>
            </a:r>
          </a:p>
        </p:txBody>
      </p:sp>
      <p:sp>
        <p:nvSpPr>
          <p:cNvPr id="11" name="">
            <a:extLst xmlns:a="http://schemas.openxmlformats.org/drawingml/2006/main">
              <a:ext uri="{FF2B5EF4-FFF2-40B4-BE49-F238E27FC236}">
                <a16:creationId xmlns:a16="http://schemas.microsoft.com/office/drawing/2014/main" id="{673DBAAC-D34B-4CFA-AB51-40C2A737F602}"/>
              </a:ext>
            </a:extLst>
          </p:cNvPr>
          <p:cNvSpPr>
            <a:spLocks xmlns:a="http://schemas.openxmlformats.org/drawingml/2006/main" noGrp="1"/>
          </p:cNvSpPr>
          <p:nvPr/>
        </p:nvSpPr>
        <p:spPr>
          <a:xfrm xmlns:a="http://schemas.openxmlformats.org/drawingml/2006/main">
            <a:off x="58102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1BD49305-2140-44E1-B770-AA986ED4872A}"/>
              </a:ext>
            </a:extLst>
          </p:cNvPr>
          <p:cNvSpPr>
            <a:spLocks xmlns:a="http://schemas.openxmlformats.org/drawingml/2006/main" noGrp="1"/>
          </p:cNvSpPr>
          <p:nvPr/>
        </p:nvSpPr>
        <p:spPr>
          <a:xfrm xmlns:a="http://schemas.openxmlformats.org/drawingml/2006/main">
            <a:off x="6286500" y="195262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AC192584-59FE-4F09-BA39-019FC5160DBA}"/>
              </a:ext>
            </a:extLst>
          </p:cNvPr>
          <p:cNvSpPr>
            <a:spLocks xmlns:a="http://schemas.openxmlformats.org/drawingml/2006/main" noGrp="1"/>
          </p:cNvSpPr>
          <p:nvPr/>
        </p:nvSpPr>
        <p:spPr>
          <a:xfrm xmlns:a="http://schemas.openxmlformats.org/drawingml/2006/main">
            <a:off x="6362700" y="212407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Train 4 models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epochs</a:t>
            </a:r>
          </a:p>
        </p:txBody>
      </p:sp>
      <p:sp>
        <p:nvSpPr>
          <p:cNvPr id="14" name="">
            <a:extLst xmlns:a="http://schemas.openxmlformats.org/drawingml/2006/main">
              <a:ext uri="{FF2B5EF4-FFF2-40B4-BE49-F238E27FC236}">
                <a16:creationId xmlns:a16="http://schemas.microsoft.com/office/drawing/2014/main" id="{E58051BE-AA6F-496E-A849-6D6CB53C6DF8}"/>
              </a:ext>
            </a:extLst>
          </p:cNvPr>
          <p:cNvSpPr>
            <a:spLocks xmlns:a="http://schemas.openxmlformats.org/drawingml/2006/main" noGrp="1"/>
          </p:cNvSpPr>
          <p:nvPr/>
        </p:nvSpPr>
        <p:spPr>
          <a:xfrm xmlns:a="http://schemas.openxmlformats.org/drawingml/2006/main">
            <a:off x="8667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0CF58D17-FB73-4C6B-AA53-27746BB556DF}"/>
              </a:ext>
            </a:extLst>
          </p:cNvPr>
          <p:cNvSpPr>
            <a:spLocks xmlns:a="http://schemas.openxmlformats.org/drawingml/2006/main" noGrp="1"/>
          </p:cNvSpPr>
          <p:nvPr/>
        </p:nvSpPr>
        <p:spPr>
          <a:xfrm xmlns:a="http://schemas.openxmlformats.org/drawingml/2006/main">
            <a:off x="9144000" y="195262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F8D286C9-4837-4C79-9066-457F14A5D867}"/>
              </a:ext>
            </a:extLst>
          </p:cNvPr>
          <p:cNvSpPr>
            <a:spLocks xmlns:a="http://schemas.openxmlformats.org/drawingml/2006/main" noGrp="1"/>
          </p:cNvSpPr>
          <p:nvPr/>
        </p:nvSpPr>
        <p:spPr>
          <a:xfrm xmlns:a="http://schemas.openxmlformats.org/drawingml/2006/main">
            <a:off x="9220200" y="212407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Validate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Test evaluation</a:t>
            </a:r>
          </a:p>
        </p:txBody>
      </p:sp>
      <p:sp>
        <p:nvSpPr>
          <p:cNvPr id="17" name="">
            <a:extLst xmlns:a="http://schemas.openxmlformats.org/drawingml/2006/main">
              <a:ext uri="{FF2B5EF4-FFF2-40B4-BE49-F238E27FC236}">
                <a16:creationId xmlns:a16="http://schemas.microsoft.com/office/drawing/2014/main" id="{B4AD43C3-7889-46C6-9936-495772992E2B}"/>
              </a:ext>
            </a:extLst>
          </p:cNvPr>
          <p:cNvSpPr>
            <a:spLocks xmlns:a="http://schemas.openxmlformats.org/drawingml/2006/main" noGrp="1"/>
          </p:cNvSpPr>
          <p:nvPr/>
        </p:nvSpPr>
        <p:spPr>
          <a:xfrm xmlns:a="http://schemas.openxmlformats.org/drawingml/2006/main">
            <a:off x="571500" y="3143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44E41"/>
                </a:solidFill>
                <a:latin typeface="Arial"/>
                <a:ea typeface="Arial"/>
                <a:cs typeface="Arial"/>
              </a:defRPr>
            </a:defPPr>
          </a:lstStyle>
          <a:p xmlns:a="http://schemas.openxmlformats.org/drawingml/2006/main">
            <a:pPr>
              <a:defRPr sz="1725" b="1">
                <a:solidFill>
                  <a:srgbClr val="344E41"/>
                </a:solidFill>
                <a:latin typeface="Arial"/>
                <a:ea typeface="Arial"/>
                <a:cs typeface="Arial"/>
              </a:defRPr>
            </a:pPr>
            <a:r>
              <a:rPr sz="1725" b="1">
                <a:solidFill>
                  <a:srgbClr val="344E41"/>
                </a:solidFill>
                <a:latin typeface="Arial"/>
                <a:ea typeface="Arial"/>
                <a:cs typeface="Arial"/>
              </a:rPr>
              <a:t>RESEARCH MODELS</a:t>
            </a:r>
          </a:p>
        </p:txBody>
      </p:sp>
      <p:sp>
        <p:nvSpPr>
          <p:cNvPr id="18" name="">
            <a:extLst xmlns:a="http://schemas.openxmlformats.org/drawingml/2006/main">
              <a:ext uri="{FF2B5EF4-FFF2-40B4-BE49-F238E27FC236}">
                <a16:creationId xmlns:a16="http://schemas.microsoft.com/office/drawing/2014/main" id="{68B403A3-6C72-4643-9BA1-A646DC9CED86}"/>
              </a:ext>
            </a:extLst>
          </p:cNvPr>
          <p:cNvSpPr>
            <a:spLocks xmlns:a="http://schemas.openxmlformats.org/drawingml/2006/main" noGrp="1"/>
          </p:cNvSpPr>
          <p:nvPr/>
        </p:nvSpPr>
        <p:spPr>
          <a:xfrm xmlns:a="http://schemas.openxmlformats.org/drawingml/2006/main">
            <a:off x="571500" y="3571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344E41"/>
                </a:solidFill>
                <a:latin typeface="Arial"/>
                <a:ea typeface="Arial"/>
                <a:cs typeface="Arial"/>
              </a:defRPr>
            </a:defPPr>
          </a:lstStyle>
          <a:p xmlns:a="http://schemas.openxmlformats.org/drawingml/2006/main">
            <a:pPr>
              <a:defRPr sz="1950" b="0">
                <a:solidFill>
                  <a:srgbClr val="344E41"/>
                </a:solidFill>
                <a:latin typeface="Arial"/>
                <a:ea typeface="Arial"/>
                <a:cs typeface="Arial"/>
              </a:defRPr>
            </a:pPr>
            <a:r>
              <a:rPr sz="1950" b="0">
                <a:solidFill>
                  <a:srgbClr val="344E41"/>
                </a:solidFill>
                <a:latin typeface="Arial"/>
                <a:ea typeface="Arial"/>
                <a:cs typeface="Arial"/>
              </a:rPr>
              <a:t>LSTM     /     Bi-LSTM     /     Word CNN     /     Gated word–character CNN</a:t>
            </a:r>
          </a:p>
        </p:txBody>
      </p:sp>
      <p:sp>
        <p:nvSpPr>
          <p:cNvPr id="19" name="">
            <a:extLst xmlns:a="http://schemas.openxmlformats.org/drawingml/2006/main">
              <a:ext uri="{FF2B5EF4-FFF2-40B4-BE49-F238E27FC236}">
                <a16:creationId xmlns:a16="http://schemas.microsoft.com/office/drawing/2014/main" id="{B0894F27-8771-4149-A3BA-609C30D22792}"/>
              </a:ext>
            </a:extLst>
          </p:cNvPr>
          <p:cNvSpPr>
            <a:spLocks xmlns:a="http://schemas.openxmlformats.org/drawingml/2006/main" noGrp="1"/>
          </p:cNvSpPr>
          <p:nvPr/>
        </p:nvSpPr>
        <p:spPr>
          <a:xfrm xmlns:a="http://schemas.openxmlformats.org/drawingml/2006/main">
            <a:off x="571500" y="457200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0" name="">
            <a:extLst xmlns:a="http://schemas.openxmlformats.org/drawingml/2006/main">
              <a:ext uri="{FF2B5EF4-FFF2-40B4-BE49-F238E27FC236}">
                <a16:creationId xmlns:a16="http://schemas.microsoft.com/office/drawing/2014/main" id="{04A58F4C-CF40-4D71-8CA3-08D6FE8227E6}"/>
              </a:ext>
            </a:extLst>
          </p:cNvPr>
          <p:cNvSpPr>
            <a:spLocks xmlns:a="http://schemas.openxmlformats.org/drawingml/2006/main" noGrp="1"/>
          </p:cNvSpPr>
          <p:nvPr/>
        </p:nvSpPr>
        <p:spPr>
          <a:xfrm xmlns:a="http://schemas.openxmlformats.org/drawingml/2006/main">
            <a:off x="647700" y="47434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User enters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Telugu phrase</a:t>
            </a:r>
          </a:p>
        </p:txBody>
      </p:sp>
      <p:sp>
        <p:nvSpPr>
          <p:cNvPr id="21" name="">
            <a:extLst xmlns:a="http://schemas.openxmlformats.org/drawingml/2006/main">
              <a:ext uri="{FF2B5EF4-FFF2-40B4-BE49-F238E27FC236}">
                <a16:creationId xmlns:a16="http://schemas.microsoft.com/office/drawing/2014/main" id="{E35F3505-69A1-4EC1-8677-47AB30CFD4D2}"/>
              </a:ext>
            </a:extLst>
          </p:cNvPr>
          <p:cNvSpPr>
            <a:spLocks xmlns:a="http://schemas.openxmlformats.org/drawingml/2006/main" noGrp="1"/>
          </p:cNvSpPr>
          <p:nvPr/>
        </p:nvSpPr>
        <p:spPr>
          <a:xfrm xmlns:a="http://schemas.openxmlformats.org/drawingml/2006/main">
            <a:off x="2952750" y="47625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2" name="">
            <a:extLst xmlns:a="http://schemas.openxmlformats.org/drawingml/2006/main">
              <a:ext uri="{FF2B5EF4-FFF2-40B4-BE49-F238E27FC236}">
                <a16:creationId xmlns:a16="http://schemas.microsoft.com/office/drawing/2014/main" id="{D5A60FD8-AB29-43F0-9F05-CB89D921A596}"/>
              </a:ext>
            </a:extLst>
          </p:cNvPr>
          <p:cNvSpPr>
            <a:spLocks xmlns:a="http://schemas.openxmlformats.org/drawingml/2006/main" noGrp="1"/>
          </p:cNvSpPr>
          <p:nvPr/>
        </p:nvSpPr>
        <p:spPr>
          <a:xfrm xmlns:a="http://schemas.openxmlformats.org/drawingml/2006/main">
            <a:off x="3429000" y="457200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3" name="">
            <a:extLst xmlns:a="http://schemas.openxmlformats.org/drawingml/2006/main">
              <a:ext uri="{FF2B5EF4-FFF2-40B4-BE49-F238E27FC236}">
                <a16:creationId xmlns:a16="http://schemas.microsoft.com/office/drawing/2014/main" id="{54D1AA15-B074-4098-85D1-C8F3ECBACF95}"/>
              </a:ext>
            </a:extLst>
          </p:cNvPr>
          <p:cNvSpPr>
            <a:spLocks xmlns:a="http://schemas.openxmlformats.org/drawingml/2006/main" noGrp="1"/>
          </p:cNvSpPr>
          <p:nvPr/>
        </p:nvSpPr>
        <p:spPr>
          <a:xfrm xmlns:a="http://schemas.openxmlformats.org/drawingml/2006/main">
            <a:off x="3505200" y="47434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Encode input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Last 8 words</a:t>
            </a:r>
          </a:p>
        </p:txBody>
      </p:sp>
      <p:sp>
        <p:nvSpPr>
          <p:cNvPr id="24" name="">
            <a:extLst xmlns:a="http://schemas.openxmlformats.org/drawingml/2006/main">
              <a:ext uri="{FF2B5EF4-FFF2-40B4-BE49-F238E27FC236}">
                <a16:creationId xmlns:a16="http://schemas.microsoft.com/office/drawing/2014/main" id="{FBB4CC81-6596-426B-87B3-5DF06ACBE617}"/>
              </a:ext>
            </a:extLst>
          </p:cNvPr>
          <p:cNvSpPr>
            <a:spLocks xmlns:a="http://schemas.openxmlformats.org/drawingml/2006/main" noGrp="1"/>
          </p:cNvSpPr>
          <p:nvPr/>
        </p:nvSpPr>
        <p:spPr>
          <a:xfrm xmlns:a="http://schemas.openxmlformats.org/drawingml/2006/main">
            <a:off x="5810250" y="47625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5" name="">
            <a:extLst xmlns:a="http://schemas.openxmlformats.org/drawingml/2006/main">
              <a:ext uri="{FF2B5EF4-FFF2-40B4-BE49-F238E27FC236}">
                <a16:creationId xmlns:a16="http://schemas.microsoft.com/office/drawing/2014/main" id="{9CD71C58-B94C-4315-A1C7-CD6C87FD1520}"/>
              </a:ext>
            </a:extLst>
          </p:cNvPr>
          <p:cNvSpPr>
            <a:spLocks xmlns:a="http://schemas.openxmlformats.org/drawingml/2006/main" noGrp="1"/>
          </p:cNvSpPr>
          <p:nvPr/>
        </p:nvSpPr>
        <p:spPr>
          <a:xfrm xmlns:a="http://schemas.openxmlformats.org/drawingml/2006/main">
            <a:off x="6286500" y="45720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26" name="">
            <a:extLst xmlns:a="http://schemas.openxmlformats.org/drawingml/2006/main">
              <a:ext uri="{FF2B5EF4-FFF2-40B4-BE49-F238E27FC236}">
                <a16:creationId xmlns:a16="http://schemas.microsoft.com/office/drawing/2014/main" id="{9E44D221-D43F-45AE-B073-970CBB1DE494}"/>
              </a:ext>
            </a:extLst>
          </p:cNvPr>
          <p:cNvSpPr>
            <a:spLocks xmlns:a="http://schemas.openxmlformats.org/drawingml/2006/main" noGrp="1"/>
          </p:cNvSpPr>
          <p:nvPr/>
        </p:nvSpPr>
        <p:spPr>
          <a:xfrm xmlns:a="http://schemas.openxmlformats.org/drawingml/2006/main">
            <a:off x="6362700" y="47434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Saved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Probabilities</a:t>
            </a:r>
          </a:p>
        </p:txBody>
      </p:sp>
      <p:sp>
        <p:nvSpPr>
          <p:cNvPr id="27" name="">
            <a:extLst xmlns:a="http://schemas.openxmlformats.org/drawingml/2006/main">
              <a:ext uri="{FF2B5EF4-FFF2-40B4-BE49-F238E27FC236}">
                <a16:creationId xmlns:a16="http://schemas.microsoft.com/office/drawing/2014/main" id="{813CD91D-ACD4-4268-B7DC-29F74C2987D7}"/>
              </a:ext>
            </a:extLst>
          </p:cNvPr>
          <p:cNvSpPr>
            <a:spLocks xmlns:a="http://schemas.openxmlformats.org/drawingml/2006/main" noGrp="1"/>
          </p:cNvSpPr>
          <p:nvPr/>
        </p:nvSpPr>
        <p:spPr>
          <a:xfrm xmlns:a="http://schemas.openxmlformats.org/drawingml/2006/main">
            <a:off x="8667750" y="47625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8" name="">
            <a:extLst xmlns:a="http://schemas.openxmlformats.org/drawingml/2006/main">
              <a:ext uri="{FF2B5EF4-FFF2-40B4-BE49-F238E27FC236}">
                <a16:creationId xmlns:a16="http://schemas.microsoft.com/office/drawing/2014/main" id="{DA20C537-AA80-4ECE-83DB-6D3A41735F63}"/>
              </a:ext>
            </a:extLst>
          </p:cNvPr>
          <p:cNvSpPr>
            <a:spLocks xmlns:a="http://schemas.openxmlformats.org/drawingml/2006/main" noGrp="1"/>
          </p:cNvSpPr>
          <p:nvPr/>
        </p:nvSpPr>
        <p:spPr>
          <a:xfrm xmlns:a="http://schemas.openxmlformats.org/drawingml/2006/main">
            <a:off x="9144000" y="457200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9" name="">
            <a:extLst xmlns:a="http://schemas.openxmlformats.org/drawingml/2006/main">
              <a:ext uri="{FF2B5EF4-FFF2-40B4-BE49-F238E27FC236}">
                <a16:creationId xmlns:a16="http://schemas.microsoft.com/office/drawing/2014/main" id="{B271C7A6-CDA0-4DC6-9B5F-939DA364BD8A}"/>
              </a:ext>
            </a:extLst>
          </p:cNvPr>
          <p:cNvSpPr>
            <a:spLocks xmlns:a="http://schemas.openxmlformats.org/drawingml/2006/main" noGrp="1"/>
          </p:cNvSpPr>
          <p:nvPr/>
        </p:nvSpPr>
        <p:spPr>
          <a:xfrm xmlns:a="http://schemas.openxmlformats.org/drawingml/2006/main">
            <a:off x="9220200" y="47434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Streamlit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Top 5 suggestions</a:t>
            </a:r>
          </a:p>
        </p:txBody>
      </p:sp>
    </p:spTree>
    <p:extLst>
      <p:ext uri="{BB962C8B-B14F-4D97-AF65-F5344CB8AC3E}">
        <p14:creationId xmlns:p14="http://schemas.microsoft.com/office/powerpoint/2010/main" val="802458144"/>
      </p:ext>
    </p:extLst>
  </p:cSld>
</p:sld>
</file>

<file path=ppt/slides/slide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D82D358-6449-4A85-89C8-3D816947CA90}"/>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9A63B8-94B9-4F1A-8752-31AE3699E22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ARCHITECTURE</a:t>
            </a:r>
          </a:p>
        </p:txBody>
      </p:sp>
      <p:sp>
        <p:nvSpPr>
          <p:cNvPr id="3" name="">
            <a:extLst xmlns:a="http://schemas.openxmlformats.org/drawingml/2006/main">
              <a:ext uri="{FF2B5EF4-FFF2-40B4-BE49-F238E27FC236}">
                <a16:creationId xmlns:a16="http://schemas.microsoft.com/office/drawing/2014/main" id="{34EEEA55-F8F0-4F4C-881F-0941D0A73A70}"/>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Sequential memory over the observed input words</a:t>
            </a:r>
          </a:p>
        </p:txBody>
      </p:sp>
      <p:sp>
        <p:nvSpPr>
          <p:cNvPr id="4" name="">
            <a:extLst xmlns:a="http://schemas.openxmlformats.org/drawingml/2006/main">
              <a:ext uri="{FF2B5EF4-FFF2-40B4-BE49-F238E27FC236}">
                <a16:creationId xmlns:a16="http://schemas.microsoft.com/office/drawing/2014/main" id="{DFA2EB00-514A-4AE8-A3CE-9608A303229B}"/>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C3D5F39C-C697-4883-972D-915EB97B93B0}"/>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9242BEAD-E04A-45B7-8295-925A738930D8}"/>
              </a:ext>
            </a:extLst>
          </p:cNvPr>
          <p:cNvSpPr>
            <a:spLocks xmlns:a="http://schemas.openxmlformats.org/drawingml/2006/main" noGrp="1"/>
          </p:cNvSpPr>
          <p:nvPr/>
        </p:nvSpPr>
        <p:spPr>
          <a:xfrm xmlns:a="http://schemas.openxmlformats.org/drawingml/2006/main">
            <a:off x="5715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F4A7FF55-FFD9-4DCE-8503-B13CB0A2C24E}"/>
              </a:ext>
            </a:extLst>
          </p:cNvPr>
          <p:cNvSpPr>
            <a:spLocks xmlns:a="http://schemas.openxmlformats.org/drawingml/2006/main" noGrp="1"/>
          </p:cNvSpPr>
          <p:nvPr/>
        </p:nvSpPr>
        <p:spPr>
          <a:xfrm xmlns:a="http://schemas.openxmlformats.org/drawingml/2006/main">
            <a:off x="647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prefix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Token IDs</a:t>
            </a:r>
          </a:p>
        </p:txBody>
      </p:sp>
      <p:sp>
        <p:nvSpPr>
          <p:cNvPr id="8" name="">
            <a:extLst xmlns:a="http://schemas.openxmlformats.org/drawingml/2006/main">
              <a:ext uri="{FF2B5EF4-FFF2-40B4-BE49-F238E27FC236}">
                <a16:creationId xmlns:a16="http://schemas.microsoft.com/office/drawing/2014/main" id="{3835E79B-1C0D-4E3B-A8F7-209EC2370F6B}"/>
              </a:ext>
            </a:extLst>
          </p:cNvPr>
          <p:cNvSpPr>
            <a:spLocks xmlns:a="http://schemas.openxmlformats.org/drawingml/2006/main" noGrp="1"/>
          </p:cNvSpPr>
          <p:nvPr/>
        </p:nvSpPr>
        <p:spPr>
          <a:xfrm xmlns:a="http://schemas.openxmlformats.org/drawingml/2006/main">
            <a:off x="2952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4D8F66C4-3243-46BB-93A0-5B61EDE974C1}"/>
              </a:ext>
            </a:extLst>
          </p:cNvPr>
          <p:cNvSpPr>
            <a:spLocks xmlns:a="http://schemas.openxmlformats.org/drawingml/2006/main" noGrp="1"/>
          </p:cNvSpPr>
          <p:nvPr/>
        </p:nvSpPr>
        <p:spPr>
          <a:xfrm xmlns:a="http://schemas.openxmlformats.org/drawingml/2006/main">
            <a:off x="3429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10D74EEE-114C-4CEE-883B-573A132E7799}"/>
              </a:ext>
            </a:extLst>
          </p:cNvPr>
          <p:cNvSpPr>
            <a:spLocks xmlns:a="http://schemas.openxmlformats.org/drawingml/2006/main" noGrp="1"/>
          </p:cNvSpPr>
          <p:nvPr/>
        </p:nvSpPr>
        <p:spPr>
          <a:xfrm xmlns:a="http://schemas.openxmlformats.org/drawingml/2006/main">
            <a:off x="3505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11" name="">
            <a:extLst xmlns:a="http://schemas.openxmlformats.org/drawingml/2006/main">
              <a:ext uri="{FF2B5EF4-FFF2-40B4-BE49-F238E27FC236}">
                <a16:creationId xmlns:a16="http://schemas.microsoft.com/office/drawing/2014/main" id="{025D949C-9DE3-49A7-92D7-122CBE2D074D}"/>
              </a:ext>
            </a:extLst>
          </p:cNvPr>
          <p:cNvSpPr>
            <a:spLocks xmlns:a="http://schemas.openxmlformats.org/drawingml/2006/main" noGrp="1"/>
          </p:cNvSpPr>
          <p:nvPr/>
        </p:nvSpPr>
        <p:spPr>
          <a:xfrm xmlns:a="http://schemas.openxmlformats.org/drawingml/2006/main">
            <a:off x="58102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64F85FF4-AA5F-4981-A1A7-5745813E146D}"/>
              </a:ext>
            </a:extLst>
          </p:cNvPr>
          <p:cNvSpPr>
            <a:spLocks xmlns:a="http://schemas.openxmlformats.org/drawingml/2006/main" noGrp="1"/>
          </p:cNvSpPr>
          <p:nvPr/>
        </p:nvSpPr>
        <p:spPr>
          <a:xfrm xmlns:a="http://schemas.openxmlformats.org/drawingml/2006/main">
            <a:off x="6286500" y="23812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D6BECE94-6CBE-450D-ACAD-FC5852CA6AF5}"/>
              </a:ext>
            </a:extLst>
          </p:cNvPr>
          <p:cNvSpPr>
            <a:spLocks xmlns:a="http://schemas.openxmlformats.org/drawingml/2006/main" noGrp="1"/>
          </p:cNvSpPr>
          <p:nvPr/>
        </p:nvSpPr>
        <p:spPr>
          <a:xfrm xmlns:a="http://schemas.openxmlformats.org/drawingml/2006/main">
            <a:off x="6362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LSTM layer</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hidden units</a:t>
            </a:r>
          </a:p>
        </p:txBody>
      </p:sp>
      <p:sp>
        <p:nvSpPr>
          <p:cNvPr id="14" name="">
            <a:extLst xmlns:a="http://schemas.openxmlformats.org/drawingml/2006/main">
              <a:ext uri="{FF2B5EF4-FFF2-40B4-BE49-F238E27FC236}">
                <a16:creationId xmlns:a16="http://schemas.microsoft.com/office/drawing/2014/main" id="{44A30971-2F57-47EC-A70D-17783CEF6306}"/>
              </a:ext>
            </a:extLst>
          </p:cNvPr>
          <p:cNvSpPr>
            <a:spLocks xmlns:a="http://schemas.openxmlformats.org/drawingml/2006/main" noGrp="1"/>
          </p:cNvSpPr>
          <p:nvPr/>
        </p:nvSpPr>
        <p:spPr>
          <a:xfrm xmlns:a="http://schemas.openxmlformats.org/drawingml/2006/main">
            <a:off x="8667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0A85E80B-53F6-427D-974C-2B40E2A7F8BD}"/>
              </a:ext>
            </a:extLst>
          </p:cNvPr>
          <p:cNvSpPr>
            <a:spLocks xmlns:a="http://schemas.openxmlformats.org/drawingml/2006/main" noGrp="1"/>
          </p:cNvSpPr>
          <p:nvPr/>
        </p:nvSpPr>
        <p:spPr>
          <a:xfrm xmlns:a="http://schemas.openxmlformats.org/drawingml/2006/main">
            <a:off x="9144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7FB4E16E-1066-43B1-8632-52EEDD2EC565}"/>
              </a:ext>
            </a:extLst>
          </p:cNvPr>
          <p:cNvSpPr>
            <a:spLocks xmlns:a="http://schemas.openxmlformats.org/drawingml/2006/main" noGrp="1"/>
          </p:cNvSpPr>
          <p:nvPr/>
        </p:nvSpPr>
        <p:spPr>
          <a:xfrm xmlns:a="http://schemas.openxmlformats.org/drawingml/2006/main">
            <a:off x="9220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17" name="">
            <a:extLst xmlns:a="http://schemas.openxmlformats.org/drawingml/2006/main">
              <a:ext uri="{FF2B5EF4-FFF2-40B4-BE49-F238E27FC236}">
                <a16:creationId xmlns:a16="http://schemas.microsoft.com/office/drawing/2014/main" id="{F1C0993F-D609-4833-A17D-B20E45F4FEB2}"/>
              </a:ext>
            </a:extLst>
          </p:cNvPr>
          <p:cNvSpPr>
            <a:spLocks xmlns:a="http://schemas.openxmlformats.org/drawingml/2006/main" noGrp="1"/>
          </p:cNvSpPr>
          <p:nvPr/>
        </p:nvSpPr>
        <p:spPr>
          <a:xfrm xmlns:a="http://schemas.openxmlformats.org/drawingml/2006/main">
            <a:off x="619125" y="3905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cₜ = fₜ ⊙ cₜ₋₁ + iₜ ⊙ gₜ</a:t>
            </a:r>
          </a:p>
        </p:txBody>
      </p:sp>
      <p:sp>
        <p:nvSpPr>
          <p:cNvPr id="18" name="">
            <a:extLst xmlns:a="http://schemas.openxmlformats.org/drawingml/2006/main">
              <a:ext uri="{FF2B5EF4-FFF2-40B4-BE49-F238E27FC236}">
                <a16:creationId xmlns:a16="http://schemas.microsoft.com/office/drawing/2014/main" id="{3BA09EE4-A2D7-405E-9F19-50E6072ED341}"/>
              </a:ext>
            </a:extLst>
          </p:cNvPr>
          <p:cNvSpPr>
            <a:spLocks xmlns:a="http://schemas.openxmlformats.org/drawingml/2006/main" noGrp="1"/>
          </p:cNvSpPr>
          <p:nvPr/>
        </p:nvSpPr>
        <p:spPr>
          <a:xfrm xmlns:a="http://schemas.openxmlformats.org/drawingml/2006/main">
            <a:off x="619125" y="4619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hₜ = oₜ ⊙ tanh(cₜ)</a:t>
            </a:r>
          </a:p>
        </p:txBody>
      </p:sp>
      <p:sp>
        <p:nvSpPr>
          <p:cNvPr id="19" name="">
            <a:extLst xmlns:a="http://schemas.openxmlformats.org/drawingml/2006/main">
              <a:ext uri="{FF2B5EF4-FFF2-40B4-BE49-F238E27FC236}">
                <a16:creationId xmlns:a16="http://schemas.microsoft.com/office/drawing/2014/main" id="{B73DAD20-372F-4CCD-AE16-6BBECEA02F44}"/>
              </a:ext>
            </a:extLst>
          </p:cNvPr>
          <p:cNvSpPr>
            <a:spLocks xmlns:a="http://schemas.openxmlformats.org/drawingml/2006/main" noGrp="1"/>
          </p:cNvSpPr>
          <p:nvPr/>
        </p:nvSpPr>
        <p:spPr>
          <a:xfrm xmlns:a="http://schemas.openxmlformats.org/drawingml/2006/main">
            <a:off x="619125" y="55626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final hidden state predicts the next word. Test top-1 accuracy: 18.03%.</a:t>
            </a:r>
          </a:p>
        </p:txBody>
      </p:sp>
    </p:spTree>
    <p:extLst>
      <p:ext uri="{BB962C8B-B14F-4D97-AF65-F5344CB8AC3E}">
        <p14:creationId xmlns:p14="http://schemas.microsoft.com/office/powerpoint/2010/main" val="78197265"/>
      </p:ext>
    </p:extLst>
  </p:cSld>
</p:sld>
</file>

<file path=ppt/slides/slide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83A1A6C-C554-44DD-B7A4-535E4E41FE4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37865F-BA37-40F3-B528-D31BD9197C1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ARCHITECTURE</a:t>
            </a:r>
          </a:p>
        </p:txBody>
      </p:sp>
      <p:sp>
        <p:nvSpPr>
          <p:cNvPr id="3" name="">
            <a:extLst xmlns:a="http://schemas.openxmlformats.org/drawingml/2006/main">
              <a:ext uri="{FF2B5EF4-FFF2-40B4-BE49-F238E27FC236}">
                <a16:creationId xmlns:a16="http://schemas.microsoft.com/office/drawing/2014/main" id="{EED5B607-2253-462A-901F-BF1EE6291AC3}"/>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Two directions process the same observed prefix</a:t>
            </a:r>
          </a:p>
        </p:txBody>
      </p:sp>
      <p:sp>
        <p:nvSpPr>
          <p:cNvPr id="4" name="">
            <a:extLst xmlns:a="http://schemas.openxmlformats.org/drawingml/2006/main">
              <a:ext uri="{FF2B5EF4-FFF2-40B4-BE49-F238E27FC236}">
                <a16:creationId xmlns:a16="http://schemas.microsoft.com/office/drawing/2014/main" id="{4724E876-7746-4E05-8110-0EE9F394179E}"/>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D930FB41-0743-40D9-8A09-2D25691DB32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AB6BEAA3-AC8F-4802-B7F1-B0720CA579ED}"/>
              </a:ext>
            </a:extLst>
          </p:cNvPr>
          <p:cNvSpPr>
            <a:spLocks xmlns:a="http://schemas.openxmlformats.org/drawingml/2006/main" noGrp="1"/>
          </p:cNvSpPr>
          <p:nvPr/>
        </p:nvSpPr>
        <p:spPr>
          <a:xfrm xmlns:a="http://schemas.openxmlformats.org/drawingml/2006/main">
            <a:off x="571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B47B1255-E735-45F9-9F7F-72BF6922CA7F}"/>
              </a:ext>
            </a:extLst>
          </p:cNvPr>
          <p:cNvSpPr>
            <a:spLocks xmlns:a="http://schemas.openxmlformats.org/drawingml/2006/main" noGrp="1"/>
          </p:cNvSpPr>
          <p:nvPr/>
        </p:nvSpPr>
        <p:spPr>
          <a:xfrm xmlns:a="http://schemas.openxmlformats.org/drawingml/2006/main">
            <a:off x="647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FBBCED95-3B8E-403F-86D8-4072C53D7650}"/>
              </a:ext>
            </a:extLst>
          </p:cNvPr>
          <p:cNvSpPr>
            <a:spLocks xmlns:a="http://schemas.openxmlformats.org/drawingml/2006/main" noGrp="1"/>
          </p:cNvSpPr>
          <p:nvPr/>
        </p:nvSpPr>
        <p:spPr>
          <a:xfrm xmlns:a="http://schemas.openxmlformats.org/drawingml/2006/main">
            <a:off x="285750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A89BD26-4B14-45D1-9B0F-98282A78C6F2}"/>
              </a:ext>
            </a:extLst>
          </p:cNvPr>
          <p:cNvSpPr>
            <a:spLocks xmlns:a="http://schemas.openxmlformats.org/drawingml/2006/main" noGrp="1"/>
          </p:cNvSpPr>
          <p:nvPr/>
        </p:nvSpPr>
        <p:spPr>
          <a:xfrm xmlns:a="http://schemas.openxmlformats.org/drawingml/2006/main">
            <a:off x="31432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184872-6BCE-4BA9-BDA6-FA8E62E04388}"/>
              </a:ext>
            </a:extLst>
          </p:cNvPr>
          <p:cNvSpPr>
            <a:spLocks xmlns:a="http://schemas.openxmlformats.org/drawingml/2006/main" noGrp="1"/>
          </p:cNvSpPr>
          <p:nvPr/>
        </p:nvSpPr>
        <p:spPr>
          <a:xfrm xmlns:a="http://schemas.openxmlformats.org/drawingml/2006/main">
            <a:off x="314325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BAFD12-1FD8-4310-8263-34182313DD05}"/>
              </a:ext>
            </a:extLst>
          </p:cNvPr>
          <p:cNvSpPr>
            <a:spLocks xmlns:a="http://schemas.openxmlformats.org/drawingml/2006/main" noGrp="1"/>
          </p:cNvSpPr>
          <p:nvPr/>
        </p:nvSpPr>
        <p:spPr>
          <a:xfrm xmlns:a="http://schemas.openxmlformats.org/drawingml/2006/main">
            <a:off x="314325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635114-BC1F-4DE5-9284-01CA3CDBA94D}"/>
              </a:ext>
            </a:extLst>
          </p:cNvPr>
          <p:cNvSpPr>
            <a:spLocks xmlns:a="http://schemas.openxmlformats.org/drawingml/2006/main" noGrp="1"/>
          </p:cNvSpPr>
          <p:nvPr/>
        </p:nvSpPr>
        <p:spPr>
          <a:xfrm xmlns:a="http://schemas.openxmlformats.org/drawingml/2006/main">
            <a:off x="3429000" y="20955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D105B4C7-95D1-49E8-B0B9-576A1CA6714E}"/>
              </a:ext>
            </a:extLst>
          </p:cNvPr>
          <p:cNvSpPr>
            <a:spLocks xmlns:a="http://schemas.openxmlformats.org/drawingml/2006/main" noGrp="1"/>
          </p:cNvSpPr>
          <p:nvPr/>
        </p:nvSpPr>
        <p:spPr>
          <a:xfrm xmlns:a="http://schemas.openxmlformats.org/drawingml/2006/main">
            <a:off x="3505200" y="22669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Forward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4" name="">
            <a:extLst xmlns:a="http://schemas.openxmlformats.org/drawingml/2006/main">
              <a:ext uri="{FF2B5EF4-FFF2-40B4-BE49-F238E27FC236}">
                <a16:creationId xmlns:a16="http://schemas.microsoft.com/office/drawing/2014/main" id="{B383AD15-DB21-4D98-BF3D-20665168597A}"/>
              </a:ext>
            </a:extLst>
          </p:cNvPr>
          <p:cNvSpPr>
            <a:spLocks xmlns:a="http://schemas.openxmlformats.org/drawingml/2006/main" noGrp="1"/>
          </p:cNvSpPr>
          <p:nvPr/>
        </p:nvSpPr>
        <p:spPr>
          <a:xfrm xmlns:a="http://schemas.openxmlformats.org/drawingml/2006/main">
            <a:off x="3429000" y="3714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5D5AC21A-BDDA-4D32-A3AC-FC056E80D77B}"/>
              </a:ext>
            </a:extLst>
          </p:cNvPr>
          <p:cNvSpPr>
            <a:spLocks xmlns:a="http://schemas.openxmlformats.org/drawingml/2006/main" noGrp="1"/>
          </p:cNvSpPr>
          <p:nvPr/>
        </p:nvSpPr>
        <p:spPr>
          <a:xfrm xmlns:a="http://schemas.openxmlformats.org/drawingml/2006/main">
            <a:off x="3505200" y="3886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Reverse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6" name="">
            <a:extLst xmlns:a="http://schemas.openxmlformats.org/drawingml/2006/main">
              <a:ext uri="{FF2B5EF4-FFF2-40B4-BE49-F238E27FC236}">
                <a16:creationId xmlns:a16="http://schemas.microsoft.com/office/drawing/2014/main" id="{C0D23CDF-6020-43DC-9C52-559A78FE984C}"/>
              </a:ext>
            </a:extLst>
          </p:cNvPr>
          <p:cNvSpPr>
            <a:spLocks xmlns:a="http://schemas.openxmlformats.org/drawingml/2006/main" noGrp="1"/>
          </p:cNvSpPr>
          <p:nvPr/>
        </p:nvSpPr>
        <p:spPr>
          <a:xfrm xmlns:a="http://schemas.openxmlformats.org/drawingml/2006/main">
            <a:off x="571500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C7F4C11-CF9F-455A-BCD2-A5F44191A5BA}"/>
              </a:ext>
            </a:extLst>
          </p:cNvPr>
          <p:cNvSpPr>
            <a:spLocks xmlns:a="http://schemas.openxmlformats.org/drawingml/2006/main" noGrp="1"/>
          </p:cNvSpPr>
          <p:nvPr/>
        </p:nvSpPr>
        <p:spPr>
          <a:xfrm xmlns:a="http://schemas.openxmlformats.org/drawingml/2006/main">
            <a:off x="571500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72C5541-24C5-428F-8DD0-F1E26B113F99}"/>
              </a:ext>
            </a:extLst>
          </p:cNvPr>
          <p:cNvSpPr>
            <a:spLocks xmlns:a="http://schemas.openxmlformats.org/drawingml/2006/main" noGrp="1"/>
          </p:cNvSpPr>
          <p:nvPr/>
        </p:nvSpPr>
        <p:spPr>
          <a:xfrm xmlns:a="http://schemas.openxmlformats.org/drawingml/2006/main">
            <a:off x="60007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D74DB7E-6BED-4518-AA1B-7A36766D1048}"/>
              </a:ext>
            </a:extLst>
          </p:cNvPr>
          <p:cNvSpPr>
            <a:spLocks xmlns:a="http://schemas.openxmlformats.org/drawingml/2006/main" noGrp="1"/>
          </p:cNvSpPr>
          <p:nvPr/>
        </p:nvSpPr>
        <p:spPr>
          <a:xfrm xmlns:a="http://schemas.openxmlformats.org/drawingml/2006/main">
            <a:off x="600075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6825B7A-0A6F-4CEA-9E8B-64CE2586A9BE}"/>
              </a:ext>
            </a:extLst>
          </p:cNvPr>
          <p:cNvSpPr>
            <a:spLocks xmlns:a="http://schemas.openxmlformats.org/drawingml/2006/main" noGrp="1"/>
          </p:cNvSpPr>
          <p:nvPr/>
        </p:nvSpPr>
        <p:spPr>
          <a:xfrm xmlns:a="http://schemas.openxmlformats.org/drawingml/2006/main">
            <a:off x="6286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1F05887F-622B-45F2-ABAD-C45250AB465D}"/>
              </a:ext>
            </a:extLst>
          </p:cNvPr>
          <p:cNvSpPr>
            <a:spLocks xmlns:a="http://schemas.openxmlformats.org/drawingml/2006/main" noGrp="1"/>
          </p:cNvSpPr>
          <p:nvPr/>
        </p:nvSpPr>
        <p:spPr>
          <a:xfrm xmlns:a="http://schemas.openxmlformats.org/drawingml/2006/main">
            <a:off x="6362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Concatenate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256 dimensions</a:t>
            </a:r>
          </a:p>
        </p:txBody>
      </p:sp>
      <p:sp>
        <p:nvSpPr>
          <p:cNvPr id="22" name="">
            <a:extLst xmlns:a="http://schemas.openxmlformats.org/drawingml/2006/main">
              <a:ext uri="{FF2B5EF4-FFF2-40B4-BE49-F238E27FC236}">
                <a16:creationId xmlns:a16="http://schemas.microsoft.com/office/drawing/2014/main" id="{ACD2167F-7A0E-4228-9E94-E0FEE00276E8}"/>
              </a:ext>
            </a:extLst>
          </p:cNvPr>
          <p:cNvSpPr>
            <a:spLocks xmlns:a="http://schemas.openxmlformats.org/drawingml/2006/main" noGrp="1"/>
          </p:cNvSpPr>
          <p:nvPr/>
        </p:nvSpPr>
        <p:spPr>
          <a:xfrm xmlns:a="http://schemas.openxmlformats.org/drawingml/2006/main">
            <a:off x="866775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4563C3BA-755C-4495-A395-B35FCE60922A}"/>
              </a:ext>
            </a:extLst>
          </p:cNvPr>
          <p:cNvSpPr>
            <a:spLocks xmlns:a="http://schemas.openxmlformats.org/drawingml/2006/main" noGrp="1"/>
          </p:cNvSpPr>
          <p:nvPr/>
        </p:nvSpPr>
        <p:spPr>
          <a:xfrm xmlns:a="http://schemas.openxmlformats.org/drawingml/2006/main">
            <a:off x="91440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C5381FF9-14BD-4F7A-A2E6-61F5E1593363}"/>
              </a:ext>
            </a:extLst>
          </p:cNvPr>
          <p:cNvSpPr>
            <a:spLocks xmlns:a="http://schemas.openxmlformats.org/drawingml/2006/main" noGrp="1"/>
          </p:cNvSpPr>
          <p:nvPr/>
        </p:nvSpPr>
        <p:spPr>
          <a:xfrm xmlns:a="http://schemas.openxmlformats.org/drawingml/2006/main">
            <a:off x="92202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25" name="">
            <a:extLst xmlns:a="http://schemas.openxmlformats.org/drawingml/2006/main">
              <a:ext uri="{FF2B5EF4-FFF2-40B4-BE49-F238E27FC236}">
                <a16:creationId xmlns:a16="http://schemas.microsoft.com/office/drawing/2014/main" id="{31382C6B-C294-493C-A90A-7030CC31D331}"/>
              </a:ext>
            </a:extLst>
          </p:cNvPr>
          <p:cNvSpPr>
            <a:spLocks xmlns:a="http://schemas.openxmlformats.org/drawingml/2006/main" noGrp="1"/>
          </p:cNvSpPr>
          <p:nvPr/>
        </p:nvSpPr>
        <p:spPr>
          <a:xfrm xmlns:a="http://schemas.openxmlformats.org/drawingml/2006/main">
            <a:off x="619125" y="4905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344E41"/>
                </a:solidFill>
                <a:latin typeface="Cambria"/>
                <a:ea typeface="Cambria"/>
                <a:cs typeface="Cambria"/>
              </a:defRPr>
            </a:defPPr>
          </a:lstStyle>
          <a:p xmlns:a="http://schemas.openxmlformats.org/drawingml/2006/main">
            <a:pPr>
              <a:defRPr sz="2550" b="0">
                <a:solidFill>
                  <a:srgbClr val="344E41"/>
                </a:solidFill>
                <a:latin typeface="Cambria"/>
                <a:ea typeface="Cambria"/>
                <a:cs typeface="Cambria"/>
              </a:defRPr>
            </a:pPr>
            <a:r>
              <a:rPr sz="2550" b="0">
                <a:solidFill>
                  <a:srgbClr val="344E41"/>
                </a:solidFill>
                <a:latin typeface="Cambria"/>
                <a:ea typeface="Cambria"/>
                <a:cs typeface="Cambria"/>
              </a:rPr>
              <a:t>h = concat(hforward, hreverse)</a:t>
            </a:r>
          </a:p>
        </p:txBody>
      </p:sp>
      <p:sp>
        <p:nvSpPr>
          <p:cNvPr id="26" name="">
            <a:extLst xmlns:a="http://schemas.openxmlformats.org/drawingml/2006/main">
              <a:ext uri="{FF2B5EF4-FFF2-40B4-BE49-F238E27FC236}">
                <a16:creationId xmlns:a16="http://schemas.microsoft.com/office/drawing/2014/main" id="{E74E3D57-3686-4857-9B10-0E30BE6B8A27}"/>
              </a:ext>
            </a:extLst>
          </p:cNvPr>
          <p:cNvSpPr>
            <a:spLocks xmlns:a="http://schemas.openxmlformats.org/drawingml/2006/main" noGrp="1"/>
          </p:cNvSpPr>
          <p:nvPr/>
        </p:nvSpPr>
        <p:spPr>
          <a:xfrm xmlns:a="http://schemas.openxmlformats.org/drawingml/2006/main">
            <a:off x="619125" y="560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Neither direction sees the target word. Test top-1 accuracy: 18.82%.</a:t>
            </a:r>
          </a:p>
        </p:txBody>
      </p:sp>
    </p:spTree>
    <p:extLst>
      <p:ext uri="{BB962C8B-B14F-4D97-AF65-F5344CB8AC3E}">
        <p14:creationId xmlns:p14="http://schemas.microsoft.com/office/powerpoint/2010/main" val="2095981230"/>
      </p:ext>
    </p:extLst>
  </p:cSld>
</p:sld>
</file>

<file path=ppt/slides/slide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01AC3BC-8B25-443B-ADA3-CDD0E12E1DEA}"/>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28AF19-84DA-45F3-9287-7885DBA4BF89}"/>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WORD CNN ARCHITECTURE</a:t>
            </a:r>
          </a:p>
        </p:txBody>
      </p:sp>
      <p:sp>
        <p:nvSpPr>
          <p:cNvPr id="3" name="">
            <a:extLst xmlns:a="http://schemas.openxmlformats.org/drawingml/2006/main">
              <a:ext uri="{FF2B5EF4-FFF2-40B4-BE49-F238E27FC236}">
                <a16:creationId xmlns:a16="http://schemas.microsoft.com/office/drawing/2014/main" id="{2BB78B63-3EE2-46FB-AADB-BF6270E07480}"/>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Gated causal convolutions over word embeddings</a:t>
            </a:r>
          </a:p>
        </p:txBody>
      </p:sp>
      <p:sp>
        <p:nvSpPr>
          <p:cNvPr id="4" name="">
            <a:extLst xmlns:a="http://schemas.openxmlformats.org/drawingml/2006/main">
              <a:ext uri="{FF2B5EF4-FFF2-40B4-BE49-F238E27FC236}">
                <a16:creationId xmlns:a16="http://schemas.microsoft.com/office/drawing/2014/main" id="{FD118626-68F8-4EC8-AEAD-4BEC7140016B}"/>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26A7B0FF-A177-453E-B179-F4FD9EBEB344}"/>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B63372E7-38C2-492F-892D-7FA03C0F065A}"/>
              </a:ext>
            </a:extLst>
          </p:cNvPr>
          <p:cNvSpPr>
            <a:spLocks xmlns:a="http://schemas.openxmlformats.org/drawingml/2006/main" noGrp="1"/>
          </p:cNvSpPr>
          <p:nvPr/>
        </p:nvSpPr>
        <p:spPr>
          <a:xfrm xmlns:a="http://schemas.openxmlformats.org/drawingml/2006/main">
            <a:off x="5715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2D52CC3E-7210-4479-ABC0-66B75AEADC3A}"/>
              </a:ext>
            </a:extLst>
          </p:cNvPr>
          <p:cNvSpPr>
            <a:spLocks xmlns:a="http://schemas.openxmlformats.org/drawingml/2006/main" noGrp="1"/>
          </p:cNvSpPr>
          <p:nvPr/>
        </p:nvSpPr>
        <p:spPr>
          <a:xfrm xmlns:a="http://schemas.openxmlformats.org/drawingml/2006/main">
            <a:off x="647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55CCDC32-A948-4D9E-86A9-EF928CCA9813}"/>
              </a:ext>
            </a:extLst>
          </p:cNvPr>
          <p:cNvSpPr>
            <a:spLocks xmlns:a="http://schemas.openxmlformats.org/drawingml/2006/main" noGrp="1"/>
          </p:cNvSpPr>
          <p:nvPr/>
        </p:nvSpPr>
        <p:spPr>
          <a:xfrm xmlns:a="http://schemas.openxmlformats.org/drawingml/2006/main">
            <a:off x="2952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4D9CFC84-1832-4CB5-B99E-0435E61F78C7}"/>
              </a:ext>
            </a:extLst>
          </p:cNvPr>
          <p:cNvSpPr>
            <a:spLocks xmlns:a="http://schemas.openxmlformats.org/drawingml/2006/main" noGrp="1"/>
          </p:cNvSpPr>
          <p:nvPr/>
        </p:nvSpPr>
        <p:spPr>
          <a:xfrm xmlns:a="http://schemas.openxmlformats.org/drawingml/2006/main">
            <a:off x="3429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E46E8C4C-3644-49CB-8B0F-0D563EB8C372}"/>
              </a:ext>
            </a:extLst>
          </p:cNvPr>
          <p:cNvSpPr>
            <a:spLocks xmlns:a="http://schemas.openxmlformats.org/drawingml/2006/main" noGrp="1"/>
          </p:cNvSpPr>
          <p:nvPr/>
        </p:nvSpPr>
        <p:spPr>
          <a:xfrm xmlns:a="http://schemas.openxmlformats.org/drawingml/2006/main">
            <a:off x="3505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1×1 projection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128 channels</a:t>
            </a:r>
          </a:p>
        </p:txBody>
      </p:sp>
      <p:sp>
        <p:nvSpPr>
          <p:cNvPr id="11" name="">
            <a:extLst xmlns:a="http://schemas.openxmlformats.org/drawingml/2006/main">
              <a:ext uri="{FF2B5EF4-FFF2-40B4-BE49-F238E27FC236}">
                <a16:creationId xmlns:a16="http://schemas.microsoft.com/office/drawing/2014/main" id="{63556FA8-2B84-4C1B-B75B-46D27FA65DDD}"/>
              </a:ext>
            </a:extLst>
          </p:cNvPr>
          <p:cNvSpPr>
            <a:spLocks xmlns:a="http://schemas.openxmlformats.org/drawingml/2006/main" noGrp="1"/>
          </p:cNvSpPr>
          <p:nvPr/>
        </p:nvSpPr>
        <p:spPr>
          <a:xfrm xmlns:a="http://schemas.openxmlformats.org/drawingml/2006/main">
            <a:off x="58102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B236A144-3E5A-4CE2-9488-581E578783C1}"/>
              </a:ext>
            </a:extLst>
          </p:cNvPr>
          <p:cNvSpPr>
            <a:spLocks xmlns:a="http://schemas.openxmlformats.org/drawingml/2006/main" noGrp="1"/>
          </p:cNvSpPr>
          <p:nvPr/>
        </p:nvSpPr>
        <p:spPr>
          <a:xfrm xmlns:a="http://schemas.openxmlformats.org/drawingml/2006/main">
            <a:off x="6286500" y="2238375"/>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AA18F2BC-C1EC-46CC-9629-0B331D1F1C32}"/>
              </a:ext>
            </a:extLst>
          </p:cNvPr>
          <p:cNvSpPr>
            <a:spLocks xmlns:a="http://schemas.openxmlformats.org/drawingml/2006/main" noGrp="1"/>
          </p:cNvSpPr>
          <p:nvPr/>
        </p:nvSpPr>
        <p:spPr>
          <a:xfrm xmlns:a="http://schemas.openxmlformats.org/drawingml/2006/main">
            <a:off x="6362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3 causal blocks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Dilations 1, 2, 4</a:t>
            </a:r>
          </a:p>
        </p:txBody>
      </p:sp>
      <p:sp>
        <p:nvSpPr>
          <p:cNvPr id="14" name="">
            <a:extLst xmlns:a="http://schemas.openxmlformats.org/drawingml/2006/main">
              <a:ext uri="{FF2B5EF4-FFF2-40B4-BE49-F238E27FC236}">
                <a16:creationId xmlns:a16="http://schemas.microsoft.com/office/drawing/2014/main" id="{21E37A5C-9619-476D-9942-DECA590482C0}"/>
              </a:ext>
            </a:extLst>
          </p:cNvPr>
          <p:cNvSpPr>
            <a:spLocks xmlns:a="http://schemas.openxmlformats.org/drawingml/2006/main" noGrp="1"/>
          </p:cNvSpPr>
          <p:nvPr/>
        </p:nvSpPr>
        <p:spPr>
          <a:xfrm xmlns:a="http://schemas.openxmlformats.org/drawingml/2006/main">
            <a:off x="8667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F812C121-B7BC-4209-BE55-809914160C3B}"/>
              </a:ext>
            </a:extLst>
          </p:cNvPr>
          <p:cNvSpPr>
            <a:spLocks xmlns:a="http://schemas.openxmlformats.org/drawingml/2006/main" noGrp="1"/>
          </p:cNvSpPr>
          <p:nvPr/>
        </p:nvSpPr>
        <p:spPr>
          <a:xfrm xmlns:a="http://schemas.openxmlformats.org/drawingml/2006/main">
            <a:off x="9144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779E37C5-DE79-484F-B380-6E104050BDAF}"/>
              </a:ext>
            </a:extLst>
          </p:cNvPr>
          <p:cNvSpPr>
            <a:spLocks xmlns:a="http://schemas.openxmlformats.org/drawingml/2006/main" noGrp="1"/>
          </p:cNvSpPr>
          <p:nvPr/>
        </p:nvSpPr>
        <p:spPr>
          <a:xfrm xmlns:a="http://schemas.openxmlformats.org/drawingml/2006/main">
            <a:off x="9220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Final position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p:txBody>
      </p:sp>
      <p:sp>
        <p:nvSpPr>
          <p:cNvPr id="17" name="">
            <a:extLst xmlns:a="http://schemas.openxmlformats.org/drawingml/2006/main">
              <a:ext uri="{FF2B5EF4-FFF2-40B4-BE49-F238E27FC236}">
                <a16:creationId xmlns:a16="http://schemas.microsoft.com/office/drawing/2014/main" id="{D1B1A999-E6A0-4643-BDFC-792C04AD8B5F}"/>
              </a:ext>
            </a:extLst>
          </p:cNvPr>
          <p:cNvSpPr>
            <a:spLocks xmlns:a="http://schemas.openxmlformats.org/drawingml/2006/main" noGrp="1"/>
          </p:cNvSpPr>
          <p:nvPr/>
        </p:nvSpPr>
        <p:spPr>
          <a:xfrm xmlns:a="http://schemas.openxmlformats.org/drawingml/2006/main">
            <a:off x="619125" y="3762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 = (h + v ⊙ σ(u)) / √2</a:t>
            </a:r>
          </a:p>
        </p:txBody>
      </p:sp>
      <p:sp>
        <p:nvSpPr>
          <p:cNvPr id="18" name="">
            <a:extLst xmlns:a="http://schemas.openxmlformats.org/drawingml/2006/main">
              <a:ext uri="{FF2B5EF4-FFF2-40B4-BE49-F238E27FC236}">
                <a16:creationId xmlns:a16="http://schemas.microsoft.com/office/drawing/2014/main" id="{DF2145A5-6120-42B7-A0EC-F76773369AE5}"/>
              </a:ext>
            </a:extLst>
          </p:cNvPr>
          <p:cNvSpPr>
            <a:spLocks xmlns:a="http://schemas.openxmlformats.org/drawingml/2006/main" noGrp="1"/>
          </p:cNvSpPr>
          <p:nvPr/>
        </p:nvSpPr>
        <p:spPr>
          <a:xfrm xmlns:a="http://schemas.openxmlformats.org/drawingml/2006/main">
            <a:off x="619125" y="47148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Kernel size 3. Left padding prevents access to later input positions.</a:t>
            </a:r>
          </a:p>
        </p:txBody>
      </p:sp>
      <p:sp>
        <p:nvSpPr>
          <p:cNvPr id="19" name="">
            <a:extLst xmlns:a="http://schemas.openxmlformats.org/drawingml/2006/main">
              <a:ext uri="{FF2B5EF4-FFF2-40B4-BE49-F238E27FC236}">
                <a16:creationId xmlns:a16="http://schemas.microsoft.com/office/drawing/2014/main" id="{F5B63146-24D3-4BE6-814B-A5CEA038B35E}"/>
              </a:ext>
            </a:extLst>
          </p:cNvPr>
          <p:cNvSpPr>
            <a:spLocks xmlns:a="http://schemas.openxmlformats.org/drawingml/2006/main" noGrp="1"/>
          </p:cNvSpPr>
          <p:nvPr/>
        </p:nvSpPr>
        <p:spPr>
          <a:xfrm xmlns:a="http://schemas.openxmlformats.org/drawingml/2006/main">
            <a:off x="619125" y="5572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receptive field covers the eight-word context. Test top-1: 17.67%.</a:t>
            </a:r>
          </a:p>
        </p:txBody>
      </p:sp>
    </p:spTree>
    <p:extLst>
      <p:ext uri="{BB962C8B-B14F-4D97-AF65-F5344CB8AC3E}">
        <p14:creationId xmlns:p14="http://schemas.microsoft.com/office/powerpoint/2010/main" val="997912966"/>
      </p:ext>
    </p:extLst>
  </p:cSld>
</p:sld>
</file>

<file path=ppt/slides/slide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4F77859-F795-4E5E-AA6C-FB878597F848}"/>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8332AE-965F-4905-B5C9-9C1014B9429E}"/>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GATED WORD–CHARACTER CNN</a:t>
            </a:r>
          </a:p>
        </p:txBody>
      </p:sp>
      <p:sp>
        <p:nvSpPr>
          <p:cNvPr id="3" name="">
            <a:extLst xmlns:a="http://schemas.openxmlformats.org/drawingml/2006/main">
              <a:ext uri="{FF2B5EF4-FFF2-40B4-BE49-F238E27FC236}">
                <a16:creationId xmlns:a16="http://schemas.microsoft.com/office/drawing/2014/main" id="{79A52699-DC7D-4463-8B9A-CC950DA61DE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Learned fusion of whole-word and spelling representations</a:t>
            </a:r>
          </a:p>
        </p:txBody>
      </p:sp>
      <p:sp>
        <p:nvSpPr>
          <p:cNvPr id="4" name="">
            <a:extLst xmlns:a="http://schemas.openxmlformats.org/drawingml/2006/main">
              <a:ext uri="{FF2B5EF4-FFF2-40B4-BE49-F238E27FC236}">
                <a16:creationId xmlns:a16="http://schemas.microsoft.com/office/drawing/2014/main" id="{B0F478F0-17A9-409E-81E6-D9474CA2087B}"/>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0ACF78CA-234D-43BB-A06C-91CED8C26764}"/>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D4F6F536-231A-49E9-9750-AB242E6E5062}"/>
              </a:ext>
            </a:extLst>
          </p:cNvPr>
          <p:cNvSpPr>
            <a:spLocks xmlns:a="http://schemas.openxmlformats.org/drawingml/2006/main" noGrp="1"/>
          </p:cNvSpPr>
          <p:nvPr/>
        </p:nvSpPr>
        <p:spPr>
          <a:xfrm xmlns:a="http://schemas.openxmlformats.org/drawingml/2006/main">
            <a:off x="571500" y="2095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F11DA838-60F7-4C65-9945-92E59A7D3053}"/>
              </a:ext>
            </a:extLst>
          </p:cNvPr>
          <p:cNvSpPr>
            <a:spLocks xmlns:a="http://schemas.openxmlformats.org/drawingml/2006/main" noGrp="1"/>
          </p:cNvSpPr>
          <p:nvPr/>
        </p:nvSpPr>
        <p:spPr>
          <a:xfrm xmlns:a="http://schemas.openxmlformats.org/drawingml/2006/main">
            <a:off x="647700" y="2266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1414B5EA-FD63-4145-BCF7-9BCDAB15FD61}"/>
              </a:ext>
            </a:extLst>
          </p:cNvPr>
          <p:cNvSpPr>
            <a:spLocks xmlns:a="http://schemas.openxmlformats.org/drawingml/2006/main" noGrp="1"/>
          </p:cNvSpPr>
          <p:nvPr/>
        </p:nvSpPr>
        <p:spPr>
          <a:xfrm xmlns:a="http://schemas.openxmlformats.org/drawingml/2006/main">
            <a:off x="571500" y="3619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9" name="">
            <a:extLst xmlns:a="http://schemas.openxmlformats.org/drawingml/2006/main">
              <a:ext uri="{FF2B5EF4-FFF2-40B4-BE49-F238E27FC236}">
                <a16:creationId xmlns:a16="http://schemas.microsoft.com/office/drawing/2014/main" id="{0BF5709D-1E0D-441D-BB97-2CB137548100}"/>
              </a:ext>
            </a:extLst>
          </p:cNvPr>
          <p:cNvSpPr>
            <a:spLocks xmlns:a="http://schemas.openxmlformats.org/drawingml/2006/main" noGrp="1"/>
          </p:cNvSpPr>
          <p:nvPr/>
        </p:nvSpPr>
        <p:spPr>
          <a:xfrm xmlns:a="http://schemas.openxmlformats.org/drawingml/2006/main">
            <a:off x="647700" y="3790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Character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64-d features</a:t>
            </a:r>
          </a:p>
        </p:txBody>
      </p:sp>
      <p:sp>
        <p:nvSpPr>
          <p:cNvPr id="10" name="">
            <a:extLst xmlns:a="http://schemas.openxmlformats.org/drawingml/2006/main">
              <a:ext uri="{FF2B5EF4-FFF2-40B4-BE49-F238E27FC236}">
                <a16:creationId xmlns:a16="http://schemas.microsoft.com/office/drawing/2014/main" id="{463814AA-3CB9-454D-9FE9-6C8819386815}"/>
              </a:ext>
            </a:extLst>
          </p:cNvPr>
          <p:cNvSpPr>
            <a:spLocks xmlns:a="http://schemas.openxmlformats.org/drawingml/2006/main" noGrp="1"/>
          </p:cNvSpPr>
          <p:nvPr/>
        </p:nvSpPr>
        <p:spPr>
          <a:xfrm xmlns:a="http://schemas.openxmlformats.org/drawingml/2006/main">
            <a:off x="2952750" y="2524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9492493-6EF8-4A63-870E-F6A9CB9E93F5}"/>
              </a:ext>
            </a:extLst>
          </p:cNvPr>
          <p:cNvSpPr>
            <a:spLocks xmlns:a="http://schemas.openxmlformats.org/drawingml/2006/main" noGrp="1"/>
          </p:cNvSpPr>
          <p:nvPr/>
        </p:nvSpPr>
        <p:spPr>
          <a:xfrm xmlns:a="http://schemas.openxmlformats.org/drawingml/2006/main">
            <a:off x="2952750" y="4048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829995E-FAF9-432E-A48F-D10C8856ACB0}"/>
              </a:ext>
            </a:extLst>
          </p:cNvPr>
          <p:cNvSpPr>
            <a:spLocks xmlns:a="http://schemas.openxmlformats.org/drawingml/2006/main" noGrp="1"/>
          </p:cNvSpPr>
          <p:nvPr/>
        </p:nvSpPr>
        <p:spPr>
          <a:xfrm xmlns:a="http://schemas.openxmlformats.org/drawingml/2006/main">
            <a:off x="3333750" y="2524125"/>
            <a:ext cx="19050" cy="15240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3927D6-9BA6-4A29-87A9-097633077253}"/>
              </a:ext>
            </a:extLst>
          </p:cNvPr>
          <p:cNvSpPr>
            <a:spLocks xmlns:a="http://schemas.openxmlformats.org/drawingml/2006/main" noGrp="1"/>
          </p:cNvSpPr>
          <p:nvPr/>
        </p:nvSpPr>
        <p:spPr>
          <a:xfrm xmlns:a="http://schemas.openxmlformats.org/drawingml/2006/main">
            <a:off x="3333750" y="33242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C1BA97-98F6-4115-9DFD-9854F7AA7C1B}"/>
              </a:ext>
            </a:extLst>
          </p:cNvPr>
          <p:cNvSpPr>
            <a:spLocks xmlns:a="http://schemas.openxmlformats.org/drawingml/2006/main" noGrp="1"/>
          </p:cNvSpPr>
          <p:nvPr/>
        </p:nvSpPr>
        <p:spPr>
          <a:xfrm xmlns:a="http://schemas.openxmlformats.org/drawingml/2006/main">
            <a:off x="3714750" y="2857500"/>
            <a:ext cx="2286000" cy="9525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5C24BE2A-D204-44E2-B314-E73EEAEDD7FA}"/>
              </a:ext>
            </a:extLst>
          </p:cNvPr>
          <p:cNvSpPr>
            <a:spLocks xmlns:a="http://schemas.openxmlformats.org/drawingml/2006/main" noGrp="1"/>
          </p:cNvSpPr>
          <p:nvPr/>
        </p:nvSpPr>
        <p:spPr>
          <a:xfrm xmlns:a="http://schemas.openxmlformats.org/drawingml/2006/main">
            <a:off x="379095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Learned gate</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Word + character</a:t>
            </a:r>
          </a:p>
        </p:txBody>
      </p:sp>
      <p:sp>
        <p:nvSpPr>
          <p:cNvPr id="16" name="">
            <a:extLst xmlns:a="http://schemas.openxmlformats.org/drawingml/2006/main">
              <a:ext uri="{FF2B5EF4-FFF2-40B4-BE49-F238E27FC236}">
                <a16:creationId xmlns:a16="http://schemas.microsoft.com/office/drawing/2014/main" id="{8C14E30A-FB35-459D-8F56-C24284118AC2}"/>
              </a:ext>
            </a:extLst>
          </p:cNvPr>
          <p:cNvSpPr>
            <a:spLocks xmlns:a="http://schemas.openxmlformats.org/drawingml/2006/main" noGrp="1"/>
          </p:cNvSpPr>
          <p:nvPr/>
        </p:nvSpPr>
        <p:spPr>
          <a:xfrm xmlns:a="http://schemas.openxmlformats.org/drawingml/2006/main">
            <a:off x="609600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7" name="">
            <a:extLst xmlns:a="http://schemas.openxmlformats.org/drawingml/2006/main">
              <a:ext uri="{FF2B5EF4-FFF2-40B4-BE49-F238E27FC236}">
                <a16:creationId xmlns:a16="http://schemas.microsoft.com/office/drawing/2014/main" id="{B98E269D-AC60-402A-B919-0F3855E4EDD6}"/>
              </a:ext>
            </a:extLst>
          </p:cNvPr>
          <p:cNvSpPr>
            <a:spLocks xmlns:a="http://schemas.openxmlformats.org/drawingml/2006/main" noGrp="1"/>
          </p:cNvSpPr>
          <p:nvPr/>
        </p:nvSpPr>
        <p:spPr>
          <a:xfrm xmlns:a="http://schemas.openxmlformats.org/drawingml/2006/main">
            <a:off x="6762750" y="2857500"/>
            <a:ext cx="20002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8" name="">
            <a:extLst xmlns:a="http://schemas.openxmlformats.org/drawingml/2006/main">
              <a:ext uri="{FF2B5EF4-FFF2-40B4-BE49-F238E27FC236}">
                <a16:creationId xmlns:a16="http://schemas.microsoft.com/office/drawing/2014/main" id="{7960D557-4F78-4F71-8C21-DBDF4CE07E14}"/>
              </a:ext>
            </a:extLst>
          </p:cNvPr>
          <p:cNvSpPr>
            <a:spLocks xmlns:a="http://schemas.openxmlformats.org/drawingml/2006/main" noGrp="1"/>
          </p:cNvSpPr>
          <p:nvPr/>
        </p:nvSpPr>
        <p:spPr>
          <a:xfrm xmlns:a="http://schemas.openxmlformats.org/drawingml/2006/main">
            <a:off x="6838950" y="3028950"/>
            <a:ext cx="1847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Causal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blocks</a:t>
            </a:r>
          </a:p>
        </p:txBody>
      </p:sp>
      <p:sp>
        <p:nvSpPr>
          <p:cNvPr id="19" name="">
            <a:extLst xmlns:a="http://schemas.openxmlformats.org/drawingml/2006/main">
              <a:ext uri="{FF2B5EF4-FFF2-40B4-BE49-F238E27FC236}">
                <a16:creationId xmlns:a16="http://schemas.microsoft.com/office/drawing/2014/main" id="{26D20681-C6F4-42DF-A57D-0E8FEAA599D9}"/>
              </a:ext>
            </a:extLst>
          </p:cNvPr>
          <p:cNvSpPr>
            <a:spLocks xmlns:a="http://schemas.openxmlformats.org/drawingml/2006/main" noGrp="1"/>
          </p:cNvSpPr>
          <p:nvPr/>
        </p:nvSpPr>
        <p:spPr>
          <a:xfrm xmlns:a="http://schemas.openxmlformats.org/drawingml/2006/main">
            <a:off x="8810625"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2DA03585-C621-41DB-86ED-8DDBB145AB6F}"/>
              </a:ext>
            </a:extLst>
          </p:cNvPr>
          <p:cNvSpPr>
            <a:spLocks xmlns:a="http://schemas.openxmlformats.org/drawingml/2006/main" noGrp="1"/>
          </p:cNvSpPr>
          <p:nvPr/>
        </p:nvSpPr>
        <p:spPr>
          <a:xfrm xmlns:a="http://schemas.openxmlformats.org/drawingml/2006/main">
            <a:off x="9334500" y="2857500"/>
            <a:ext cx="21907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89DDA81E-E5CD-4515-AFB2-92B78F4DEB0A}"/>
              </a:ext>
            </a:extLst>
          </p:cNvPr>
          <p:cNvSpPr>
            <a:spLocks xmlns:a="http://schemas.openxmlformats.org/drawingml/2006/main" noGrp="1"/>
          </p:cNvSpPr>
          <p:nvPr/>
        </p:nvSpPr>
        <p:spPr>
          <a:xfrm xmlns:a="http://schemas.openxmlformats.org/drawingml/2006/main">
            <a:off x="9410700" y="3028950"/>
            <a:ext cx="2038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Next word</a:t>
            </a:r>
          </a:p>
        </p:txBody>
      </p:sp>
      <p:sp>
        <p:nvSpPr>
          <p:cNvPr id="22" name="">
            <a:extLst xmlns:a="http://schemas.openxmlformats.org/drawingml/2006/main">
              <a:ext uri="{FF2B5EF4-FFF2-40B4-BE49-F238E27FC236}">
                <a16:creationId xmlns:a16="http://schemas.microsoft.com/office/drawing/2014/main" id="{2824791C-1540-4A70-AE3C-910B8806D507}"/>
              </a:ext>
            </a:extLst>
          </p:cNvPr>
          <p:cNvSpPr>
            <a:spLocks xmlns:a="http://schemas.openxmlformats.org/drawingml/2006/main" noGrp="1"/>
          </p:cNvSpPr>
          <p:nvPr/>
        </p:nvSpPr>
        <p:spPr>
          <a:xfrm xmlns:a="http://schemas.openxmlformats.org/drawingml/2006/main">
            <a:off x="619125" y="47625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g = σ(Wg [e ; c] + bg)</a:t>
            </a:r>
          </a:p>
        </p:txBody>
      </p:sp>
      <p:sp>
        <p:nvSpPr>
          <p:cNvPr id="23" name="">
            <a:extLst xmlns:a="http://schemas.openxmlformats.org/drawingml/2006/main">
              <a:ext uri="{FF2B5EF4-FFF2-40B4-BE49-F238E27FC236}">
                <a16:creationId xmlns:a16="http://schemas.microsoft.com/office/drawing/2014/main" id="{B20A70E0-A1B9-44ED-8B57-1525188E96A1}"/>
              </a:ext>
            </a:extLst>
          </p:cNvPr>
          <p:cNvSpPr>
            <a:spLocks xmlns:a="http://schemas.openxmlformats.org/drawingml/2006/main" noGrp="1"/>
          </p:cNvSpPr>
          <p:nvPr/>
        </p:nvSpPr>
        <p:spPr>
          <a:xfrm xmlns:a="http://schemas.openxmlformats.org/drawingml/2006/main">
            <a:off x="5905500" y="47625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fused = g ⊙ e + (1 − g) ⊙ c</a:t>
            </a:r>
          </a:p>
        </p:txBody>
      </p:sp>
      <p:sp>
        <p:nvSpPr>
          <p:cNvPr id="24" name="">
            <a:extLst xmlns:a="http://schemas.openxmlformats.org/drawingml/2006/main">
              <a:ext uri="{FF2B5EF4-FFF2-40B4-BE49-F238E27FC236}">
                <a16:creationId xmlns:a16="http://schemas.microsoft.com/office/drawing/2014/main" id="{AD390DA7-A343-4319-B64D-BEB5F8F0156A}"/>
              </a:ext>
            </a:extLst>
          </p:cNvPr>
          <p:cNvSpPr>
            <a:spLocks xmlns:a="http://schemas.openxmlformats.org/drawingml/2006/main" noGrp="1"/>
          </p:cNvSpPr>
          <p:nvPr/>
        </p:nvSpPr>
        <p:spPr>
          <a:xfrm xmlns:a="http://schemas.openxmlformats.org/drawingml/2006/main">
            <a:off x="61912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Test top-1: 18.55%. Output vocabulary stays fixed at 20,000 tokens.</a:t>
            </a:r>
          </a:p>
        </p:txBody>
      </p:sp>
    </p:spTree>
    <p:extLst>
      <p:ext uri="{BB962C8B-B14F-4D97-AF65-F5344CB8AC3E}">
        <p14:creationId xmlns:p14="http://schemas.microsoft.com/office/powerpoint/2010/main" val="82765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2026-10-14T09:22:48.1800000Z</dcterms:created>
  <dcterms:modified xsi:type="dcterms:W3CDTF">2026-10-14T09:22:48.1800000Z</dcterms:modified>
</coreProperties>
</file>