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9c824637e34dec" /><Relationship Type="http://schemas.openxmlformats.org/officeDocument/2006/relationships/extended-properties" Target="/docProps/app.xml" Id="Rf77626cca83848b8" /><Relationship Type="http://schemas.openxmlformats.org/officeDocument/2006/relationships/officeDocument" Target="/ppt/presentation.xml" Id="R4c31809cf9c545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83e6e0b5ee4891"/>
  </p:sldMasterIdLst>
  <p:notesMasterIdLst>
    <p:notesMasterId xmlns:r="http://schemas.openxmlformats.org/officeDocument/2006/relationships" r:id="Rfd88f60f7d3a4f51"/>
  </p:notesMasterIdLst>
  <p:sldIdLst>
    <p:sldId xmlns:r="http://schemas.openxmlformats.org/officeDocument/2006/relationships" id="256" r:id="Rbdde7111039f4090"/>
    <p:sldId xmlns:r="http://schemas.openxmlformats.org/officeDocument/2006/relationships" id="257" r:id="R6b558d38501e4f31"/>
    <p:sldId xmlns:r="http://schemas.openxmlformats.org/officeDocument/2006/relationships" id="258" r:id="R1cd5c9c6feaf4977"/>
    <p:sldId xmlns:r="http://schemas.openxmlformats.org/officeDocument/2006/relationships" id="259" r:id="R92d191bd4881401b"/>
    <p:sldId xmlns:r="http://schemas.openxmlformats.org/officeDocument/2006/relationships" id="260" r:id="Rb3aeaa1669474a91"/>
    <p:sldId xmlns:r="http://schemas.openxmlformats.org/officeDocument/2006/relationships" id="261" r:id="Rc68c3b7589524eac"/>
    <p:sldId xmlns:r="http://schemas.openxmlformats.org/officeDocument/2006/relationships" id="262" r:id="R90e4f273d4f24d04"/>
    <p:sldId xmlns:r="http://schemas.openxmlformats.org/officeDocument/2006/relationships" id="263" r:id="R5bc151d860f948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c0e2a447614612" /><Relationship Type="http://schemas.openxmlformats.org/officeDocument/2006/relationships/slideMaster" Target="/ppt/slideMasters/slideMaster1.xml" Id="Red83e6e0b5ee4891" /><Relationship Type="http://schemas.openxmlformats.org/officeDocument/2006/relationships/notesMaster" Target="/ppt/notesMasters/notesMaster1.xml" Id="Rfd88f60f7d3a4f51" /><Relationship Type="http://schemas.openxmlformats.org/officeDocument/2006/relationships/presProps" Target="/ppt/presProps.xml" Id="R82b892545ed647b1" /><Relationship Type="http://schemas.openxmlformats.org/officeDocument/2006/relationships/tableStyles" Target="/ppt/tableStyles.xml" Id="R4967b43e8cea40eb" /><Relationship Type="http://schemas.openxmlformats.org/officeDocument/2006/relationships/slide" Target="/ppt/slides/slide1.xml" Id="Rbdde7111039f4090" /><Relationship Type="http://schemas.openxmlformats.org/officeDocument/2006/relationships/slide" Target="/ppt/slides/slide2.xml" Id="R6b558d38501e4f31" /><Relationship Type="http://schemas.openxmlformats.org/officeDocument/2006/relationships/slide" Target="/ppt/slides/slide3.xml" Id="R1cd5c9c6feaf4977" /><Relationship Type="http://schemas.openxmlformats.org/officeDocument/2006/relationships/slide" Target="/ppt/slides/slide4.xml" Id="R92d191bd4881401b" /><Relationship Type="http://schemas.openxmlformats.org/officeDocument/2006/relationships/slide" Target="/ppt/slides/slide5.xml" Id="Rb3aeaa1669474a91" /><Relationship Type="http://schemas.openxmlformats.org/officeDocument/2006/relationships/slide" Target="/ppt/slides/slide6.xml" Id="Rc68c3b7589524eac" /><Relationship Type="http://schemas.openxmlformats.org/officeDocument/2006/relationships/slide" Target="/ppt/slides/slide7.xml" Id="R90e4f273d4f24d04" /><Relationship Type="http://schemas.openxmlformats.org/officeDocument/2006/relationships/slide" Target="/ppt/slides/slide8.xml" Id="R5bc151d860f948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3a4a76c3ef44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04a075b8d2438f" /><Relationship Type="http://schemas.openxmlformats.org/officeDocument/2006/relationships/notesMaster" Target="/ppt/notesMasters/notesMaster1.xml" Id="R9926af501be346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53dd0f9dcb409e" /><Relationship Type="http://schemas.openxmlformats.org/officeDocument/2006/relationships/notesMaster" Target="/ppt/notesMasters/notesMaster1.xml" Id="Re39edd14f70148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633c7f3b9a4a9c" /><Relationship Type="http://schemas.openxmlformats.org/officeDocument/2006/relationships/notesMaster" Target="/ppt/notesMasters/notesMaster1.xml" Id="Rfa7d347328124c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6dd028b01544e1" /><Relationship Type="http://schemas.openxmlformats.org/officeDocument/2006/relationships/notesMaster" Target="/ppt/notesMasters/notesMaster1.xml" Id="Rb505930936b947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4eab8c50054d6e" /><Relationship Type="http://schemas.openxmlformats.org/officeDocument/2006/relationships/notesMaster" Target="/ppt/notesMasters/notesMaster1.xml" Id="Rd7804e46b4c24f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35b785d29c45f2" /><Relationship Type="http://schemas.openxmlformats.org/officeDocument/2006/relationships/notesMaster" Target="/ppt/notesMasters/notesMaster1.xml" Id="R031c06987e7842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23d1859f334712" /><Relationship Type="http://schemas.openxmlformats.org/officeDocument/2006/relationships/notesMaster" Target="/ppt/notesMasters/notesMaster1.xml" Id="R23018217c85d4a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5da7961f0a434e" /><Relationship Type="http://schemas.openxmlformats.org/officeDocument/2006/relationships/notesMaster" Target="/ppt/notesMasters/notesMaster1.xml" Id="Rc4f78e6f944f44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Multilingual is the overall scope. The current experiment focuses on Telugu. Training is still in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datasets: Telugu-LLM-Labs/telugu_alpaca_yahma_cleaned_filtered_romanized and Telugu-LLM-Labs/telugu_teknium_GPTeacher_general_instruct_filtered_romanized. Fields: telugu_instruction, telugu_input, telugu_output. Source record counts are before processing. Semantic overlap may remain.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data_telugu_llm/provenance.json; src/prepare_telugu_llm_data.py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Dropout 0, vocabulary 20,000, context 8. Best checkpoint minimizes validation loss. Equal training configuration does not mean equal parameter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src/model.py; outputs/telugu_comparison/experiment.json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 and U are learned matrices; b combines the two PyTorch bias terms. h is hidden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src/model.py; https://docs.pytorch.org/docs/2.14/generated/torch.nn.LSTM.html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Bi-LSTM concatenates terminal forward and reverse hidden states. Special tokens are excluded from displayed candidates.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src/model.py; src/telugu_neural_predictor.py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Cross-entropy consumes logits directly. N is the number of examples. Perplexity uses unknown words collapsed into &lt;unk&gt;; it is not open-vocabulary perplexity.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cross-entropy: LSTM 5.9623; Bi-LSTM 5.7106. Epoch 4 validation loss 5.2457, perplexity 189.75. Single seed; models are not parameter-matched.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outputs/telugu_comparison/lstm_test_metrics.json; outputs/telugu_comparison/bilstm_test_metrics.json; outputs/telugu_comparison/bilstm_history.json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LSTM has one complete epoch and a partial second epoch saved; wrapper completes Bi-LSTM then LSTM. Final five-epoch test results are pending. More model names alone do not establish novelty.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outputs/telugu_comparison/status.json; src/complete_telugu_training.py; src/telugu_app.py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52e7d042242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b13efe9364448a" /><Relationship Type="http://schemas.openxmlformats.org/officeDocument/2006/relationships/slideLayout" Target="/ppt/slideLayouts/slideLayout1.xml" Id="R1a8496bf7e9d45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8496bf7e9d45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09b93780b425b" /><Relationship Type="http://schemas.openxmlformats.org/officeDocument/2006/relationships/notesSlide" Target="/ppt/notesSlides/notesSlide1.xml" Id="R99d4d5f668604f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4264c37524946" /><Relationship Type="http://schemas.openxmlformats.org/officeDocument/2006/relationships/notesSlide" Target="/ppt/notesSlides/notesSlide2.xml" Id="Rbf617e64d15a46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0823f28bb4566" /><Relationship Type="http://schemas.openxmlformats.org/officeDocument/2006/relationships/notesSlide" Target="/ppt/notesSlides/notesSlide3.xml" Id="R51955661d63948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f7c2971074940" /><Relationship Type="http://schemas.openxmlformats.org/officeDocument/2006/relationships/notesSlide" Target="/ppt/notesSlides/notesSlide4.xml" Id="R8a7b01d0023640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3b49934b24700" /><Relationship Type="http://schemas.openxmlformats.org/officeDocument/2006/relationships/notesSlide" Target="/ppt/notesSlides/notesSlide5.xml" Id="R6d849a9c25d14b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61cc2521a4e01" /><Relationship Type="http://schemas.openxmlformats.org/officeDocument/2006/relationships/notesSlide" Target="/ppt/notesSlides/notesSlide6.xml" Id="Ra5bc2a8e044f4f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9fd9e61184b0f" /><Relationship Type="http://schemas.openxmlformats.org/officeDocument/2006/relationships/notesSlide" Target="/ppt/notesSlides/notesSlide7.xml" Id="R247e37e5ea014f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ac278f3d9401e" /><Relationship Type="http://schemas.openxmlformats.org/officeDocument/2006/relationships/notesSlide" Target="/ppt/notesSlides/notesSlide8.xml" Id="R9fd533b1d1ee44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897A3-D01C-4072-B394-80EDE777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2CAE7-B436-40AC-99F7-80FF206A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76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MULTILINGUAL</a:t>
            </a:r>
          </a:p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NEXT-WORD</a:t>
            </a:r>
          </a:p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F1307-10B7-496A-97D5-6A5ADA1B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 PHASE  /  LSTM &amp; BI-LSTM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377D8-7740-46DB-84D8-E0B9A2E0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Models, formulas and key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5BBDD-801B-422D-B3C2-DD2BEE9F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30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940DF-7BFF-4AD7-BFAA-52AE1403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UROP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996124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31FB1-59CA-4A71-8606-A63FC62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6F2A5-6E9E-498C-84A1-57BC966B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DATASET AND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99774-3259-436D-91BE-F496650A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E37D8-A243-4318-A2D6-EC2C74B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F5725-72DA-4DD7-B45E-AEDCA5A7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Telugu-LLM-Labs: Alpaca (28,910) + GPTeacher (43,614 records)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2143125"/>
          <a:ext xmlns:a="http://schemas.openxmlformats.org/drawingml/2006/main" cx="11049000" cy="2381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91000"/>
                <a:gridCol w="3048000"/>
                <a:gridCol w="3810000"/>
              </a:tblGrid>
              <a:tr h="5953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Sentences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Next-word examples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312,456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3,483,073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18,294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198,928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18,662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200,092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8FAD4-90B2-411F-A336-11E51BDD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Native Telugu → normalization → word IDs → prefix–target pairs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EFD14-8CF8-48CC-8FC1-2A0B8822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20,000-word vocabulary • 8-word context • grouped split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Exact overlaps removed; vocabulary learned from training text only.</a:t>
            </a:r>
          </a:p>
        </p:txBody>
      </p:sp>
    </p:spTree>
    <p:extLst>
      <p:ext uri="{BB962C8B-B14F-4D97-AF65-F5344CB8AC3E}">
        <p14:creationId xmlns:p14="http://schemas.microsoft.com/office/powerpoint/2010/main" val="18944403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5023F-579B-4DA9-8776-B0A7AAA7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D71DE-CB56-4525-86AA-2713660E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MODELS AND TRAINING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8114B-CD6C-4B68-86A3-78E6E3AC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1DEA5-86AC-45CA-ACA1-4CA3B9E6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1049000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3619500"/>
                <a:gridCol w="3619500"/>
              </a:tblGrid>
              <a:tr h="609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LSTM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Bi-LSTM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Embedding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64 dimensions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64 dimensions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Recurrent layer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128 units; one layer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128 units per direction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Output state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128 dimensions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256 dimensions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Parameters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3,959,328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6,618,656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34BF0-3B8E-418E-BCDB-FDA9FDC8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Adam • learning rate 0.001 • batch 512 • CPU • seed 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AC679-5421-47F0-9240-616F5716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5 epochs per model planned; resumable checkpoints; gradient clipping 1.0.</a:t>
            </a:r>
          </a:p>
        </p:txBody>
      </p:sp>
    </p:spTree>
    <p:extLst>
      <p:ext uri="{BB962C8B-B14F-4D97-AF65-F5344CB8AC3E}">
        <p14:creationId xmlns:p14="http://schemas.microsoft.com/office/powerpoint/2010/main" val="1183362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1A255-03D6-4BB2-804B-649EDF33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CB25D-6C8D-4836-8CF8-4B291247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LSTM: ESSENTIAL EQUATIONS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0112D-4ACB-46A5-BEFB-5219DC79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Gates control what the cell forgets, stores and exposes.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73CA6-8F65-4D48-8062-940B92BE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BE09E-FE7C-44CD-8A05-60579AE9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4EDC2-3CEF-4DC7-AA56-DA9D321D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90725"/>
            <a:ext cx="8001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fₜ = σ(Wf xₜ + Uf hₜ₋₁ + bf)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4CC5D-C51B-4EEB-B10B-A43DC6E2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6692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Forget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E3235-3F50-4742-88A1-064756C8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8001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iₜ = σ(Wi xₜ + Ui hₜ₋₁ + bi)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882D7-46B3-4608-827E-F17AB5BA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Input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76564-E645-4EE5-9961-637A25DA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52775"/>
            <a:ext cx="8001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gₜ = tanh(Wg xₜ + Ug hₜ₋₁ + bg)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2AD94-1B36-4EDB-A8E8-16ADF62C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2897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Candidate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1FA73-92B3-4350-92B1-4617C8AC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8001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cₜ = fₜ ⊙ cₜ₋₁ + iₜ ⊙ gₜ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F2C47-6D1A-4C31-A7D1-F7CB776D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Cell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57CDD-4F18-48E8-8A31-57442A7C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4825"/>
            <a:ext cx="8001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oₜ = σ(Wo xₜ + Uo hₜ₋₁ + bo)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A4826-3F67-4CBC-9A90-CC9AFC55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9102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Output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9005E-C31F-441A-9185-9B81322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8001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hₜ = oₜ ⊙ tanh(cₜ)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13BDDD-8B8B-4242-B89D-F2643A01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7205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Hidden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9B246-35B3-4367-9D73-D2854D67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245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σ: sigmoid   ⊙: element-wise product   xₜ: embedding   cₜ: memory</a:t>
            </a:r>
          </a:p>
        </p:txBody>
      </p:sp>
    </p:spTree>
    <p:extLst>
      <p:ext uri="{BB962C8B-B14F-4D97-AF65-F5344CB8AC3E}">
        <p14:creationId xmlns:p14="http://schemas.microsoft.com/office/powerpoint/2010/main" val="1411940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CF371-CF93-4DC5-A8B4-09123A7D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457F5-38AB-438D-B03B-456405D4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BI-LSTM AND NEXT-WORD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18CD5-7816-4F58-9E34-E60D5311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42D93-4A8C-4798-A360-F0980D66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7B599-5A29-4E07-AE30-D697AE6B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Forward: x₁ → … → xₗ       Reverse: xₗ → … → x₁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C7C8A-7AFC-4D4E-8876-FDAF962D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 = concat(hforward, hreverse) ∈ ℝ²⁵⁶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6F969-035F-49A7-9FD7-BC9DA438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z = Wout h + bout      pⱼ = exp(zⱼ) / Σₖ exp(zₖ)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73D4A-F7EA-48B6-B5DC-BCFDB39E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ŵnext = arg maxᵥ P(v | observed prefix)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EB75E-CB1D-41D4-96E1-91EA150A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435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Both directions see only the input prefix, never the target word.</a:t>
            </a:r>
          </a:p>
          <a:p xmlns:a="http://schemas.openxmlformats.org/drawingml/2006/main">
            <a:pPr>
              <a:defRPr sz="187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The app displays five highest-ranked word suggestions.</a:t>
            </a:r>
          </a:p>
        </p:txBody>
      </p:sp>
    </p:spTree>
    <p:extLst>
      <p:ext uri="{BB962C8B-B14F-4D97-AF65-F5344CB8AC3E}">
        <p14:creationId xmlns:p14="http://schemas.microsoft.com/office/powerpoint/2010/main" val="1175652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1AF3C-128D-4C29-BBEF-14E13692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45023-01FA-44D9-89CE-8183DB26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LOSS AND EVALUATION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F8571-FD3E-4390-A04C-A3A82B29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81B2F-0F12-4D1D-827A-5C8D50C6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34D27-DC18-4F34-97ED-F89BB50D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7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LCE = −(1/N) Σₙ log p(yₙ | xₙ)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E3994-0272-4928-91DC-E5F71DB0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194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7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Perplexity = exp(LCE)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4E0DB-757E-4FDD-A07B-2C2CED1D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814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Accuracy@k = (1/N) Σₙ 1{yₙ ∈ TopK(xₙ)}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7CD17-B5CC-41A3-B297-B203C3BD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720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Lower loss / perplexity is better; higher top-k accuracy is better.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0999A-01D7-4EED-B926-412F7F45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97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7.21% of test targets are out of vocabulary and count as misses.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Perplexity is measured over the fixed vocabulary.</a:t>
            </a:r>
          </a:p>
        </p:txBody>
      </p:sp>
    </p:spTree>
    <p:extLst>
      <p:ext uri="{BB962C8B-B14F-4D97-AF65-F5344CB8AC3E}">
        <p14:creationId xmlns:p14="http://schemas.microsoft.com/office/powerpoint/2010/main" val="557883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59227-B91A-437D-8A4D-8FD5EA05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D3FD4-4E64-41EC-8AA9-614138FB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KEY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8E6A3-9489-43AD-A327-07053045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Held-out test set: 200,092 examples • one-epoch checkpoints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47D54-C04A-469D-BCE5-C6D3EFF1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16DDD-63E7-41FD-A751-1BFDBA6E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72000"/>
                <a:gridCol w="3238500"/>
                <a:gridCol w="3238500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LSTM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Bi-LSTM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Top-1 accuracy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13.92%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15.25%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Top-3 accuracy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22.56%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24.63%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Top-5 accuracy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26.63%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29.03%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Perplexity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388.49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302.05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5DA9D-72EC-4B02-AC46-5096C143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006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Latest Bi-LSTM validation (epoch 4): top-1 18.34%; top-5 34.25%.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56252-3022-44C6-8D76-924BB5D5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Validation scores are separate from test results; final evaluation is pending.</a:t>
            </a:r>
          </a:p>
        </p:txBody>
      </p:sp>
    </p:spTree>
    <p:extLst>
      <p:ext uri="{BB962C8B-B14F-4D97-AF65-F5344CB8AC3E}">
        <p14:creationId xmlns:p14="http://schemas.microsoft.com/office/powerpoint/2010/main" val="21225551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A85BF-7F91-4708-87D3-D6049DD0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C68E8-1F61-4194-9207-38514B7C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CURRENT STATUS AND NEXT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AF426-9412-41DA-A96E-D0CCBD2B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82545-9C48-4276-8D2D-D5F8C19E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7BC7F-1285-4CAA-A8BE-87836231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85BB7-2CA2-42E1-9403-3C375399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5429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 data and model pipeline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Streamlit top-five predictions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Hidden model and training controls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Resumable training and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AC609-947F-4FD1-8543-EAB352B5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PROPOSED 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DEB62-EB1F-43A9-A9DD-3A9BA26D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5075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Character/subword modeling for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rare and inflected Telugu words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Attention models and more languages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Ablations to verify improvements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4E9F4-6BBF-4BDE-A2D5-0E73781A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Training snapshot: BILSTM, epoch 5/5, batch 2,100/6,803.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2431D-D932-46D0-83C5-C9D03D14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LSTM/Bi-LSTM are baselines; algorithmic novelty remains future work.</a:t>
            </a:r>
          </a:p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Snapshot: 30/9/2026, 9:31:33 pm IST</a:t>
            </a:r>
          </a:p>
        </p:txBody>
      </p:sp>
    </p:spTree>
    <p:extLst>
      <p:ext uri="{BB962C8B-B14F-4D97-AF65-F5344CB8AC3E}">
        <p14:creationId xmlns:p14="http://schemas.microsoft.com/office/powerpoint/2010/main" val="941585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2026-09-30T16:01:34.5740000Z</dcterms:created>
  <dcterms:modified xsi:type="dcterms:W3CDTF">2026-09-30T16:01:34.5740000Z</dcterms:modified>
</coreProperties>
</file>