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0b67b85721457e" /><Relationship Type="http://schemas.openxmlformats.org/officeDocument/2006/relationships/extended-properties" Target="/docProps/app.xml" Id="R16694db12ac843fe" /><Relationship Type="http://schemas.openxmlformats.org/officeDocument/2006/relationships/officeDocument" Target="/ppt/presentation.xml" Id="R0a14fb88110a4c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43fd55f52846f0"/>
  </p:sldMasterIdLst>
  <p:notesMasterIdLst>
    <p:notesMasterId xmlns:r="http://schemas.openxmlformats.org/officeDocument/2006/relationships" r:id="R94111ecdf47d4bd7"/>
  </p:notesMasterIdLst>
  <p:sldIdLst>
    <p:sldId xmlns:r="http://schemas.openxmlformats.org/officeDocument/2006/relationships" id="256" r:id="R0585bc538a254cc4"/>
    <p:sldId xmlns:r="http://schemas.openxmlformats.org/officeDocument/2006/relationships" id="257" r:id="Raea8efa7e06349a1"/>
    <p:sldId xmlns:r="http://schemas.openxmlformats.org/officeDocument/2006/relationships" id="258" r:id="Rdaafa0cc99694061"/>
    <p:sldId xmlns:r="http://schemas.openxmlformats.org/officeDocument/2006/relationships" id="259" r:id="R4d1d3aaaba034206"/>
    <p:sldId xmlns:r="http://schemas.openxmlformats.org/officeDocument/2006/relationships" id="260" r:id="Rf085f270bd804b11"/>
    <p:sldId xmlns:r="http://schemas.openxmlformats.org/officeDocument/2006/relationships" id="261" r:id="R9423cc6a073e4b34"/>
    <p:sldId xmlns:r="http://schemas.openxmlformats.org/officeDocument/2006/relationships" id="262" r:id="R07b5a33de03f4e7d"/>
    <p:sldId xmlns:r="http://schemas.openxmlformats.org/officeDocument/2006/relationships" id="263" r:id="R5c9ea319a5a44ac8"/>
    <p:sldId xmlns:r="http://schemas.openxmlformats.org/officeDocument/2006/relationships" id="264" r:id="R5464b89db03e4c36"/>
    <p:sldId xmlns:r="http://schemas.openxmlformats.org/officeDocument/2006/relationships" id="265" r:id="R58637641f30241eb"/>
    <p:sldId xmlns:r="http://schemas.openxmlformats.org/officeDocument/2006/relationships" id="266" r:id="R3c9d06433dc247a8"/>
    <p:sldId xmlns:r="http://schemas.openxmlformats.org/officeDocument/2006/relationships" id="267" r:id="R3092164ac7324df9"/>
    <p:sldId xmlns:r="http://schemas.openxmlformats.org/officeDocument/2006/relationships" id="268" r:id="R9ec6bc34a65d4dc7"/>
    <p:sldId xmlns:r="http://schemas.openxmlformats.org/officeDocument/2006/relationships" id="269" r:id="Re315880d61494397"/>
    <p:sldId xmlns:r="http://schemas.openxmlformats.org/officeDocument/2006/relationships" id="270" r:id="Rc6fecb1232404929"/>
    <p:sldId xmlns:r="http://schemas.openxmlformats.org/officeDocument/2006/relationships" id="271" r:id="Ree44e89ea5d64809"/>
    <p:sldId xmlns:r="http://schemas.openxmlformats.org/officeDocument/2006/relationships" id="272" r:id="R3f5f9eabe18d44e6"/>
    <p:sldId xmlns:r="http://schemas.openxmlformats.org/officeDocument/2006/relationships" id="273" r:id="R091a8404572441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1093f260ec48b0" /><Relationship Type="http://schemas.openxmlformats.org/officeDocument/2006/relationships/slideMaster" Target="/ppt/slideMasters/slideMaster1.xml" Id="Ra843fd55f52846f0" /><Relationship Type="http://schemas.openxmlformats.org/officeDocument/2006/relationships/notesMaster" Target="/ppt/notesMasters/notesMaster1.xml" Id="R94111ecdf47d4bd7" /><Relationship Type="http://schemas.openxmlformats.org/officeDocument/2006/relationships/presProps" Target="/ppt/presProps.xml" Id="Rc97244ffd743487c" /><Relationship Type="http://schemas.openxmlformats.org/officeDocument/2006/relationships/tableStyles" Target="/ppt/tableStyles.xml" Id="R5c5c8e92bd9b46a5" /><Relationship Type="http://schemas.openxmlformats.org/officeDocument/2006/relationships/slide" Target="/ppt/slides/slide1.xml" Id="R0585bc538a254cc4" /><Relationship Type="http://schemas.openxmlformats.org/officeDocument/2006/relationships/slide" Target="/ppt/slides/slide2.xml" Id="Raea8efa7e06349a1" /><Relationship Type="http://schemas.openxmlformats.org/officeDocument/2006/relationships/slide" Target="/ppt/slides/slide3.xml" Id="Rdaafa0cc99694061" /><Relationship Type="http://schemas.openxmlformats.org/officeDocument/2006/relationships/slide" Target="/ppt/slides/slide4.xml" Id="R4d1d3aaaba034206" /><Relationship Type="http://schemas.openxmlformats.org/officeDocument/2006/relationships/slide" Target="/ppt/slides/slide5.xml" Id="Rf085f270bd804b11" /><Relationship Type="http://schemas.openxmlformats.org/officeDocument/2006/relationships/slide" Target="/ppt/slides/slide6.xml" Id="R9423cc6a073e4b34" /><Relationship Type="http://schemas.openxmlformats.org/officeDocument/2006/relationships/slide" Target="/ppt/slides/slide7.xml" Id="R07b5a33de03f4e7d" /><Relationship Type="http://schemas.openxmlformats.org/officeDocument/2006/relationships/slide" Target="/ppt/slides/slide8.xml" Id="R5c9ea319a5a44ac8" /><Relationship Type="http://schemas.openxmlformats.org/officeDocument/2006/relationships/slide" Target="/ppt/slides/slide9.xml" Id="R5464b89db03e4c36" /><Relationship Type="http://schemas.openxmlformats.org/officeDocument/2006/relationships/slide" Target="/ppt/slides/slide10.xml" Id="R58637641f30241eb" /><Relationship Type="http://schemas.openxmlformats.org/officeDocument/2006/relationships/slide" Target="/ppt/slides/slide11.xml" Id="R3c9d06433dc247a8" /><Relationship Type="http://schemas.openxmlformats.org/officeDocument/2006/relationships/slide" Target="/ppt/slides/slide12.xml" Id="R3092164ac7324df9" /><Relationship Type="http://schemas.openxmlformats.org/officeDocument/2006/relationships/slide" Target="/ppt/slides/slide13.xml" Id="R9ec6bc34a65d4dc7" /><Relationship Type="http://schemas.openxmlformats.org/officeDocument/2006/relationships/slide" Target="/ppt/slides/slide14.xml" Id="Re315880d61494397" /><Relationship Type="http://schemas.openxmlformats.org/officeDocument/2006/relationships/slide" Target="/ppt/slides/slide15.xml" Id="Rc6fecb1232404929" /><Relationship Type="http://schemas.openxmlformats.org/officeDocument/2006/relationships/slide" Target="/ppt/slides/slide16.xml" Id="Ree44e89ea5d64809" /><Relationship Type="http://schemas.openxmlformats.org/officeDocument/2006/relationships/slide" Target="/ppt/slides/slide17.xml" Id="R3f5f9eabe18d44e6" /><Relationship Type="http://schemas.openxmlformats.org/officeDocument/2006/relationships/slide" Target="/ppt/slides/slide18.xml" Id="R091a8404572441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e32c7feff543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e0631db74e4ae6" /><Relationship Type="http://schemas.openxmlformats.org/officeDocument/2006/relationships/notesMaster" Target="/ppt/notesMasters/notesMaster1.xml" Id="R6d2181a102114e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3c2ed5c80c438d" /><Relationship Type="http://schemas.openxmlformats.org/officeDocument/2006/relationships/notesMaster" Target="/ppt/notesMasters/notesMaster1.xml" Id="R3ce283c48d5044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bc70a7dc264fca" /><Relationship Type="http://schemas.openxmlformats.org/officeDocument/2006/relationships/notesMaster" Target="/ppt/notesMasters/notesMaster1.xml" Id="R34a07d60e1ca42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0ba2ba01944e20" /><Relationship Type="http://schemas.openxmlformats.org/officeDocument/2006/relationships/notesMaster" Target="/ppt/notesMasters/notesMaster1.xml" Id="Rabdcd5be647043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97ab20ff1e43fc" /><Relationship Type="http://schemas.openxmlformats.org/officeDocument/2006/relationships/notesMaster" Target="/ppt/notesMasters/notesMaster1.xml" Id="R1cb3d1eaf67d41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5bcba33c4344ca" /><Relationship Type="http://schemas.openxmlformats.org/officeDocument/2006/relationships/notesMaster" Target="/ppt/notesMasters/notesMaster1.xml" Id="Rc89ab20aa59643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5c78c43a004b6e" /><Relationship Type="http://schemas.openxmlformats.org/officeDocument/2006/relationships/notesMaster" Target="/ppt/notesMasters/notesMaster1.xml" Id="R856ec10621814e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037e46a8974cd1" /><Relationship Type="http://schemas.openxmlformats.org/officeDocument/2006/relationships/notesMaster" Target="/ppt/notesMasters/notesMaster1.xml" Id="Re7cc628363634b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c3bb30aa2e423e" /><Relationship Type="http://schemas.openxmlformats.org/officeDocument/2006/relationships/notesMaster" Target="/ppt/notesMasters/notesMaster1.xml" Id="R4d1af588d7204a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d026a03a36747e8" /><Relationship Type="http://schemas.openxmlformats.org/officeDocument/2006/relationships/notesMaster" Target="/ppt/notesMasters/notesMaster1.xml" Id="Rd86b530d265944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d72a8725e3f41a5" /><Relationship Type="http://schemas.openxmlformats.org/officeDocument/2006/relationships/notesMaster" Target="/ppt/notesMasters/notesMaster1.xml" Id="Rdcec09bd25c848d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88c4790ced4302" /><Relationship Type="http://schemas.openxmlformats.org/officeDocument/2006/relationships/notesMaster" Target="/ppt/notesMasters/notesMaster1.xml" Id="R52026bdbe92a49c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644899145e14489" /><Relationship Type="http://schemas.openxmlformats.org/officeDocument/2006/relationships/notesMaster" Target="/ppt/notesMasters/notesMaster1.xml" Id="R66eb5dcbab184a8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2c44c245bbd4895" /><Relationship Type="http://schemas.openxmlformats.org/officeDocument/2006/relationships/notesMaster" Target="/ppt/notesMasters/notesMaster1.xml" Id="R5f379dcaf560416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fe2b08d244b41b3" /><Relationship Type="http://schemas.openxmlformats.org/officeDocument/2006/relationships/notesMaster" Target="/ppt/notesMasters/notesMaster1.xml" Id="R284a143bc1a845a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a88c1a1b90c40e5" /><Relationship Type="http://schemas.openxmlformats.org/officeDocument/2006/relationships/notesMaster" Target="/ppt/notesMasters/notesMaster1.xml" Id="R331b500d97c944d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106f1386ae34f92" /><Relationship Type="http://schemas.openxmlformats.org/officeDocument/2006/relationships/notesMaster" Target="/ppt/notesMasters/notesMaster1.xml" Id="R1f8f4acb60ae4d8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cea334d9944495b" /><Relationship Type="http://schemas.openxmlformats.org/officeDocument/2006/relationships/notesMaster" Target="/ppt/notesMasters/notesMaster1.xml" Id="R48233e4b39b942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overall project is multilingual. The active experiment is Telugu. Five-epoch training is not yet declared complete.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Historical Hindi samples and federated prototypes are outside the active Telugu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src/train_telugu_comparison.py; src/telugu_app.py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 identity, counts and licenses are recorded locally. These datasets provide text for a word-level predictor; this is not Llama fine-tuning.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data_telugu_llm/provenance.json; https://huggingface.co/datasets/Telugu-LLM-Labs/telugu_alpaca_yahma_cleaned_filtered_romanized; https://huggingface.co/datasets/Telugu-LLM-Labs/telugu_teknium_GPTeacher_general_instruct_filtered_romanized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Deterministic approximately 90/5/5 grouping. Grouping produces unequal sentence counts. Exact overlap removal does not establish semantic independence.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src/prepare_telugu_llm_data.py; outputs/telugu_comparison/experiment.json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target is the following word; input prefixes exclude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src/text_utils.py; src/preprocess.py; src/sequence_data.py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Special tokens are excluded from displayed suggestions. Prefixes are converted to token IDs and padded.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src/telugu_neural_predictor.py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Bi-LSTM concatenates final forward and reverse hidden states. LSTM uses the final sequence output. Comparison is not parameter-matched.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src/model.py; outputs/telugu_comparison/experiment.json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x_t is the embedding vector; h is hidden state. W and U are learned matrices. b combines input and recurrent biases. Sigmoid σ outputs values in [0,1].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src/model.py; https://docs.pytorch.org/docs/2.14/generated/torch.nn.LSTM.html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forget and input gates update the memory. The output gate controls which transformed memory values enter the hidden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https://docs.pytorch.org/docs/2.14/generated/torch.nn.LSTM.html; src/model.py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concatenates hidden[-2] and hidden[-1], the two terminal hidden states. Bidirectionality here does not mean using unknown future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src/model.py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PyTorch cross-entropy consumes logits directly and performs the log-softmax internally. N denotes evaluated examples for averaged loss.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src/train_telugu_comparison.py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Optimizer state and progress are restored. Batch order is seeded per epoch. Periodic checkpointing and an output-directory lock guard recovery and duplicate workers. Resumed-segment loss is not full-epoch loss.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src/train_telugu_comparison.py; src/complete_telugu_training.py; outputs/telugu_comparison/experiment.json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Top-1, top-3 and top-5 are next-word hit rates. Unknown-token predictions are never credited. Fixed-vocabulary perplexity is not an open-vocabulary metric.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src/train_telugu_comparison.py; outputs/telugu_comparison/lstm_test_metrics.json; outputs/telugu_comparison/bilstm_test_metrics.json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200,092 test examples. Results have one seed and unequal parameter counts; no statistical significance claim. Do not replace these scores with validation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outputs/telugu_comparison/lstm_test_metrics.json; outputs/telugu_comparison/bilstm_test_metrics.json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Validation set contains 198,928 examples. Only completed epoch metrics are shown. Training losses from resumed segments are intentionally omitted.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outputs/telugu_comparison/bilstm_history.json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is a static snapshot and cannot report future completion. The current training status was read at build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outputs/telugu_comparison/status.json; outputs/telugu_comparison/completion_job.json; src/complete_telugu_training.py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current Telugu neural app, not the older hybrid router. Best checkpoint is preferred, with latest checkpoint as a training preview fallback. Prior verification covered dependency/syntax checks, model unit tests and UI checks; it does not guarantee zero errors or final training completion.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src/telugu_app.py; src/telugu_neural_predictor.py; src/check_telugu_comparison.py; src/check_telugu_ui.py; src/verify_telugu_training.py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Future work is proposed, not implemented or experimentally validated. Adding model names alone does not establish novelty. Complete training and held-out evaluation first. Federated code exists only as a separate prototype; no validated privacy or federated results are claimed. Sources for the deck appear in slide speaker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Evidence: src/model.py; src/fl_client.py; src/fl_server.py; TELUGU_EXPERIMENT.md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b285c7b18347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6e860515424a9d" /><Relationship Type="http://schemas.openxmlformats.org/officeDocument/2006/relationships/slideLayout" Target="/ppt/slideLayouts/slideLayout1.xml" Id="Reec3732803934a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c3732803934a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c23a1f7a74484" /><Relationship Type="http://schemas.openxmlformats.org/officeDocument/2006/relationships/notesSlide" Target="/ppt/notesSlides/notesSlide1.xml" Id="R51ccd4fd3ae142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f558727c345bd" /><Relationship Type="http://schemas.openxmlformats.org/officeDocument/2006/relationships/notesSlide" Target="/ppt/notesSlides/notesSlide2.xml" Id="Rf1bc6cce0b8c4b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c85538f8846bf" /><Relationship Type="http://schemas.openxmlformats.org/officeDocument/2006/relationships/notesSlide" Target="/ppt/notesSlides/notesSlide3.xml" Id="Rb049885a025140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29965cd714743" /><Relationship Type="http://schemas.openxmlformats.org/officeDocument/2006/relationships/notesSlide" Target="/ppt/notesSlides/notesSlide4.xml" Id="R30d249b148034f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c07d6d3324d4a" /><Relationship Type="http://schemas.openxmlformats.org/officeDocument/2006/relationships/notesSlide" Target="/ppt/notesSlides/notesSlide5.xml" Id="Rcb85aa16f6eb4d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6220ab3ef4607" /><Relationship Type="http://schemas.openxmlformats.org/officeDocument/2006/relationships/notesSlide" Target="/ppt/notesSlides/notesSlide6.xml" Id="Ree3a86a4b6b047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a624b809d45bc" /><Relationship Type="http://schemas.openxmlformats.org/officeDocument/2006/relationships/notesSlide" Target="/ppt/notesSlides/notesSlide7.xml" Id="R30429073a29b40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b939cb0374043" /><Relationship Type="http://schemas.openxmlformats.org/officeDocument/2006/relationships/notesSlide" Target="/ppt/notesSlides/notesSlide8.xml" Id="Re168a7556bb343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ce037bdc84641" /><Relationship Type="http://schemas.openxmlformats.org/officeDocument/2006/relationships/notesSlide" Target="/ppt/notesSlides/notesSlide9.xml" Id="R0fe89d8e7b8947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64e81063b4617" /><Relationship Type="http://schemas.openxmlformats.org/officeDocument/2006/relationships/notesSlide" Target="/ppt/notesSlides/notesSlide10.xml" Id="R26f37f41e95c4c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25ee3ea914d3d" /><Relationship Type="http://schemas.openxmlformats.org/officeDocument/2006/relationships/notesSlide" Target="/ppt/notesSlides/notesSlide11.xml" Id="Rd3c0ba79aa6e42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9cd8f47f7445c" /><Relationship Type="http://schemas.openxmlformats.org/officeDocument/2006/relationships/notesSlide" Target="/ppt/notesSlides/notesSlide12.xml" Id="R3ba85d6a45cd4d9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4e0805e7a49b3" /><Relationship Type="http://schemas.openxmlformats.org/officeDocument/2006/relationships/notesSlide" Target="/ppt/notesSlides/notesSlide13.xml" Id="Rb93185738b6a486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bbe4eb7e84a22" /><Relationship Type="http://schemas.openxmlformats.org/officeDocument/2006/relationships/notesSlide" Target="/ppt/notesSlides/notesSlide14.xml" Id="R2257c8d8e8164bd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af4717f744ed4" /><Relationship Type="http://schemas.openxmlformats.org/officeDocument/2006/relationships/notesSlide" Target="/ppt/notesSlides/notesSlide15.xml" Id="R6b5d4c0c195b490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ba806bf5b4e67" /><Relationship Type="http://schemas.openxmlformats.org/officeDocument/2006/relationships/notesSlide" Target="/ppt/notesSlides/notesSlide16.xml" Id="R06ab272793a84f9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cff0635e7f4f13" /><Relationship Type="http://schemas.openxmlformats.org/officeDocument/2006/relationships/notesSlide" Target="/ppt/notesSlides/notesSlide17.xml" Id="Rde75bc3f6655468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4d8e8ff7f42cd" /><Relationship Type="http://schemas.openxmlformats.org/officeDocument/2006/relationships/notesSlide" Target="/ppt/notesSlides/notesSlide18.xml" Id="R7b13fba2d87d48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844635-BA74-4A0C-A646-6C3E7ADB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6CF42-C816-4323-9950-1345A54C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52550"/>
            <a:ext cx="10763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7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57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MULTILINGUAL</a:t>
            </a:r>
          </a:p>
          <a:p xmlns:a="http://schemas.openxmlformats.org/drawingml/2006/main">
            <a:pPr algn="ctr">
              <a:defRPr sz="57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57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NEXT-WORD</a:t>
            </a:r>
          </a:p>
          <a:p xmlns:a="http://schemas.openxmlformats.org/drawingml/2006/main">
            <a:pPr algn="ctr">
              <a:defRPr sz="57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57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PREDICTION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26B0A2-1BAA-4DBA-B0CD-CA389969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048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TELUGU PHASE  /  LSTM &amp; BI-LSTM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74D3A-94E8-4F02-8617-3A170E22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5297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Updated results, architecture and formulas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A2B3C-659E-4446-936E-52FBDFD6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30 September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CB98E-C694-4567-942F-9AFF8ED7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3817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UROP PROJECT REVIEW</a:t>
            </a:r>
          </a:p>
        </p:txBody>
      </p:sp>
    </p:spTree>
    <p:extLst>
      <p:ext uri="{BB962C8B-B14F-4D97-AF65-F5344CB8AC3E}">
        <p14:creationId xmlns:p14="http://schemas.microsoft.com/office/powerpoint/2010/main" val="15143999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CD6487-0DD5-4091-9588-D3B43B2D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8A9A0-7F0C-4138-B32D-A93732E2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WHAT CHANGED IN THE CURRENT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4E2AD-A24B-4910-9E94-E6922FFC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2F323-37C0-4E23-877D-54FAD221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5B7110-0D31-4189-9F98-25F5F944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44E4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B2B53-6664-48F9-8E6D-D902205E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52625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Larger Telugu corpora replace the original small sample experiment.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66FD0-C03D-4459-AC06-8C1471A8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860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44E4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4E8AE1-C5FC-4D64-9A0E-37199A2D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86075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A common data pipeline supports both LSTM and Bi-LSTM comparisons.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275D8-7E06-41BF-8BB1-5BD980AC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95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44E4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A428C3-F735-46CA-B229-0E6F47E0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9525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Independent test metrics and resumable training are now recorded.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D738AB-F2E4-4BA9-81AC-651457D7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529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44E4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6D74F2-4845-4ED8-A7D8-1DC7097F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52975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The prediction page hides model selection and training/evaluation panels.</a:t>
            </a:r>
          </a:p>
        </p:txBody>
      </p:sp>
    </p:spTree>
    <p:extLst>
      <p:ext uri="{BB962C8B-B14F-4D97-AF65-F5344CB8AC3E}">
        <p14:creationId xmlns:p14="http://schemas.microsoft.com/office/powerpoint/2010/main" val="3261356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17550-2A8A-4434-909E-DCBE6DB2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CA78F-E8F0-439F-B6A0-9D996420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DATASET SOURCES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AEDFB6-8C48-4214-91A4-9BB65C65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Native Telugu fields are used; the dataset names include “romanized”.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17977-F56D-4AD1-AF7C-6F79BE8D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0E233-D834-4E15-9B9B-467CAD0E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71500" y="2000250"/>
          <a:ext xmlns:a="http://schemas.openxmlformats.org/drawingml/2006/main" cx="1104900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8763000"/>
                <a:gridCol w="2286000"/>
              </a:tblGrid>
              <a:tr h="857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Hugging Face dataset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Source records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Telugu-LLM-Labs/</a:t>
                      </a:r>
                    </a:p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telugu_alpaca_yahma_cleaned_filtered_romanized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28,910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Telugu-LLM-Labs/</a:t>
                      </a:r>
                    </a:p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telugu_teknium_GPTeacher_general_instruct_filtered_romanized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43,614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890EF-DD90-4A41-B7DA-458094BC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149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Fields: telugu_instruction, telugu_input, telugu_output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575E25-AE70-4176-AED3-F51595E5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7690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Recorded licenses: CC BY 4.0 (Alpaca); MIT (GPTeacher).</a:t>
            </a:r>
          </a:p>
        </p:txBody>
      </p:sp>
    </p:spTree>
    <p:extLst>
      <p:ext uri="{BB962C8B-B14F-4D97-AF65-F5344CB8AC3E}">
        <p14:creationId xmlns:p14="http://schemas.microsoft.com/office/powerpoint/2010/main" val="831499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3F0FCC-9F57-487E-8C5F-47A27C76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5304F-9193-4BDD-8689-0FF98DB3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DATA SPLIT AND LEAKAGE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BA1603-9E8E-4439-AC25-F40AF242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ECE269-B144-49D5-B556-2A38079C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2667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381500"/>
                <a:gridCol w="2857500"/>
                <a:gridCol w="381000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Partition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Sentences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Next-word examples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312,456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3,483,073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18,294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198,928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18,662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200,092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24050-7D10-4908-BC83-C79C0ED6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8157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Instruction-grouped split • exact sentence overlaps removed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7D4C6-8A15-4614-9F5F-680F6DB7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6737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Vocabulary is fitted only on training text. Semantic overlap may remain.</a:t>
            </a:r>
          </a:p>
        </p:txBody>
      </p:sp>
    </p:spTree>
    <p:extLst>
      <p:ext uri="{BB962C8B-B14F-4D97-AF65-F5344CB8AC3E}">
        <p14:creationId xmlns:p14="http://schemas.microsoft.com/office/powerpoint/2010/main" val="3691496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A892B8-FC81-4BB1-9949-5EDC2510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73E536-B0E3-4573-9649-81030D02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FROM TELUGU TEXT TO TRAINING EXAMPLES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07414-4D00-4407-BC24-7C970EB5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C1F4D3-220C-442D-BBFC-55F94141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7FAA5-BCCF-4684-8C07-8D3DF6FF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44E4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5665F9-619B-47D0-9819-C5898845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52625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Normalize Unicode and retain the relevant language text.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EF9665-9B7B-4B2A-933F-49D2EDDD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860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44E4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97A57-76B3-4781-BFDC-648DEABC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86075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Split into words; build a 20,000-entry training vocabulary.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FD959-2B7D-4C20-A270-72158963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95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44E4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B78932-628E-4112-B34C-8E202658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9525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Create prefix–target pairs using up to eight preceding words.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F28202-5ECB-43E4-91F6-8A253CBE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529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44E4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FEE0B4-4A3B-4950-9D97-715F1784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52975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Left-pad short prefixes; reserve &lt;pad&gt; = 0 and &lt;unk&gt; = 1.</a:t>
            </a:r>
          </a:p>
        </p:txBody>
      </p:sp>
    </p:spTree>
    <p:extLst>
      <p:ext uri="{BB962C8B-B14F-4D97-AF65-F5344CB8AC3E}">
        <p14:creationId xmlns:p14="http://schemas.microsoft.com/office/powerpoint/2010/main" val="9129193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4A7B1F-FF3B-4DF1-B48E-70021DF5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D78B0-1E94-4BDA-B703-8412F1EE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FORMAL NEXT-WORD PREDICTION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406A06-EA8D-4F13-9CB3-2E6765EB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3DF57-FB64-4B30-BE80-942FB32F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22CF6-0C4D-4BE1-BFED-327348EC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700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x = (wₜ₋ₗ₊₁, …, wₜ),     1 ≤ l ≤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E8BB6-5697-44DD-A814-35807D00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3000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ŵₜ₊₁ = arg maxᵥ Pθ(v | x)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A1B740-1DE8-4155-B3DE-154C067E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Learn the probability of each vocabulary word</a:t>
            </a:r>
          </a:p>
          <a:p xmlns:a="http://schemas.openxmlformats.org/drawingml/2006/main">
            <a:pPr>
              <a:defRPr sz="225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from the observed prefix, then display the top five candidates.</a:t>
            </a:r>
          </a:p>
        </p:txBody>
      </p:sp>
    </p:spTree>
    <p:extLst>
      <p:ext uri="{BB962C8B-B14F-4D97-AF65-F5344CB8AC3E}">
        <p14:creationId xmlns:p14="http://schemas.microsoft.com/office/powerpoint/2010/main" val="9006057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0F187-3F98-49CE-A634-C451048F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E7F3F-0605-4D05-BB24-DFDDFA6A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ARCHITECTURE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1A475-C00F-4E19-8E6B-E144EC4E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E8D3FF-B72C-4D1D-BC2B-FE533920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1876425"/>
          <a:ext xmlns:a="http://schemas.openxmlformats.org/drawingml/2006/main" cx="11049000" cy="3810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810000"/>
                <a:gridCol w="3619500"/>
                <a:gridCol w="3619500"/>
              </a:tblGrid>
              <a:tr h="635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LSTM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Bi-LSTM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Embedding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64 dimensions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64 dimensions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Recurrent layer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128 units; 1 layer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128 per direction; 1 layer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Output representation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128 dimensions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256 dimensions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Vocabulary output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20,000 logits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20,000 logits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Trainable parameters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3,959,328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6,618,656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63956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ED811C-9A05-4D44-BEEB-5F5A291B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3C9E0-7724-4A7A-AE01-3FEDC31F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LSTM FORMULAS: GATES AND CANDIDATE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DE7489-5723-4DBC-8561-DF73E1BE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B0429-41AA-4C0B-AA69-5496B2FA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3448F9-B580-4A96-A22E-82F272B7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6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fₜ = σ(Wf xₜ + Uf hₜ₋₁ + bf)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4D4C6E-0F57-4BB8-A7E4-5AB560EF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6222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Forget gate: controls how much previous memory to retain.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2E9BA-2B1E-462E-99DE-E4D7CAB5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6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iₜ = σ(Wi xₜ + Ui hₜ₋₁ + bi)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1C2D10-CCB6-4F7B-A10B-BF35900B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Input gate: controls how much new information to write.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9643CC-2C66-47CA-85B1-D2A2F375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6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gₜ = tanh(Wg xₜ + Ug hₜ₋₁ + bg)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B7172-D23A-4A4A-87AE-EC2C600E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Candidate memory generated from the current input and prior state.</a:t>
            </a:r>
          </a:p>
        </p:txBody>
      </p:sp>
    </p:spTree>
    <p:extLst>
      <p:ext uri="{BB962C8B-B14F-4D97-AF65-F5344CB8AC3E}">
        <p14:creationId xmlns:p14="http://schemas.microsoft.com/office/powerpoint/2010/main" val="13430738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6AEC65-0E65-423C-8B68-3ACBFE70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D6B11-F62A-4C8D-BBEB-5F3AD1CB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LSTM FORMULAS: MEMORY AND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11FAE-B24A-449C-AC52-1AE4AFD7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6B0B32-1716-44C6-BAD4-CBABE2B3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7D8C9-1A4E-48C7-B64A-2AA4B129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907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9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cₜ = fₜ ⊙ cₜ₋₁ + iₜ ⊙ gₜ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F3325-8CC9-4F9E-A7A5-9FE239A3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6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oₜ = σ(Wo xₜ + Uo hₜ₋₁ + bo)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769D19-D38A-4D34-8726-7A83325A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0527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9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hₜ = oₜ ⊙ tanh(cₜ)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2108E8-CA72-4511-81A9-F0C1DC6C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cₜ: cell memory     hₜ: hidden state     ⊙: element-wise product</a:t>
            </a:r>
          </a:p>
        </p:txBody>
      </p:sp>
    </p:spTree>
    <p:extLst>
      <p:ext uri="{BB962C8B-B14F-4D97-AF65-F5344CB8AC3E}">
        <p14:creationId xmlns:p14="http://schemas.microsoft.com/office/powerpoint/2010/main" val="331643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60FD6-84AB-4F73-9EFF-EE6417D0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AECFB-060B-469D-A1E8-B752FEE6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BI-LSTM: TWO VIEWS OF THE OBSERVED PREFIX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36E211-0ACD-4900-895E-A50F46E8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92AA7-2097-4B83-8FC0-457F9EF3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8F2AC-BD00-48C2-B8FC-44BFDD80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550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Forward:  x₁ → x₂ → … → xₗ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0DFEE-6B53-4E6B-845E-B3D7450D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289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550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Reverse:  xₗ → … → x₂ → x₁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437367-588D-452A-A0D3-839D7783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6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h = concat(hforward, hreverse) ∈ ℝ²⁵⁶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9ACA26-C13E-43C9-86FC-04B3BEB2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8632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Both directions process only the supplied prefix.</a:t>
            </a:r>
          </a:p>
          <a:p xmlns:a="http://schemas.openxmlformats.org/drawingml/2006/main">
            <a:pPr>
              <a:defRPr sz="217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Neither direction receives the next target word.</a:t>
            </a:r>
          </a:p>
        </p:txBody>
      </p:sp>
    </p:spTree>
    <p:extLst>
      <p:ext uri="{BB962C8B-B14F-4D97-AF65-F5344CB8AC3E}">
        <p14:creationId xmlns:p14="http://schemas.microsoft.com/office/powerpoint/2010/main" val="16750649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78998-B8F0-4C7C-A82C-1644FCE8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C1513-ABBC-4A33-9DA0-E364FACB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OUTPUT PROBABILITIES AND TRAINING OBJECTIVE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7B788-B556-46F2-B598-D30B9FAC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995B0-C0C6-4EAE-BB50-E8A2F70D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570A2-2CEB-4FCD-A52D-713432CA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77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z = Wout h + bout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FE7A3B-C3CE-4B61-B493-22CC9FBE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850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pⱼ = exp(zⱼ) / Σₖ exp(zₖ)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B0FC1-960C-455E-BA19-6DC3DF1C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700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LCE = −(1/N) Σₙ log p(yₙ | xₙ)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78A3F-A226-4AB8-97AD-0E809792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Softmax produces a distribution; cross-entropy trains the model</a:t>
            </a:r>
          </a:p>
          <a:p xmlns:a="http://schemas.openxmlformats.org/drawingml/2006/main">
            <a:pPr>
              <a:defRPr sz="202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to assign higher probability to the true next word.</a:t>
            </a:r>
          </a:p>
        </p:txBody>
      </p:sp>
    </p:spTree>
    <p:extLst>
      <p:ext uri="{BB962C8B-B14F-4D97-AF65-F5344CB8AC3E}">
        <p14:creationId xmlns:p14="http://schemas.microsoft.com/office/powerpoint/2010/main" val="4379816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6EF46D-DC37-4449-8E5D-72EEF90A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E1CFC-83C1-42BB-BCEB-72154D62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TRAINING CONFIGURATION AND RECOVERY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8E315-8EDA-4847-8163-240DC2E7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C7094-5CE2-49FA-8D3F-1647FB01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847850"/>
          <a:ext xmlns:a="http://schemas.openxmlformats.org/drawingml/2006/main" cx="11049000" cy="35528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667250"/>
                <a:gridCol w="6381750"/>
              </a:tblGrid>
              <a:tr h="5921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Setting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experiment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</a:tr>
              <a:tr h="5921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Optimizer / learning rate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Adam / 0.001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</a:tr>
              <a:tr h="5921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Batch / context / seed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512 / 8 words / 42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</a:tr>
              <a:tr h="5921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Device / threads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CPU / 4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</a:tr>
              <a:tr h="5921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Dropout / gradient clipping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0.0 / norm 1.0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</a:tr>
              <a:tr h="5921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Training budget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5 total epochs per model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60177-8CDD-49D8-A3CE-1B5EC8AC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388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Latest checkpoint resumes training; best checkpoint minimizes validation loss.</a:t>
            </a:r>
          </a:p>
        </p:txBody>
      </p:sp>
    </p:spTree>
    <p:extLst>
      <p:ext uri="{BB962C8B-B14F-4D97-AF65-F5344CB8AC3E}">
        <p14:creationId xmlns:p14="http://schemas.microsoft.com/office/powerpoint/2010/main" val="15788365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77BFA5-6397-486F-ACAC-6833A944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E2C05-0968-40CF-801F-479893B5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EVALUATION FORMULAS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0741A-2550-42CF-867E-7ADBE7A6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640BA4-5C53-4F7B-8E16-59FFFB9F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6010CD-3486-4E05-88DA-82776C79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2625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Accuracy@k = (1/N) Σₙ 1{yₙ ∈ TopK(xₙ)}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0B9C57-E805-414C-A257-92CC8D8C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385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Cambria"/>
                <a:ea typeface="Cambria"/>
                <a:cs typeface="Cambria"/>
              </a:defRPr>
            </a:pPr>
            <a:r>
              <a:rPr sz="3000" b="0">
                <a:solidFill>
                  <a:srgbClr val="344E41"/>
                </a:solidFill>
                <a:latin typeface="Cambria"/>
                <a:ea typeface="Cambria"/>
                <a:cs typeface="Cambria"/>
              </a:rPr>
              <a:t>Perplexity = exp(LCE)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415B3-3AD8-46FD-A470-67FB8A88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Higher top-k accuracy is better; lower perplexity is better.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3AD4B-5A5F-45AD-9A02-A953EE6F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149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Unknown test targets count as misses (7.21% of targets).</a:t>
            </a:r>
          </a:p>
          <a:p xmlns:a="http://schemas.openxmlformats.org/drawingml/2006/main">
            <a:pPr>
              <a:defRPr sz="187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Perplexity uses the fixed vocabulary with unknown words collapsed.</a:t>
            </a:r>
          </a:p>
        </p:txBody>
      </p:sp>
    </p:spTree>
    <p:extLst>
      <p:ext uri="{BB962C8B-B14F-4D97-AF65-F5344CB8AC3E}">
        <p14:creationId xmlns:p14="http://schemas.microsoft.com/office/powerpoint/2010/main" val="12288153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86BD17-7BF5-4DF3-AF2D-72C0FE20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E83A2-5A30-4C9B-8456-A38B40FF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HELD-OUT TEST RESULTS: ONE-EPOCH CHECKPOINTS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C5B58-AC4E-4E56-BF5A-52AB8A96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These are completed baseline evaluations, not final five-epoch results.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FA46E-3FBD-4157-8206-857A51B9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A5D68-A157-40BE-B2F8-F70D729E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3429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572000"/>
                <a:gridCol w="3238500"/>
                <a:gridCol w="3238500"/>
              </a:tblGrid>
              <a:tr h="571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LSTM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Bi-LSTM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Top-1 accuracy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13.92%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15.25%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Top-3 accuracy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22.56%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24.63%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Top-5 accuracy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26.63%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29.03%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Cross-entropy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5.9623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5.7106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Perplexity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388.49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302.05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73688-6278-4421-BEB1-181F9EC3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6737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Bi-LSTM: +1.33 percentage points top-1; +2.41 points top-5.</a:t>
            </a:r>
          </a:p>
        </p:txBody>
      </p:sp>
    </p:spTree>
    <p:extLst>
      <p:ext uri="{BB962C8B-B14F-4D97-AF65-F5344CB8AC3E}">
        <p14:creationId xmlns:p14="http://schemas.microsoft.com/office/powerpoint/2010/main" val="15181300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FDF7E3-D0C4-43C5-B923-89BF1CA9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5381FA-94ED-4295-82B2-A3AAA21C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BI-LSTM VALIDATION IMPROVES ACROSS EPOCHS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BAE756-BAB5-46A8-9867-F05DFDB0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Validation metrics guide checkpoint selection; they are not test scores.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E49FA-4BF3-410F-B837-59D18890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37E46-CDF8-480E-9A50-CC60037C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2076450"/>
          <a:ext xmlns:a="http://schemas.openxmlformats.org/drawingml/2006/main" cx="11049000" cy="2857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48000"/>
                <a:gridCol w="2000250"/>
                <a:gridCol w="2000250"/>
                <a:gridCol w="2000250"/>
                <a:gridCol w="2000250"/>
              </a:tblGrid>
              <a:tr h="571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Completed epoch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Top-1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Top-5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Loss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Perplexity</a:t>
                      </a:r>
                    </a:p>
                  </a:txBody>
                  <a:tcPr marL="91440" marR="91440" marT="45720" marB="45720">
                    <a:solidFill>
                      <a:srgbClr val="344E4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15.06%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28.77%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5.7511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314.55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17.17%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32.19%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5.4076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223.10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17.95%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33.59%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5.2918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198.70</a:t>
                      </a:r>
                    </a:p>
                  </a:txBody>
                  <a:tcPr marL="91440" marR="91440" marT="45720" marB="45720">
                    <a:solidFill>
                      <a:srgbClr val="E7E5D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18.34%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34.25%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5.2457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44E41"/>
                          </a:solidFill>
                          <a:latin typeface="Arial"/>
                          <a:ea typeface="Arial"/>
                          <a:cs typeface="Arial"/>
                        </a:rPr>
                        <a:t>189.75</a:t>
                      </a:r>
                    </a:p>
                  </a:txBody>
                  <a:tcPr marL="91440" marR="91440" marT="45720" marB="45720">
                    <a:solidFill>
                      <a:srgbClr val="DAD7C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2A171-89F5-487F-A45B-72F77DBA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Epoch 4 improves top-5 by 5.48 percentage points over epoch 1.</a:t>
            </a:r>
          </a:p>
        </p:txBody>
      </p:sp>
    </p:spTree>
    <p:extLst>
      <p:ext uri="{BB962C8B-B14F-4D97-AF65-F5344CB8AC3E}">
        <p14:creationId xmlns:p14="http://schemas.microsoft.com/office/powerpoint/2010/main" val="7348619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E8BA7F-A7E1-4BC9-8D0C-15E3766F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758F4-BACE-4936-8970-D43ECD25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LATEST TRAINING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A849CD-4129-4C1E-B266-9754BB6B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Snapshot: 30/9/2026, 9:25:00 pm 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16833B-FDB0-4844-86C0-246F8A19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F1CF2-2344-4194-9E04-9B1C2F99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84C82D-6F18-4077-8694-F685DD67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44E41"/>
                </a:solidFill>
                <a:latin typeface="Arial"/>
                <a:ea typeface="Arial"/>
                <a:cs typeface="Arial"/>
              </a:rPr>
              <a:t>BILSTM • epoch 5 of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53CB7-E227-438E-9F1C-AC14D84C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43225"/>
            <a:ext cx="1104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Saved status: training</a:t>
            </a:r>
          </a:p>
          <a:p xmlns:a="http://schemas.openxmlformats.org/drawingml/2006/main">
            <a:pPr>
              <a:defRPr sz="225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Batch 1,200 / 6,803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332130-3041-4B07-B62D-A277B8CE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LSTM: one completed epoch; a partial second epoch is saved.</a:t>
            </a:r>
          </a:p>
          <a:p xmlns:a="http://schemas.openxmlformats.org/drawingml/2006/main">
            <a:pPr>
              <a:defRPr sz="217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Completion workflow continues Bi-LSTM first, then LSTM.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428708-F84B-43BC-A425-3331DA2C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44E41"/>
                </a:solidFill>
                <a:latin typeface="Arial"/>
                <a:ea typeface="Arial"/>
                <a:cs typeface="Arial"/>
              </a:rPr>
              <a:t>Final five-epoch test results remain pending.</a:t>
            </a:r>
          </a:p>
        </p:txBody>
      </p:sp>
    </p:spTree>
    <p:extLst>
      <p:ext uri="{BB962C8B-B14F-4D97-AF65-F5344CB8AC3E}">
        <p14:creationId xmlns:p14="http://schemas.microsoft.com/office/powerpoint/2010/main" val="122337512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60B671-5CC1-4A84-B912-1750C1C9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D1430-E197-4DBD-B1E8-15A718FA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PREDICTION APP AND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9F7E6-5251-4AE8-870A-DEBE5CBD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17A31-76B3-4838-AC07-044C8933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977ABF-48DE-4AF6-927C-DC9CA7A0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44E4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F5E35-1187-43C3-81DD-C3CC8498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52625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Streamlit page accepts Telugu input and ranks five next words.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E365CB-C083-447B-B6C4-DE6EBAAB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860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44E4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C5C701-ECB8-4AA0-A11E-1CA52E54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86075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Model radio buttons and training/evaluation panels are hidden.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154FE-1423-43AC-BB8C-25318E7A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95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44E4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40AB4-2B20-4DDC-8C2E-A46F271F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9525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Current default is LSTM; predictions come from the neural model.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B6D397-26A0-45C0-8A2C-8E427F2C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529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44E4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B55ED-F90D-43AC-A913-5014EE77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52975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Checks cover model loading, finite outputs, input validation and UI health.</a:t>
            </a:r>
          </a:p>
        </p:txBody>
      </p:sp>
    </p:spTree>
    <p:extLst>
      <p:ext uri="{BB962C8B-B14F-4D97-AF65-F5344CB8AC3E}">
        <p14:creationId xmlns:p14="http://schemas.microsoft.com/office/powerpoint/2010/main" val="186285396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DAD7C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C3A934-1CFB-4C2E-B50F-8C1A2A1C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B1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FA65C-3047-4670-BB97-F10665EC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344E4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344E41"/>
                </a:solidFill>
                <a:latin typeface="Georgia"/>
                <a:ea typeface="Georgia"/>
                <a:cs typeface="Georgia"/>
              </a:rPr>
              <a:t>NOVELTY AND NEXT RESEARCH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D814EF-581B-44B2-A902-773F7410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857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605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6052"/>
                </a:solidFill>
                <a:latin typeface="Arial"/>
                <a:ea typeface="Arial"/>
                <a:cs typeface="Arial"/>
              </a:rPr>
              <a:t>UROP  /  TELUGU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1766A7-1C25-4E47-B1C3-C06B127E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0435FD-5EFA-4AE8-A461-A0A51F74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44E41"/>
                </a:solidFill>
                <a:latin typeface="Arial"/>
                <a:ea typeface="Arial"/>
                <a:cs typeface="Arial"/>
              </a:rPr>
              <a:t>Current contribution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4D37B8-D0B1-42EE-B014-8D10A662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5238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A reproducible Telugu comparison</a:t>
            </a:r>
          </a:p>
          <a:p xmlns:a="http://schemas.openxmlformats.org/drawingml/2006/main">
            <a:pPr>
              <a:defRPr sz="202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with grouped data splits, resumable</a:t>
            </a:r>
          </a:p>
          <a:p xmlns:a="http://schemas.openxmlformats.org/drawingml/2006/main">
            <a:pPr>
              <a:defRPr sz="202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training and a usable prediction app.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LSTM and Bi-LSTM are established</a:t>
            </a:r>
          </a:p>
          <a:p xmlns:a="http://schemas.openxmlformats.org/drawingml/2006/main">
            <a:pPr>
              <a:defRPr sz="202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architectures, not new algorithms.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7BBDD-71A6-490B-9BB3-333679C4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5191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44E41"/>
                </a:solidFill>
                <a:latin typeface="Arial"/>
                <a:ea typeface="Arial"/>
                <a:cs typeface="Arial"/>
              </a:rPr>
              <a:t>Proposed extension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D1F42-29A1-4A4A-8E1E-9EAB3BCD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67000"/>
            <a:ext cx="5191125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Character-aware or subword modeling</a:t>
            </a:r>
          </a:p>
          <a:p xmlns:a="http://schemas.openxmlformats.org/drawingml/2006/main">
            <a:pPr>
              <a:defRPr sz="202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for rare and inflected Telugu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Evaluate attention-based alternatives,</a:t>
            </a:r>
          </a:p>
          <a:p xmlns:a="http://schemas.openxmlformats.org/drawingml/2006/main">
            <a:pPr>
              <a:defRPr sz="202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multiple seeds and more languages.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44E4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4E41"/>
                </a:solidFill>
                <a:latin typeface="Arial"/>
                <a:ea typeface="Arial"/>
                <a:cs typeface="Arial"/>
              </a:rPr>
              <a:t>Validate gains through ablations.</a:t>
            </a:r>
          </a:p>
        </p:txBody>
      </p:sp>
    </p:spTree>
    <p:extLst>
      <p:ext uri="{BB962C8B-B14F-4D97-AF65-F5344CB8AC3E}">
        <p14:creationId xmlns:p14="http://schemas.microsoft.com/office/powerpoint/2010/main" val="5808135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2026-09-30T15:55:02.5850000Z</dcterms:created>
  <dcterms:modified xsi:type="dcterms:W3CDTF">2026-09-30T15:55:02.5860000Z</dcterms:modified>
</coreProperties>
</file>