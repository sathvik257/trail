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65fea4fee488e" /><Relationship Type="http://schemas.openxmlformats.org/officeDocument/2006/relationships/extended-properties" Target="/docProps/app.xml" Id="R84ace39cdff64939" /><Relationship Type="http://schemas.openxmlformats.org/officeDocument/2006/relationships/officeDocument" Target="/ppt/presentation.xml" Id="R02d2cf8873c4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d9dc2645a4131"/>
  </p:sldMasterIdLst>
  <p:notesMasterIdLst>
    <p:notesMasterId xmlns:r="http://schemas.openxmlformats.org/officeDocument/2006/relationships" r:id="R9531172596af4be7"/>
  </p:notesMasterIdLst>
  <p:sldIdLst>
    <p:sldId xmlns:r="http://schemas.openxmlformats.org/officeDocument/2006/relationships" id="256" r:id="R22823100d29a4fa3"/>
    <p:sldId xmlns:r="http://schemas.openxmlformats.org/officeDocument/2006/relationships" id="257" r:id="Rc9f84b58237d4cef"/>
    <p:sldId xmlns:r="http://schemas.openxmlformats.org/officeDocument/2006/relationships" id="258" r:id="R75a2d0b284d343f0"/>
    <p:sldId xmlns:r="http://schemas.openxmlformats.org/officeDocument/2006/relationships" id="259" r:id="R30f3d9ddc1b94a0a"/>
    <p:sldId xmlns:r="http://schemas.openxmlformats.org/officeDocument/2006/relationships" id="260" r:id="R2bab29b63914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fca9ebb604626" /><Relationship Type="http://schemas.openxmlformats.org/officeDocument/2006/relationships/slideMaster" Target="/ppt/slideMasters/slideMaster1.xml" Id="R211d9dc2645a4131" /><Relationship Type="http://schemas.openxmlformats.org/officeDocument/2006/relationships/notesMaster" Target="/ppt/notesMasters/notesMaster1.xml" Id="R9531172596af4be7" /><Relationship Type="http://schemas.openxmlformats.org/officeDocument/2006/relationships/presProps" Target="/ppt/presProps.xml" Id="R69adfcb6f51947cf" /><Relationship Type="http://schemas.openxmlformats.org/officeDocument/2006/relationships/tableStyles" Target="/ppt/tableStyles.xml" Id="R23fcb34a920d4c05" /><Relationship Type="http://schemas.openxmlformats.org/officeDocument/2006/relationships/slide" Target="/ppt/slides/slide1.xml" Id="R22823100d29a4fa3" /><Relationship Type="http://schemas.openxmlformats.org/officeDocument/2006/relationships/slide" Target="/ppt/slides/slide2.xml" Id="Rc9f84b58237d4cef" /><Relationship Type="http://schemas.openxmlformats.org/officeDocument/2006/relationships/slide" Target="/ppt/slides/slide3.xml" Id="R75a2d0b284d343f0" /><Relationship Type="http://schemas.openxmlformats.org/officeDocument/2006/relationships/slide" Target="/ppt/slides/slide4.xml" Id="R30f3d9ddc1b94a0a" /><Relationship Type="http://schemas.openxmlformats.org/officeDocument/2006/relationships/slide" Target="/ppt/slides/slide5.xml" Id="R2bab29b63914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775c2b14ce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bbd2d5ac14870" /><Relationship Type="http://schemas.openxmlformats.org/officeDocument/2006/relationships/notesMaster" Target="/ppt/notesMasters/notesMaster1.xml" Id="R94ac4af9c111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70a674fdc4a4b" /><Relationship Type="http://schemas.openxmlformats.org/officeDocument/2006/relationships/notesMaster" Target="/ppt/notesMasters/notesMaster1.xml" Id="Re93bed895393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faed9b92148bd" /><Relationship Type="http://schemas.openxmlformats.org/officeDocument/2006/relationships/notesMaster" Target="/ppt/notesMasters/notesMaster1.xml" Id="Rbc6c88055fa045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9d6e525b574510" /><Relationship Type="http://schemas.openxmlformats.org/officeDocument/2006/relationships/notesMaster" Target="/ppt/notesMasters/notesMaster1.xml" Id="R2e8ed7311fcf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a292a1d9b44639" /><Relationship Type="http://schemas.openxmlformats.org/officeDocument/2006/relationships/notesMaster" Target="/ppt/notesMasters/notesMaster1.xml" Id="R8a57b81a360a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project predicts the next word from a short text prefix. The overall scope is multilingual, with Telugu as the current implementation. All four models have completed five epochs, held-out evaluation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gate retains useful memory, the input gate adds candidate information and the output gate exposes the hidden state. The Bi-LSTM combines terminal forward and reverse states of the input prefix. Neither direction sees the target word. W and U are learned weights and b is a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character branch uses Unicode code points, retaining up to the last 32 characters, then convolution and masked max pooling. The gate weights word and character features. Causal convolution produces v and u without looking beyond each prefix position. Unknown input words retain spelling information, but the fixed output vocabulary cannot generate unseen target words. This is an implemented project extension, not a claim of a first-of-its-kind algorithm. Rare-word evaluation is complete. Gate ablation and multiple-seed experiments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src/wordchar_model.py; src/model.py; src/check_wordchar.py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Softmax converts output logits to probabilities. Cross-entropy is the training objective. Top-k accuracy checks whether the target occurs among the k highest-ranked predictions. N is the number of examples. Perplexity uses the fixed vocabulary with unknown targets collapsed into the unknown token. The app shows five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reproduces overall saved accuracies exactly. Unknown input spelling can inform character features, but the output vocabulary remains fixed. Rare known targets have only 125 examples: top-1 changes from 3 hits to 2, and top-5 stays at 4. This does not support a rare-target improvement claim. A trained ungated-fusion ablation, multiple seeds and literature comparison remain necessary. More languages are future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outputs/telugu_frequency_evaluation.json; TELUGU_FREQUENCY_RESULTS.md; FINAL_MODEL_RESULTS.md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469f880d641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04a96de7a4d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22754c11741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dad91ecdd40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b77249a504e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016fef8144a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7C0A7A-D603-4917-980B-35CAFE01E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506A4D-9EA9-4F38-AB0D-833F9FB874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9B6660-4EF7-4479-BAA4-9B0DD54E2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FC41B-540E-49EB-B6B2-305A19966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E3BA45-DEB6-4227-8491-246C90F0C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E3EB6D-1542-4E27-85B2-FA690BC08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CA3D09-342C-4124-851C-C17EE5236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B2CDE8-8068-4C8A-A0DC-0CD691F2E5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36B59E-7169-402A-8DEC-1A0B7776A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3F64FA-9DAB-4EC8-B722-92F80AF28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dd4de9f10c410f" /><Relationship Type="http://schemas.openxmlformats.org/officeDocument/2006/relationships/slideLayout" Target="/ppt/slideLayouts/slideLayout1.xml" Id="Rc83aba9007f44f48" /><Relationship Type="http://schemas.openxmlformats.org/officeDocument/2006/relationships/slideLayout" Target="/ppt/slideLayouts/slideLayout2.xml" Id="Rf9592af58a2b43c6" /><Relationship Type="http://schemas.openxmlformats.org/officeDocument/2006/relationships/slideLayout" Target="/ppt/slideLayouts/slideLayout3.xml" Id="Raf88c8987a4846a2" /><Relationship Type="http://schemas.openxmlformats.org/officeDocument/2006/relationships/slideLayout" Target="/ppt/slideLayouts/slideLayout4.xml" Id="R6d9ce6b343324d6b" /><Relationship Type="http://schemas.openxmlformats.org/officeDocument/2006/relationships/slideLayout" Target="/ppt/slideLayouts/slideLayout5.xml" Id="R25a52e6f91e94545" /><Relationship Type="http://schemas.openxmlformats.org/officeDocument/2006/relationships/slideLayout" Target="/ppt/slideLayouts/slideLayout6.xml" Id="R03fdbc7e48284c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aba9007f44f48"/>
    <p:sldLayoutId xmlns:r="http://schemas.openxmlformats.org/officeDocument/2006/relationships" id="2147483650" r:id="Rf9592af58a2b43c6"/>
    <p:sldLayoutId xmlns:r="http://schemas.openxmlformats.org/officeDocument/2006/relationships" id="2147483651" r:id="Raf88c8987a4846a2"/>
    <p:sldLayoutId xmlns:r="http://schemas.openxmlformats.org/officeDocument/2006/relationships" id="2147483652" r:id="R6d9ce6b343324d6b"/>
    <p:sldLayoutId xmlns:r="http://schemas.openxmlformats.org/officeDocument/2006/relationships" id="2147483653" r:id="R25a52e6f91e94545"/>
    <p:sldLayoutId xmlns:r="http://schemas.openxmlformats.org/officeDocument/2006/relationships" id="2147483654" r:id="R03fdbc7e48284c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264b7677c4c61" /><Relationship Type="http://schemas.openxmlformats.org/officeDocument/2006/relationships/notesSlide" Target="/ppt/notesSlides/notesSlide1.xml" Id="Rd77288a5bcbc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07482a2a84202" /><Relationship Type="http://schemas.openxmlformats.org/officeDocument/2006/relationships/notesSlide" Target="/ppt/notesSlides/notesSlide2.xml" Id="R26d29f4929e6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0c7159ab94f2f" /><Relationship Type="http://schemas.openxmlformats.org/officeDocument/2006/relationships/notesSlide" Target="/ppt/notesSlides/notesSlide3.xml" Id="Rcf08390d24bb4a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e6ec4d3434b29" /><Relationship Type="http://schemas.openxmlformats.org/officeDocument/2006/relationships/notesSlide" Target="/ppt/notesSlides/notesSlide4.xml" Id="R546d95e2b182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a8074a3b24233" /><Relationship Type="http://schemas.openxmlformats.org/officeDocument/2006/relationships/notesSlide" Target="/ppt/notesSlides/notesSlide5.xml" Id="Rcb08a361ddb0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67A2C-97AA-4368-A23B-C030BC0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2D787-8BBD-49A5-BAC6-78A72BCA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D77E-44E9-466F-A054-457E5AEA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3F1E7-C177-43CC-BB40-C7ADC56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LSTM, Bi-LSTM and convolutional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C3FA2-1839-4CD5-A1F8-08865AAD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DE129-6079-42A9-BD8D-620CA877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01741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2AD56-FBB0-4432-B177-03203F2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C4D49-4F01-41A1-BF88-495EFC0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AND BI-LSTM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97916-B291-4DAA-B30C-8DB1F64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F7D97-7E20-467C-872B-79CD52A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3E718-24BB-430F-ACEC-FFBA3525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qₜ = σ(Wq xₜ + Uq hₜ₋₁ + bq),  q ∈ {f, i, o}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9894E-6D7E-40B9-B3EA-71405FC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Forget, input, output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E662D-46D2-4C1F-A02B-A9889D06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1E4A9-116A-47A9-B8E8-6EA9A615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73A5D-E8FA-4E0F-A06F-D59D6AF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7581E-9E50-48E9-B256-2489F6F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79B0A-F43F-4BCD-98CC-5F118D6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565CF-B5EB-4319-930E-76E4D81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BDB89-8A9C-4D77-A9B5-D5F6DEF0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hBi = concat(hforward, hreverse)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60E49-4509-4743-990D-4A279E3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Bi-LSTM terminal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43AF7-9F31-43D3-9139-73A7319E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read only the observed prefix. σ is sigmoid and ⊙ is element-wise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1312662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8FBEC-1C56-4CC1-B9F7-F1D6A32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4F0C9-30E5-4209-B912-CBC1975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GATED WORD–CHARACTER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0E29D-63E7-462D-B7B5-0D4E7030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Proposed contribution: combine word identity with Telugu spelling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07EBB-683F-44D7-851E-2AF2EBE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36EC3-181B-4808-B6B4-8563EFD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E4741-3B45-4B5D-9A30-F621F570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 = MaxPool(ReLU(Conv(CharEmbed(word))))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CD0DA-19A6-4E54-9FB4-C808FB2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 = σ(Wg [e ; c]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3DFBC-5548-49DF-8A7C-F1238131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fused = g ⊙ e + (1 − g) ⊙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861B-AA8B-4991-8FDA-DAE558F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Causal block: h′ = (h + v ⊙ σ(u)) / √2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D6CE6-1A01-4012-9CA2-CB3BEF6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e: word embedding   c: character features   g: learned fusion gate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complete. Research originality requires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393522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590A6-5032-45B1-B6C5-5DD92EC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DD57-749B-49AF-8366-119DAA7A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8A4A8-374B-4795-93E1-E882FCF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35573-F004-40DC-BE2E-1068FFC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08727-8EDD-4799-883C-9545754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exp(zₖ),   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64162-4CDB-4855-95D6-B31213B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E303E-DA63-4D33-93EC-5A5E865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6047E-DA26-45B7-8F04-54BCCFFE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0CC44-9AC2-463F-9933-EB04AD7C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Higher accuracy and lower perplexity are better.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unknown words and count as accuracy misses.</a:t>
            </a:r>
          </a:p>
        </p:txBody>
      </p:sp>
    </p:spTree>
    <p:extLst>
      <p:ext uri="{BB962C8B-B14F-4D97-AF65-F5344CB8AC3E}">
        <p14:creationId xmlns:p14="http://schemas.microsoft.com/office/powerpoint/2010/main" val="2052712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3D561-9431-4BBD-B0EB-61FD1DD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92286-EA46-46D5-9481-DA0A01E3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CONTRIBUTION AND FINAL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ACF3A-9863-4814-AC9D-61B1FEF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Adaptive word–character fusion improves over the word-only CNN.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22394-6996-4C45-A4B8-117CE9E1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33E1B-B6CD-4BDA-BAF5-FE450909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E6030-57FD-4398-A786-963BCF9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INPUTS CONTAINING UNKNOWN WORDS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4CA19-DD8B-4BB2-9FD8-906D5DDF3F84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14.64%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14C9E-8D73-45C8-BF53-2DA044F4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57,089 test examples. Rare-target improvement was not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1B0C9-079D-478B-B099-C7B3EED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and verification complete. Telugu web demo uses LSTM.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Research originality and the gate’s specific benefit need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1220298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2026-10-13T17:19:05.7820000Z</dcterms:created>
  <dcterms:modified xsi:type="dcterms:W3CDTF">2026-10-13T17:19:05.7820000Z</dcterms:modified>
</coreProperties>
</file>