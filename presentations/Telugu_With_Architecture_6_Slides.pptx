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ed1805dc9f4261" /><Relationship Type="http://schemas.openxmlformats.org/officeDocument/2006/relationships/extended-properties" Target="/docProps/app.xml" Id="Rade784165b6a4d16" /><Relationship Type="http://schemas.openxmlformats.org/officeDocument/2006/relationships/officeDocument" Target="/ppt/presentation.xml" Id="R11675a8e6ad747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57d941948b48f6"/>
  </p:sldMasterIdLst>
  <p:notesMasterIdLst>
    <p:notesMasterId xmlns:r="http://schemas.openxmlformats.org/officeDocument/2006/relationships" r:id="R4682a60847414789"/>
  </p:notesMasterIdLst>
  <p:sldIdLst>
    <p:sldId xmlns:r="http://schemas.openxmlformats.org/officeDocument/2006/relationships" id="256" r:id="R6800dc017c9b4c6b"/>
    <p:sldId xmlns:r="http://schemas.openxmlformats.org/officeDocument/2006/relationships" id="257" r:id="R50833345587d4115"/>
    <p:sldId xmlns:r="http://schemas.openxmlformats.org/officeDocument/2006/relationships" id="258" r:id="Rc7e9c7b1ee334ab1"/>
    <p:sldId xmlns:r="http://schemas.openxmlformats.org/officeDocument/2006/relationships" id="259" r:id="R724a67d8e7e24ad3"/>
    <p:sldId xmlns:r="http://schemas.openxmlformats.org/officeDocument/2006/relationships" id="260" r:id="R2f2477258e664ad7"/>
    <p:sldId xmlns:r="http://schemas.openxmlformats.org/officeDocument/2006/relationships" id="261" r:id="Rc0808783ff874b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6176e5dd0a472f" /><Relationship Type="http://schemas.openxmlformats.org/officeDocument/2006/relationships/slideMaster" Target="/ppt/slideMasters/slideMaster1.xml" Id="R4857d941948b48f6" /><Relationship Type="http://schemas.openxmlformats.org/officeDocument/2006/relationships/notesMaster" Target="/ppt/notesMasters/notesMaster1.xml" Id="R4682a60847414789" /><Relationship Type="http://schemas.openxmlformats.org/officeDocument/2006/relationships/presProps" Target="/ppt/presProps.xml" Id="Rdc30e02310e644c9" /><Relationship Type="http://schemas.openxmlformats.org/officeDocument/2006/relationships/tableStyles" Target="/ppt/tableStyles.xml" Id="R548ada7ee826457a" /><Relationship Type="http://schemas.openxmlformats.org/officeDocument/2006/relationships/slide" Target="/ppt/slides/slide1.xml" Id="R6800dc017c9b4c6b" /><Relationship Type="http://schemas.openxmlformats.org/officeDocument/2006/relationships/slide" Target="/ppt/slides/slide2.xml" Id="R50833345587d4115" /><Relationship Type="http://schemas.openxmlformats.org/officeDocument/2006/relationships/slide" Target="/ppt/slides/slide3.xml" Id="Rc7e9c7b1ee334ab1" /><Relationship Type="http://schemas.openxmlformats.org/officeDocument/2006/relationships/slide" Target="/ppt/slides/slide4.xml" Id="R724a67d8e7e24ad3" /><Relationship Type="http://schemas.openxmlformats.org/officeDocument/2006/relationships/slide" Target="/ppt/slides/slide5.xml" Id="R2f2477258e664ad7" /><Relationship Type="http://schemas.openxmlformats.org/officeDocument/2006/relationships/slide" Target="/ppt/slides/slide6.xml" Id="Rc0808783ff874b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67e0b016054a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b5ceb3c0f44661" /><Relationship Type="http://schemas.openxmlformats.org/officeDocument/2006/relationships/notesMaster" Target="/ppt/notesMasters/notesMaster1.xml" Id="R2b6b281ca5ba46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01250b829c491e" /><Relationship Type="http://schemas.openxmlformats.org/officeDocument/2006/relationships/notesMaster" Target="/ppt/notesMasters/notesMaster1.xml" Id="Rc4d5cf3f333f471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c7b0ef24494a8a" /><Relationship Type="http://schemas.openxmlformats.org/officeDocument/2006/relationships/notesMaster" Target="/ppt/notesMasters/notesMaster1.xml" Id="Re909afee049441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ded22bb2269484a" /><Relationship Type="http://schemas.openxmlformats.org/officeDocument/2006/relationships/notesMaster" Target="/ppt/notesMasters/notesMaster1.xml" Id="R105ef8c4b33845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5f1a4c0cfdb49bd" /><Relationship Type="http://schemas.openxmlformats.org/officeDocument/2006/relationships/notesMaster" Target="/ppt/notesMasters/notesMaster1.xml" Id="Rf948d821a90c40a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5aa48cc47ae485a" /><Relationship Type="http://schemas.openxmlformats.org/officeDocument/2006/relationships/notesMaster" Target="/ppt/notesMasters/notesMaster1.xml" Id="R32a7ee60f57549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Our project predicts the next word from a short text prefix. The overall scope is multilingual, with Telugu as the current implementation. All four models have completed five epochs, held-out evaluation and verification.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data pipeline uses grouped partitions, exact-overlap removal and a training-only vocabulary of 20,000 tokens. Four models are separate experiments. The validation-selected checkpoint supplies held-out evaluation. The deployed interface loads lstm_best.pt, excludes special-token suggestions and handles empty, non-Telugu and entirely unknown input. The CNN variants remain evaluation artifacts and are not wired into the current web UI.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src/prepare_telugu_llm_data.py; src/train_telugu_comparison.py; src/telugu_app.py; src/telugu_neural_predictor.py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forget gate retains useful memory, the input gate adds candidate information and the output gate exposes the hidden state. The Bi-LSTM combines terminal forward and reverse states of the input prefix. Neither direction sees the target word. W and U are learned weights and b is a bias.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src/model.py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character branch uses Unicode code points, retaining up to the last 32 characters, then convolution and masked max pooling. The gate weights word and character features. Causal convolution produces v and u without looking beyond each prefix position. Unknown input words retain spelling information, but the fixed output vocabulary cannot generate unseen target words. This is an implemented project extension, not a claim of a first-of-its-kind algorithm. Rare-word evaluation is complete. Gate ablation and multiple-seed experiments are still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src/wordchar_model.py; src/model.py; src/check_wordchar.py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Softmax converts output logits to probabilities. Cross-entropy is the training objective. Top-k accuracy checks whether the target occurs among the k highest-ranked predictions. N is the number of examples. Perplexity uses the fixed vocabulary with unknown targets collapsed into the unknown token. The app shows five suggestions.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src/train_telugu_comparison.py; src/telugu_neural_predictor.py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diagnostic reproduces overall saved accuracies exactly. Unknown input spelling can inform character features, but the output vocabulary remains fixed. Rare known targets have only 125 examples: top-1 changes from 3 hits to 2, and top-5 stays at 4. This does not support a rare-target improvement claim. A trained ungated-fusion ablation, multiple seeds and literature comparison remain necessary. More languages are future scope.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outputs/telugu_frequency_evaluation.json; TELUGU_FREQUENCY_RESULTS.md; FINAL_MODEL_RESULTS.md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74817be4aa439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d49844a7784eb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b03b2cd33345f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b535f2db9c4ca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48938809d4422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ce098ea18847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638143-99F7-4BBF-99EC-3567AFCAAD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67A8FC5-E613-401A-8EEC-F24D7F2B69C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96C69C2-9127-4B7E-8C6D-A79548E32F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8AC6EE4-CE9A-4C6C-9F06-274A9D0A0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03C9C93-7418-48BC-9EFA-FF29E56586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AFFA9B4-93A5-457D-A36D-D6C45EA3E1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3BCC556-8714-40B8-9B56-E6EE18279E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6D4A552-3253-4213-8B95-6C191B6C312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A8E6A64-DBB7-4296-A090-FCE0943670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3504D82-9184-4F90-836B-FAD8D4B6CA8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09fc7ea6094257" /><Relationship Type="http://schemas.openxmlformats.org/officeDocument/2006/relationships/slideLayout" Target="/ppt/slideLayouts/slideLayout1.xml" Id="Rf8bcaf5158f54b64" /><Relationship Type="http://schemas.openxmlformats.org/officeDocument/2006/relationships/slideLayout" Target="/ppt/slideLayouts/slideLayout2.xml" Id="Rc4a957da1d0f4c7a" /><Relationship Type="http://schemas.openxmlformats.org/officeDocument/2006/relationships/slideLayout" Target="/ppt/slideLayouts/slideLayout3.xml" Id="Rc632d9da7f6b4df2" /><Relationship Type="http://schemas.openxmlformats.org/officeDocument/2006/relationships/slideLayout" Target="/ppt/slideLayouts/slideLayout4.xml" Id="R688c44ffbcdc497a" /><Relationship Type="http://schemas.openxmlformats.org/officeDocument/2006/relationships/slideLayout" Target="/ppt/slideLayouts/slideLayout5.xml" Id="Rd67f0e4c10234ef5" /><Relationship Type="http://schemas.openxmlformats.org/officeDocument/2006/relationships/slideLayout" Target="/ppt/slideLayouts/slideLayout6.xml" Id="R6d3f20e6fec54d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bcaf5158f54b64"/>
    <p:sldLayoutId xmlns:r="http://schemas.openxmlformats.org/officeDocument/2006/relationships" id="2147483650" r:id="Rc4a957da1d0f4c7a"/>
    <p:sldLayoutId xmlns:r="http://schemas.openxmlformats.org/officeDocument/2006/relationships" id="2147483651" r:id="Rc632d9da7f6b4df2"/>
    <p:sldLayoutId xmlns:r="http://schemas.openxmlformats.org/officeDocument/2006/relationships" id="2147483652" r:id="R688c44ffbcdc497a"/>
    <p:sldLayoutId xmlns:r="http://schemas.openxmlformats.org/officeDocument/2006/relationships" id="2147483653" r:id="Rd67f0e4c10234ef5"/>
    <p:sldLayoutId xmlns:r="http://schemas.openxmlformats.org/officeDocument/2006/relationships" id="2147483654" r:id="R6d3f20e6fec54d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db82ab42b04720" /><Relationship Type="http://schemas.openxmlformats.org/officeDocument/2006/relationships/notesSlide" Target="/ppt/notesSlides/notesSlide1.xml" Id="R509aa1c8b04848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6e697109fa44e0" /><Relationship Type="http://schemas.openxmlformats.org/officeDocument/2006/relationships/notesSlide" Target="/ppt/notesSlides/notesSlide2.xml" Id="Rae907219fe0b403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d0c1b51ed645b1" /><Relationship Type="http://schemas.openxmlformats.org/officeDocument/2006/relationships/notesSlide" Target="/ppt/notesSlides/notesSlide3.xml" Id="R31ee765bbfe34a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b85344b6b5461c" /><Relationship Type="http://schemas.openxmlformats.org/officeDocument/2006/relationships/notesSlide" Target="/ppt/notesSlides/notesSlide4.xml" Id="R713a6d182a9f43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879f3ebe6b43dd" /><Relationship Type="http://schemas.openxmlformats.org/officeDocument/2006/relationships/notesSlide" Target="/ppt/notesSlides/notesSlide5.xml" Id="Rbbe2851d644c4b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8dd2b0e0b64fd6" /><Relationship Type="http://schemas.openxmlformats.org/officeDocument/2006/relationships/notesSlide" Target="/ppt/notesSlides/notesSlide6.xml" Id="Rab06ed9cb6ac4fd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03F705-B242-45FB-8551-B8CAFE20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1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E5D510-3D9E-43F4-9B65-D2B82175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10763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57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57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pPr>
            <a:r>
              <a:rPr sz="5700" b="0">
                <a:solidFill>
                  <a:srgbClr val="344E41"/>
                </a:solidFill>
                <a:latin typeface="Georgia"/>
                <a:ea typeface="Georgia"/>
                <a:cs typeface="Georgia"/>
              </a:rPr>
              <a:t>MULTILINGUAL</a:t>
            </a:r>
          </a:p>
          <a:p xmlns:a="http://schemas.openxmlformats.org/drawingml/2006/main">
            <a:pPr algn="ctr">
              <a:defRPr sz="57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pPr>
            <a:r>
              <a:rPr sz="5700" b="0">
                <a:solidFill>
                  <a:srgbClr val="344E41"/>
                </a:solidFill>
                <a:latin typeface="Georgia"/>
                <a:ea typeface="Georgia"/>
                <a:cs typeface="Georgia"/>
              </a:rPr>
              <a:t>NEXT-WORD</a:t>
            </a:r>
          </a:p>
          <a:p xmlns:a="http://schemas.openxmlformats.org/drawingml/2006/main">
            <a:pPr algn="ctr">
              <a:defRPr sz="57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pPr>
            <a:r>
              <a:rPr sz="5700" b="0">
                <a:solidFill>
                  <a:srgbClr val="344E41"/>
                </a:solidFill>
                <a:latin typeface="Georgia"/>
                <a:ea typeface="Georgia"/>
                <a:cs typeface="Georgia"/>
              </a:rPr>
              <a:t>PREDICTION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0E4408-F475-4D50-BF7B-B4C1DE7F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14375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21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TELUGU PHASE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E33723-57C3-46BA-9237-60F1EEBC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577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21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LSTM, Bi-LSTM and convolutional models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5CE746-6E40-4150-9AB4-801FD290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13 October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BDE779-7041-48DA-B93B-2E6A7062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4008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UROP PROJECT REVIEW</a:t>
            </a:r>
          </a:p>
        </p:txBody>
      </p:sp>
    </p:spTree>
    <p:extLst>
      <p:ext uri="{BB962C8B-B14F-4D97-AF65-F5344CB8AC3E}">
        <p14:creationId xmlns:p14="http://schemas.microsoft.com/office/powerpoint/2010/main" val="472645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C056B2-F239-4FBD-A9CD-3AF0FE28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1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A77DB1-F910-42D4-BC5D-3C070A4E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344E41"/>
                </a:solidFill>
                <a:latin typeface="Georgia"/>
                <a:ea typeface="Georgia"/>
                <a:cs typeface="Georgia"/>
              </a:rPr>
              <a:t>PROJECT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EA3ADF-982B-4F15-9F9A-8D81E3CF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Telugu data preparation, model comparison and live prediction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FDF8A1-E526-45AA-AAB6-B59206F52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UROP  /  TELUGU PHASE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8D048E-0508-49A0-A94E-503E103FE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5C0F1B-786C-4F2A-AFE0-329E983E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44E41"/>
                </a:solidFill>
                <a:latin typeface="Arial"/>
                <a:ea typeface="Arial"/>
                <a:cs typeface="Arial"/>
              </a:rPr>
              <a:t>TRAINING AND EVALUATION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F8BE2C-1E82-460F-885F-09A8F63E8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238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5DD"/>
          </a:solidFill>
          <a:ln xmlns:a="http://schemas.openxmlformats.org/drawingml/2006/main" w="19050">
            <a:solidFill>
              <a:srgbClr val="A3B18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A40D39-C4C8-4E9C-B076-08DEE9C7B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215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8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Native Telugu</a:t>
            </a:r>
          </a:p>
          <a:p xmlns:a="http://schemas.openxmlformats.org/drawingml/2006/main">
            <a:pPr algn="ctr">
              <a:defRPr sz="18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Alpaca + GPTeacher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6FFCCC-E4D8-479D-98C3-96FD84E88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571750"/>
            <a:ext cx="428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550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F01FA8-C7B1-4B64-8A09-685B0FCC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81250"/>
            <a:ext cx="238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5DD"/>
          </a:solidFill>
          <a:ln xmlns:a="http://schemas.openxmlformats.org/drawingml/2006/main" w="19050">
            <a:solidFill>
              <a:srgbClr val="A3B18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C162F1-2F28-4165-A5B1-7D72BA55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524125"/>
            <a:ext cx="215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8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Normalize and split</a:t>
            </a:r>
          </a:p>
          <a:p xmlns:a="http://schemas.openxmlformats.org/drawingml/2006/main">
            <a:pPr algn="ctr">
              <a:defRPr sz="18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8-word contexts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CB2BA6-47AE-4635-8EBE-690F46C3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571750"/>
            <a:ext cx="428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550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935DD5-6BA7-4FF4-AC76-12F5F730B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238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5DD"/>
          </a:solidFill>
          <a:ln xmlns:a="http://schemas.openxmlformats.org/drawingml/2006/main" w="19050">
            <a:solidFill>
              <a:srgbClr val="A3B18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DEC945-1F89-4814-9576-5093ACCD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24125"/>
            <a:ext cx="215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8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Train four models</a:t>
            </a:r>
          </a:p>
          <a:p xmlns:a="http://schemas.openxmlformats.org/drawingml/2006/main">
            <a:pPr algn="ctr">
              <a:defRPr sz="18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5 epochs each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DA0860-30F7-4A9B-8E3B-767154E52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571750"/>
            <a:ext cx="428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550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7E8667-98FA-4C21-8CEA-D091053F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81250"/>
            <a:ext cx="238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5DD"/>
          </a:solidFill>
          <a:ln xmlns:a="http://schemas.openxmlformats.org/drawingml/2006/main" w="19050">
            <a:solidFill>
              <a:srgbClr val="A3B18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F09EEC-E012-45BF-A305-F3BC1AB6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24125"/>
            <a:ext cx="215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8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Validation selection</a:t>
            </a:r>
          </a:p>
          <a:p xmlns:a="http://schemas.openxmlformats.org/drawingml/2006/main">
            <a:pPr algn="ctr">
              <a:defRPr sz="18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Held-out test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C72913-B20A-413B-981B-89A043CF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LSTM, Bi-LSTM, word CNN and gated word–character CNN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60F719-51DF-430B-BD6A-9DE681E0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44E41"/>
                </a:solidFill>
                <a:latin typeface="Arial"/>
                <a:ea typeface="Arial"/>
                <a:cs typeface="Arial"/>
              </a:rPr>
              <a:t>LIVE WEB APPLICATION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D3BBBA-8E0E-48CF-A8B4-31CDDAB0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238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5DD"/>
          </a:solidFill>
          <a:ln xmlns:a="http://schemas.openxmlformats.org/drawingml/2006/main" w="19050">
            <a:solidFill>
              <a:srgbClr val="A3B18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0E33AD-756F-4296-A61D-BEE2358E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215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8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User types</a:t>
            </a:r>
          </a:p>
          <a:p xmlns:a="http://schemas.openxmlformats.org/drawingml/2006/main">
            <a:pPr algn="ctr">
              <a:defRPr sz="18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Telugu phrase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0724FE-199C-4122-A4EA-4B206084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762500"/>
            <a:ext cx="428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550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D9F95D-7CC7-452D-8886-CAA56EE0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72000"/>
            <a:ext cx="238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5DD"/>
          </a:solidFill>
          <a:ln xmlns:a="http://schemas.openxmlformats.org/drawingml/2006/main" w="19050">
            <a:solidFill>
              <a:srgbClr val="A3B18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F783DD-FE4B-4EA3-A79A-99F11EA2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714875"/>
            <a:ext cx="215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8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Tokenize and encode</a:t>
            </a:r>
          </a:p>
          <a:p xmlns:a="http://schemas.openxmlformats.org/drawingml/2006/main">
            <a:pPr algn="ctr">
              <a:defRPr sz="18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Last 8 words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6AA9C9-249F-4DDE-A56E-29B47C8E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4762500"/>
            <a:ext cx="428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550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FB424F-B8A5-400B-93CB-9A49BFD4A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72000"/>
            <a:ext cx="238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5DD"/>
          </a:solidFill>
          <a:ln xmlns:a="http://schemas.openxmlformats.org/drawingml/2006/main" w="19050">
            <a:solidFill>
              <a:srgbClr val="A3B18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42A68E-5E8E-42DB-9F02-881966DBC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14875"/>
            <a:ext cx="215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8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Saved LSTM</a:t>
            </a:r>
          </a:p>
          <a:p xmlns:a="http://schemas.openxmlformats.org/drawingml/2006/main">
            <a:pPr algn="ctr">
              <a:defRPr sz="18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Word probabilities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9A4D6E-7708-4394-B4CB-666D65F4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762500"/>
            <a:ext cx="428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550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FFAE68-9EE3-40F3-8D35-0E6CEEC1E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72000"/>
            <a:ext cx="238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5DD"/>
          </a:solidFill>
          <a:ln xmlns:a="http://schemas.openxmlformats.org/drawingml/2006/main" w="19050">
            <a:solidFill>
              <a:srgbClr val="A3B18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D68AE4-193C-451A-9C23-33C831F2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714875"/>
            <a:ext cx="215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8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Streamlit displays</a:t>
            </a:r>
          </a:p>
          <a:p xmlns:a="http://schemas.openxmlformats.org/drawingml/2006/main">
            <a:pPr algn="ctr">
              <a:defRPr sz="18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Top 5 suggestions</a:t>
            </a:r>
          </a:p>
        </p:txBody>
      </p:sp>
    </p:spTree>
    <p:extLst>
      <p:ext uri="{BB962C8B-B14F-4D97-AF65-F5344CB8AC3E}">
        <p14:creationId xmlns:p14="http://schemas.microsoft.com/office/powerpoint/2010/main" val="15708492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477E1F-A2CB-47F4-BBD6-A09FD513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1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3AB2FF-4829-4C4E-9476-9D3149D9C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344E41"/>
                </a:solidFill>
                <a:latin typeface="Georgia"/>
                <a:ea typeface="Georgia"/>
                <a:cs typeface="Georgia"/>
              </a:rPr>
              <a:t>LSTM AND BI-LSTM FORMULAS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D60887-A4B4-4C44-8E71-EB1A16C2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UROP  /  TELUGU PHASE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9E6F57-7E6A-46F4-A7E9-4C5C7B71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3E1DF1-3C77-4752-8161-0ADD1806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17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qₜ = σ(Wq xₜ + Uq hₜ₋₁ + bq),  q ∈ {f, i, o}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135664-D1CF-44DC-AAE6-2579681ED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90700"/>
            <a:ext cx="2619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Forget, input, output gates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D951EA-0A08-414C-9EE9-AB8CDCF8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57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17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gₜ = tanh(Wg xₜ + Ug hₜ₋₁ + bg)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9C59B6-FADB-4656-BC8D-1E5EDF33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33650"/>
            <a:ext cx="2619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Candidate memory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5BD2CF-FA25-4847-B52F-02AB6DC1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0040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17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cₜ = fₜ ⊙ cₜ₋₁ + iₜ ⊙ gₜ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700789-A4AA-413C-B8AD-0F3A5007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76600"/>
            <a:ext cx="2619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Cell update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0FAB51-04C0-49F3-AE64-CC7FC0D1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433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17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hₜ = oₜ ⊙ tanh(cₜ)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731472-219D-4508-84CD-67200456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19550"/>
            <a:ext cx="2619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Hidden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22B0D1-37C9-43B2-8481-A1CB0BCA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8630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17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hBi = concat(hforward, hreverse)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9E9EA8-4A88-4D34-9642-DC5646A5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762500"/>
            <a:ext cx="2619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Bi-LSTM terminal states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A5F06B-8FB4-456A-B79C-AEE2F73E1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4832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Both directions read only the observed prefix. σ is sigmoid and ⊙ is element-wise multiplication.</a:t>
            </a:r>
          </a:p>
        </p:txBody>
      </p:sp>
    </p:spTree>
    <p:extLst>
      <p:ext uri="{BB962C8B-B14F-4D97-AF65-F5344CB8AC3E}">
        <p14:creationId xmlns:p14="http://schemas.microsoft.com/office/powerpoint/2010/main" val="18957218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6FDC68-96E2-41C2-ACA2-37C2150D9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1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77B834-1318-49EF-88C6-DF35EF39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344E41"/>
                </a:solidFill>
                <a:latin typeface="Georgia"/>
                <a:ea typeface="Georgia"/>
                <a:cs typeface="Georgia"/>
              </a:rPr>
              <a:t>GATED WORD–CHARACTER CNN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E10FD6-2D44-4574-A9B1-90D58AEA5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Proposed contribution: combine word identity with Telugu spelling features.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2C6B11-E55E-4F41-828C-E965032F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UROP  /  TELUGU PHASE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85983F-4EE8-43F9-83BA-4F309728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6051EC-5CDE-43A0-A152-4B9F3A45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32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c = MaxPool(ReLU(Conv(CharEmbed(word))))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0B3BE0-D6AB-4D58-A627-43558D07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622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47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g = σ(Wg [e ; c] + bg)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94ED53-B0FF-4844-99C6-3113985C8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7187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47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fused = g ⊙ e + (1 − g) ⊙ 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499C8F-6B41-4D45-8458-9E582BD4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815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32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Causal block: h′ = (h + v ⊙ σ(u)) / √2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F09C14-7F36-48F9-A58C-972DDA5F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3400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e: word embedding   c: character features   g: learned fusion gate</a:t>
            </a:r>
          </a:p>
          <a:p xmlns:a="http://schemas.openxmlformats.org/drawingml/2006/main">
            <a:pPr>
              <a:defRPr sz="18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Training complete. Research originality requires further validation.</a:t>
            </a:r>
          </a:p>
        </p:txBody>
      </p:sp>
    </p:spTree>
    <p:extLst>
      <p:ext uri="{BB962C8B-B14F-4D97-AF65-F5344CB8AC3E}">
        <p14:creationId xmlns:p14="http://schemas.microsoft.com/office/powerpoint/2010/main" val="19743410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474392-F39E-4DF4-9BC3-E44BA538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1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120602-109A-4143-AED8-8531A181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344E41"/>
                </a:solidFill>
                <a:latin typeface="Georgia"/>
                <a:ea typeface="Georgia"/>
                <a:cs typeface="Georgia"/>
              </a:rPr>
              <a:t>PREDICTION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2B6AB6-6E0D-44AB-AEE5-E88D73F8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UROP  /  TELUGU PHASE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A1BE09-6B48-4594-9959-73E518D8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520EFF-5495-4730-8825-B2CFF298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335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47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pⱼ = exp(zⱼ) / Σₖ exp(zₖ),   z = Wout h + bout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6E65D8-9914-43B0-B5F6-1EEFA20A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670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62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62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62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LCE = −(1/N) Σₙ log p(yₙ | xₙ)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C5BC74-1C72-44F1-9C28-A0CBB5B38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004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47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Accuracy@k = (1/N) Σₙ 1{yₙ ∈ TopK(xₙ)}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4FC27A-C5C7-4AE6-A719-425B2629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339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62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62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62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Perplexity = exp(LCE)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2CE006-F703-496A-AE2A-B1385B51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483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Higher accuracy and lower perplexity are better.</a:t>
            </a:r>
          </a:p>
          <a:p xmlns:a="http://schemas.openxmlformats.org/drawingml/2006/main">
            <a:pPr>
              <a:defRPr sz="18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7.21% of test targets are unknown words and count as accuracy misses.</a:t>
            </a:r>
          </a:p>
        </p:txBody>
      </p:sp>
    </p:spTree>
    <p:extLst>
      <p:ext uri="{BB962C8B-B14F-4D97-AF65-F5344CB8AC3E}">
        <p14:creationId xmlns:p14="http://schemas.microsoft.com/office/powerpoint/2010/main" val="12982488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7FC237-327E-4DF8-80D7-CCB561C5A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1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4425E5-87D6-4303-ABD5-6AAADEA9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344E41"/>
                </a:solidFill>
                <a:latin typeface="Georgia"/>
                <a:ea typeface="Georgia"/>
                <a:cs typeface="Georgia"/>
              </a:rPr>
              <a:t>CONTRIBUTION AND FINAL STATUS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62D046-75C4-4183-AB8C-302DDD44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Adaptive word–character fusion improves over the word-only CNN.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AE2B86-BDA7-49B3-BF38-E63130A3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UROP  /  TELUGU PHASE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5B8F38-BAD9-4BDA-9992-9139C7BD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D2A3A8-DFFD-444C-8191-17EABAB9A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44E41"/>
                </a:solidFill>
                <a:latin typeface="Arial"/>
                <a:ea typeface="Arial"/>
                <a:cs typeface="Arial"/>
              </a:rPr>
              <a:t>INPUTS CONTAINING UNKNOWN WORDS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3E28C4-3070-4781-AD29-4B8418962463}"/>
              </a:ext>
            </a:extLst>
          </p:cNvPr>
          <p:cNvGraphicFramePr/>
          <p:nvPr/>
        </p:nvGraphicFramePr>
        <p:xfrm>
          <a:off xmlns:a="http://schemas.openxmlformats.org/drawingml/2006/main" x="571500" y="2571750"/>
          <a:ext xmlns:a="http://schemas.openxmlformats.org/drawingml/2006/main" cx="11049000" cy="1809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572000"/>
                <a:gridCol w="3238500"/>
                <a:gridCol w="3238500"/>
              </a:tblGrid>
              <a:tr h="6032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A3B18A"/>
                      </a:solidFill>
                      <a:prstDash val="solid"/>
                    </a:lnL>
                    <a:lnR w="9525">
                      <a:solidFill>
                        <a:srgbClr val="A3B18A"/>
                      </a:solidFill>
                      <a:prstDash val="solid"/>
                    </a:lnR>
                    <a:lnT w="9525">
                      <a:solidFill>
                        <a:srgbClr val="A3B18A"/>
                      </a:solidFill>
                      <a:prstDash val="solid"/>
                    </a:lnT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344E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Word CNN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3B18A"/>
                      </a:solidFill>
                      <a:prstDash val="solid"/>
                    </a:lnR>
                    <a:lnT w="9525">
                      <a:solidFill>
                        <a:srgbClr val="A3B18A"/>
                      </a:solidFill>
                      <a:prstDash val="solid"/>
                    </a:lnT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344E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Character CNN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3B18A"/>
                      </a:solidFill>
                      <a:prstDash val="solid"/>
                    </a:lnR>
                    <a:lnT w="9525">
                      <a:solidFill>
                        <a:srgbClr val="A3B18A"/>
                      </a:solidFill>
                      <a:prstDash val="solid"/>
                    </a:lnT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344E41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Top-1 accuracy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A3B18A"/>
                      </a:solidFill>
                      <a:prstDash val="solid"/>
                    </a:lnL>
                    <a:lnR w="9525">
                      <a:solidFill>
                        <a:srgbClr val="A3B18A"/>
                      </a:solidFill>
                      <a:prstDash val="solid"/>
                    </a:lnR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13.13%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3B18A"/>
                      </a:solidFill>
                      <a:prstDash val="solid"/>
                    </a:lnR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14.64%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3B18A"/>
                      </a:solidFill>
                      <a:prstDash val="solid"/>
                    </a:lnR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E7E5DD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Top-5 accuracy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A3B18A"/>
                      </a:solidFill>
                      <a:prstDash val="solid"/>
                    </a:lnL>
                    <a:lnR w="9525">
                      <a:solidFill>
                        <a:srgbClr val="A3B18A"/>
                      </a:solidFill>
                      <a:prstDash val="solid"/>
                    </a:lnR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DAD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26.10%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3B18A"/>
                      </a:solidFill>
                      <a:prstDash val="solid"/>
                    </a:lnR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DAD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28.88%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3B18A"/>
                      </a:solidFill>
                      <a:prstDash val="solid"/>
                    </a:lnR>
                    <a:lnB w="9525">
                      <a:solidFill>
                        <a:srgbClr val="A3B18A"/>
                      </a:solidFill>
                      <a:prstDash val="solid"/>
                    </a:lnB>
                    <a:solidFill>
                      <a:srgbClr val="DAD7CD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0B9864-91EF-4D37-B2C4-38E3CA3D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4820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57,089 test examples. Rare-target improvement was not demonstrated.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B43A5D-B905-44F7-B146-6EA7D2574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911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Training and verification complete. Telugu web demo uses LSTM.</a:t>
            </a:r>
          </a:p>
          <a:p xmlns:a="http://schemas.openxmlformats.org/drawingml/2006/main">
            <a:pPr>
              <a:defRPr sz="18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Research originality and the gate’s specific benefit need further study.</a:t>
            </a:r>
          </a:p>
        </p:txBody>
      </p:sp>
    </p:spTree>
    <p:extLst>
      <p:ext uri="{BB962C8B-B14F-4D97-AF65-F5344CB8AC3E}">
        <p14:creationId xmlns:p14="http://schemas.microsoft.com/office/powerpoint/2010/main" val="17597500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2026-10-14T08:53:43.3460000Z</dcterms:created>
  <dcterms:modified xsi:type="dcterms:W3CDTF">2026-10-14T08:53:43.3460000Z</dcterms:modified>
</coreProperties>
</file>