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62aff84e6a4a1f" /><Relationship Type="http://schemas.openxmlformats.org/officeDocument/2006/relationships/extended-properties" Target="/docProps/app.xml" Id="R7c8183c560d542ef" /><Relationship Type="http://schemas.openxmlformats.org/officeDocument/2006/relationships/officeDocument" Target="/ppt/presentation.xml" Id="R8cfafdf59f664c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1d747cb897483f"/>
  </p:sldMasterIdLst>
  <p:notesMasterIdLst>
    <p:notesMasterId xmlns:r="http://schemas.openxmlformats.org/officeDocument/2006/relationships" r:id="R0d66b683e1ef4a10"/>
  </p:notesMasterIdLst>
  <p:sldIdLst>
    <p:sldId xmlns:r="http://schemas.openxmlformats.org/officeDocument/2006/relationships" id="256" r:id="Rd849e74a828c468d"/>
    <p:sldId xmlns:r="http://schemas.openxmlformats.org/officeDocument/2006/relationships" id="257" r:id="Rc838eabe810a4469"/>
    <p:sldId xmlns:r="http://schemas.openxmlformats.org/officeDocument/2006/relationships" id="258" r:id="R79d48973bc8c46e4"/>
    <p:sldId xmlns:r="http://schemas.openxmlformats.org/officeDocument/2006/relationships" id="259" r:id="R652e74399c504605"/>
    <p:sldId xmlns:r="http://schemas.openxmlformats.org/officeDocument/2006/relationships" id="260" r:id="R23afd27c6bab4db2"/>
    <p:sldId xmlns:r="http://schemas.openxmlformats.org/officeDocument/2006/relationships" id="261" r:id="R19ce6c679c6148ec"/>
    <p:sldId xmlns:r="http://schemas.openxmlformats.org/officeDocument/2006/relationships" id="262" r:id="R9c2c6225ee364858"/>
    <p:sldId xmlns:r="http://schemas.openxmlformats.org/officeDocument/2006/relationships" id="263" r:id="R53d680053655430d"/>
    <p:sldId xmlns:r="http://schemas.openxmlformats.org/officeDocument/2006/relationships" id="264" r:id="R17245a1eea6c4e12"/>
    <p:sldId xmlns:r="http://schemas.openxmlformats.org/officeDocument/2006/relationships" id="265" r:id="R4e9a0bb8f0304ad4"/>
    <p:sldId xmlns:r="http://schemas.openxmlformats.org/officeDocument/2006/relationships" id="266" r:id="Rccd1acdd7beb4dab"/>
    <p:sldId xmlns:r="http://schemas.openxmlformats.org/officeDocument/2006/relationships" id="267" r:id="Rb9b519a1ad4b4b36"/>
    <p:sldId xmlns:r="http://schemas.openxmlformats.org/officeDocument/2006/relationships" id="268" r:id="R2626223dfcec4f29"/>
    <p:sldId xmlns:r="http://schemas.openxmlformats.org/officeDocument/2006/relationships" id="269" r:id="R8de82b1f57254190"/>
    <p:sldId xmlns:r="http://schemas.openxmlformats.org/officeDocument/2006/relationships" id="270" r:id="Rdf21b3ba24fc4849"/>
    <p:sldId xmlns:r="http://schemas.openxmlformats.org/officeDocument/2006/relationships" id="271" r:id="R674c09b937854dc6"/>
    <p:sldId xmlns:r="http://schemas.openxmlformats.org/officeDocument/2006/relationships" id="272" r:id="R2afd96313ca64ebc"/>
    <p:sldId xmlns:r="http://schemas.openxmlformats.org/officeDocument/2006/relationships" id="273" r:id="R78550a29610245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5905a47ba24c0e" /><Relationship Type="http://schemas.openxmlformats.org/officeDocument/2006/relationships/slideMaster" Target="/ppt/slideMasters/slideMaster1.xml" Id="Rb31d747cb897483f" /><Relationship Type="http://schemas.openxmlformats.org/officeDocument/2006/relationships/notesMaster" Target="/ppt/notesMasters/notesMaster1.xml" Id="R0d66b683e1ef4a10" /><Relationship Type="http://schemas.openxmlformats.org/officeDocument/2006/relationships/presProps" Target="/ppt/presProps.xml" Id="R2f337f2644e54472" /><Relationship Type="http://schemas.openxmlformats.org/officeDocument/2006/relationships/tableStyles" Target="/ppt/tableStyles.xml" Id="Rc2e0d66acb9741a5" /><Relationship Type="http://schemas.openxmlformats.org/officeDocument/2006/relationships/slide" Target="/ppt/slides/slide1.xml" Id="Rd849e74a828c468d" /><Relationship Type="http://schemas.openxmlformats.org/officeDocument/2006/relationships/slide" Target="/ppt/slides/slide2.xml" Id="Rc838eabe810a4469" /><Relationship Type="http://schemas.openxmlformats.org/officeDocument/2006/relationships/slide" Target="/ppt/slides/slide3.xml" Id="R79d48973bc8c46e4" /><Relationship Type="http://schemas.openxmlformats.org/officeDocument/2006/relationships/slide" Target="/ppt/slides/slide4.xml" Id="R652e74399c504605" /><Relationship Type="http://schemas.openxmlformats.org/officeDocument/2006/relationships/slide" Target="/ppt/slides/slide5.xml" Id="R23afd27c6bab4db2" /><Relationship Type="http://schemas.openxmlformats.org/officeDocument/2006/relationships/slide" Target="/ppt/slides/slide6.xml" Id="R19ce6c679c6148ec" /><Relationship Type="http://schemas.openxmlformats.org/officeDocument/2006/relationships/slide" Target="/ppt/slides/slide7.xml" Id="R9c2c6225ee364858" /><Relationship Type="http://schemas.openxmlformats.org/officeDocument/2006/relationships/slide" Target="/ppt/slides/slide8.xml" Id="R53d680053655430d" /><Relationship Type="http://schemas.openxmlformats.org/officeDocument/2006/relationships/slide" Target="/ppt/slides/slide9.xml" Id="R17245a1eea6c4e12" /><Relationship Type="http://schemas.openxmlformats.org/officeDocument/2006/relationships/slide" Target="/ppt/slides/slide10.xml" Id="R4e9a0bb8f0304ad4" /><Relationship Type="http://schemas.openxmlformats.org/officeDocument/2006/relationships/slide" Target="/ppt/slides/slide11.xml" Id="Rccd1acdd7beb4dab" /><Relationship Type="http://schemas.openxmlformats.org/officeDocument/2006/relationships/slide" Target="/ppt/slides/slide12.xml" Id="Rb9b519a1ad4b4b36" /><Relationship Type="http://schemas.openxmlformats.org/officeDocument/2006/relationships/slide" Target="/ppt/slides/slide13.xml" Id="R2626223dfcec4f29" /><Relationship Type="http://schemas.openxmlformats.org/officeDocument/2006/relationships/slide" Target="/ppt/slides/slide14.xml" Id="R8de82b1f57254190" /><Relationship Type="http://schemas.openxmlformats.org/officeDocument/2006/relationships/slide" Target="/ppt/slides/slide15.xml" Id="Rdf21b3ba24fc4849" /><Relationship Type="http://schemas.openxmlformats.org/officeDocument/2006/relationships/slide" Target="/ppt/slides/slide16.xml" Id="R674c09b937854dc6" /><Relationship Type="http://schemas.openxmlformats.org/officeDocument/2006/relationships/slide" Target="/ppt/slides/slide17.xml" Id="R2afd96313ca64ebc" /><Relationship Type="http://schemas.openxmlformats.org/officeDocument/2006/relationships/slide" Target="/ppt/slides/slide18.xml" Id="R78550a29610245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a71d164f624a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9615b174dc41fd" /><Relationship Type="http://schemas.openxmlformats.org/officeDocument/2006/relationships/notesMaster" Target="/ppt/notesMasters/notesMaster1.xml" Id="Rd10d82967c4447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4b254ce8114d04" /><Relationship Type="http://schemas.openxmlformats.org/officeDocument/2006/relationships/notesMaster" Target="/ppt/notesMasters/notesMaster1.xml" Id="R556e91ef7b3f43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546c3632a449d5" /><Relationship Type="http://schemas.openxmlformats.org/officeDocument/2006/relationships/notesMaster" Target="/ppt/notesMasters/notesMaster1.xml" Id="Rfb75876d14fb4e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d5631082c1486a" /><Relationship Type="http://schemas.openxmlformats.org/officeDocument/2006/relationships/notesMaster" Target="/ppt/notesMasters/notesMaster1.xml" Id="R2a2f757e412549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0eae919d024a70" /><Relationship Type="http://schemas.openxmlformats.org/officeDocument/2006/relationships/notesMaster" Target="/ppt/notesMasters/notesMaster1.xml" Id="R601d3d7d88df41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c4f8bfbd4c4fde" /><Relationship Type="http://schemas.openxmlformats.org/officeDocument/2006/relationships/notesMaster" Target="/ppt/notesMasters/notesMaster1.xml" Id="R0b87db27747342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889025df034d1b" /><Relationship Type="http://schemas.openxmlformats.org/officeDocument/2006/relationships/notesMaster" Target="/ppt/notesMasters/notesMaster1.xml" Id="R664671b78baa4d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3b92bee53a43b6" /><Relationship Type="http://schemas.openxmlformats.org/officeDocument/2006/relationships/notesMaster" Target="/ppt/notesMasters/notesMaster1.xml" Id="R53db347430514a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965948fdb641fe" /><Relationship Type="http://schemas.openxmlformats.org/officeDocument/2006/relationships/notesMaster" Target="/ppt/notesMasters/notesMaster1.xml" Id="R18990fb659df4a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b3edbcf8694a27" /><Relationship Type="http://schemas.openxmlformats.org/officeDocument/2006/relationships/notesMaster" Target="/ppt/notesMasters/notesMaster1.xml" Id="Rddfee30527a942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794d08c0794831" /><Relationship Type="http://schemas.openxmlformats.org/officeDocument/2006/relationships/notesMaster" Target="/ppt/notesMasters/notesMaster1.xml" Id="R8e1a0edcc7684f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db75b2064e4979" /><Relationship Type="http://schemas.openxmlformats.org/officeDocument/2006/relationships/notesMaster" Target="/ppt/notesMasters/notesMaster1.xml" Id="Rd68f134aff594b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6db9f3d31e476b" /><Relationship Type="http://schemas.openxmlformats.org/officeDocument/2006/relationships/notesMaster" Target="/ppt/notesMasters/notesMaster1.xml" Id="Rac0d5c7a38864d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641c8140ea41d7" /><Relationship Type="http://schemas.openxmlformats.org/officeDocument/2006/relationships/notesMaster" Target="/ppt/notesMasters/notesMaster1.xml" Id="R28264562cf8b47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62671229974161" /><Relationship Type="http://schemas.openxmlformats.org/officeDocument/2006/relationships/notesMaster" Target="/ppt/notesMasters/notesMaster1.xml" Id="R772c801e831343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c2aee184c14d01" /><Relationship Type="http://schemas.openxmlformats.org/officeDocument/2006/relationships/notesMaster" Target="/ppt/notesMasters/notesMaster1.xml" Id="R75ba5a84b60340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cd19c3d7c741a4" /><Relationship Type="http://schemas.openxmlformats.org/officeDocument/2006/relationships/notesMaster" Target="/ppt/notesMasters/notesMaster1.xml" Id="Re4a1ff6cdff64be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a05f1f5c0e4dd9" /><Relationship Type="http://schemas.openxmlformats.org/officeDocument/2006/relationships/notesMaster" Target="/ppt/notesMasters/notesMaster1.xml" Id="Rfadda967174943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overall project is multilingual. The active experiment is Telugu. Five-epoch training is not yet declared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Hindi samples and federated prototypes are outside the active Telugu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src/train_telugu_comparison.py; src/telugu_app.py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identity, counts and licenses are recorded locally. These datasets provide text for a word-level predictor; this is not Llama fine-tuning.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data_telugu_llm/provenance.json; https://huggingface.co/datasets/Telugu-LLM-Labs/telugu_alpaca_yahma_cleaned_filtered_romanized; https://huggingface.co/datasets/Telugu-LLM-Labs/telugu_teknium_GPTeacher_general_instruct_filtered_romanized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Deterministic approximately 90/5/5 grouping. Grouping produces unequal sentence counts. Exact overlap removal does not establish semantic independence.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src/prepare_telugu_llm_data.py; outputs/telugu_comparison/experiment.json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target is the following word; input prefixes exclude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src/text_utils.py; src/preprocess.py; src/sequence_data.py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Special tokens are excluded from displayed suggestions. Prefixes are converted to token IDs and padded.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src/telugu_neural_predictor.py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Bi-LSTM concatenates final forward and reverse hidden states. LSTM uses the final sequence output. Comparison is not parameter-matched.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src/model.py; outputs/telugu_comparison/experiment.json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x_t is the embedding vector; h is hidden state. W and U are learned matrices. b combines input and recurrent biases. Sigmoid σ outputs values in [0,1].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src/model.py; https://docs.pytorch.org/docs/2.14/generated/torch.nn.LSTM.html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forget and input gates update the memory. The output gate controls which transformed memory values enter the hidden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https://docs.pytorch.org/docs/2.14/generated/torch.nn.LSTM.html; src/model.py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concatenates hidden[-2] and hidden[-1], the two terminal hidden states. Bidirectionality here does not mean using unknown future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PyTorch cross-entropy consumes logits directly and performs the log-softmax internally. N denotes evaluated examples for averaged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Optimizer state and progress are restored. Batch order is seeded per epoch. Periodic checkpointing and an output-directory lock guard recovery and duplicate workers. Resumed-segment loss is not full-epoch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src/train_telugu_comparison.py; src/complete_telugu_training.py; outputs/telugu_comparison/experiment.json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Top-1, top-3 and top-5 are next-word hit rates. Unknown-token predictions are never credited. Fixed-vocabulary perplexity is not an open-vocabulary metric.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src/train_telugu_comparison.py; outputs/telugu_comparison/lstm_test_metrics.json; outputs/telugu_comparison/bilstm_test_metrics.json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200,092 test examples. Results have one seed and unequal parameter counts; no statistical significance claim. Do not replace these scores with validation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outputs/telugu_comparison/lstm_test_metrics.json; outputs/telugu_comparison/bilstm_test_metrics.json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set contains 198,928 examples. Only completed epoch metrics are shown. Training losses from resumed segments are intentionally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outputs/telugu_comparison/bilstm_history.json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is a static snapshot and cannot report future completion. The current training status was read at build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outputs/telugu_comparison/status.json; outputs/telugu_comparison/completion_job.json; src/complete_telugu_training.py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current Telugu neural app, not the older hybrid router. Best checkpoint is preferred, with latest checkpoint as a training preview fallback. Prior verification covered dependency/syntax checks, model unit tests and UI checks; it does not guarantee zero errors or final training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src/telugu_app.py; src/telugu_neural_predictor.py; src/check_telugu_comparison.py; src/check_telugu_ui.py; src/verify_telugu_training.py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work is proposed, not implemented or experimentally validated. Adding model names alone does not establish novelty. Complete training and held-out evaluation first. Federated code exists only as a separate prototype; no validated privacy or federated results are claimed. Sources for the deck appear in slide speaker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src/model.py; src/fl_client.py; src/fl_server.py; TELUGU_EXPERIMENT.md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5c78381c648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9c1bfd59b24f8f" /><Relationship Type="http://schemas.openxmlformats.org/officeDocument/2006/relationships/slideLayout" Target="/ppt/slideLayouts/slideLayout1.xml" Id="Ra21ed33e84c04e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1ed33e84c04e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c41640f924a8a" /><Relationship Type="http://schemas.openxmlformats.org/officeDocument/2006/relationships/notesSlide" Target="/ppt/notesSlides/notesSlide1.xml" Id="Rf54f11b1db6143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bcd967f7e41e8" /><Relationship Type="http://schemas.openxmlformats.org/officeDocument/2006/relationships/notesSlide" Target="/ppt/notesSlides/notesSlide2.xml" Id="R656ee7b57ab047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9b68dff724612" /><Relationship Type="http://schemas.openxmlformats.org/officeDocument/2006/relationships/notesSlide" Target="/ppt/notesSlides/notesSlide3.xml" Id="Rffe443e85d364e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87b79d7ac43a6" /><Relationship Type="http://schemas.openxmlformats.org/officeDocument/2006/relationships/notesSlide" Target="/ppt/notesSlides/notesSlide4.xml" Id="R34194529c8f148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9843ae0ec4770" /><Relationship Type="http://schemas.openxmlformats.org/officeDocument/2006/relationships/notesSlide" Target="/ppt/notesSlides/notesSlide5.xml" Id="R69b0666e64d44e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f3aa9ce604ca9" /><Relationship Type="http://schemas.openxmlformats.org/officeDocument/2006/relationships/notesSlide" Target="/ppt/notesSlides/notesSlide6.xml" Id="Rf90bca01de5f4f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c62be0f9f4bb2" /><Relationship Type="http://schemas.openxmlformats.org/officeDocument/2006/relationships/notesSlide" Target="/ppt/notesSlides/notesSlide7.xml" Id="R6a41128e84864d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41953f99e45e0" /><Relationship Type="http://schemas.openxmlformats.org/officeDocument/2006/relationships/notesSlide" Target="/ppt/notesSlides/notesSlide8.xml" Id="R05e447e4dd4b46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7dd77ee3a4496" /><Relationship Type="http://schemas.openxmlformats.org/officeDocument/2006/relationships/notesSlide" Target="/ppt/notesSlides/notesSlide9.xml" Id="Re0e7799ab47d4a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3790853ac448c" /><Relationship Type="http://schemas.openxmlformats.org/officeDocument/2006/relationships/notesSlide" Target="/ppt/notesSlides/notesSlide10.xml" Id="Rda5ac1dfd50042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979103a4f4bfa" /><Relationship Type="http://schemas.openxmlformats.org/officeDocument/2006/relationships/notesSlide" Target="/ppt/notesSlides/notesSlide11.xml" Id="Rd5dda533ca0742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c910727f3410f" /><Relationship Type="http://schemas.openxmlformats.org/officeDocument/2006/relationships/notesSlide" Target="/ppt/notesSlides/notesSlide12.xml" Id="R4865a9d7228542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38227428e4e4e" /><Relationship Type="http://schemas.openxmlformats.org/officeDocument/2006/relationships/notesSlide" Target="/ppt/notesSlides/notesSlide13.xml" Id="Re83f4748f2654d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d20eefc634448" /><Relationship Type="http://schemas.openxmlformats.org/officeDocument/2006/relationships/notesSlide" Target="/ppt/notesSlides/notesSlide14.xml" Id="R23abbef86d494b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77b14894f4d85" /><Relationship Type="http://schemas.openxmlformats.org/officeDocument/2006/relationships/notesSlide" Target="/ppt/notesSlides/notesSlide15.xml" Id="R2ae0ebb606974f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acd68cf644c1d" /><Relationship Type="http://schemas.openxmlformats.org/officeDocument/2006/relationships/notesSlide" Target="/ppt/notesSlides/notesSlide16.xml" Id="R9438e9940b784b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1f45c791d4a01" /><Relationship Type="http://schemas.openxmlformats.org/officeDocument/2006/relationships/notesSlide" Target="/ppt/notesSlides/notesSlide17.xml" Id="R221634b245f54a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3323e95ab4c5c" /><Relationship Type="http://schemas.openxmlformats.org/officeDocument/2006/relationships/notesSlide" Target="/ppt/notesSlides/notesSlide18.xml" Id="R363bc962599b4a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0F057-1868-407B-868D-3C69096D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6437B-77A5-4447-8EB4-38490074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52550"/>
            <a:ext cx="1076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57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MULTILINGUAL</a:t>
            </a:r>
          </a:p>
          <a:p xmlns:a="http://schemas.openxmlformats.org/drawingml/2006/main">
            <a:pPr>
              <a:defRPr sz="57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57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NEXT-WORD</a:t>
            </a:r>
          </a:p>
          <a:p xmlns:a="http://schemas.openxmlformats.org/drawingml/2006/main">
            <a:pPr>
              <a:defRPr sz="57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57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8E6F7-2F98-43CE-ABC9-0260A728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048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TELUGU PHASE  /  LSTM &amp; BI-LSTM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B75D2-CBD4-4CEF-9EBB-ED2A8785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529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Updated results, architecture and formulas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0D8FB-C889-4999-9142-4AFFBC94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7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30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C7F31-BDD8-4733-A3E0-0EF3F64D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81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7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UROP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16931114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47FCD-84B7-40BC-B347-255A441D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8A1C9-6FB6-4177-B30B-6E0607EF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WHAT CHANGED IN THE CURRENT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4B94F-20F9-465D-8AFA-54E9743B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2A3DE-D57E-485E-8774-A000CC26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32578-435A-49CB-8B09-0D7E4311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250" b="1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B0D80-EF49-4C8E-B4DE-3649666B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Larger Telugu corpora replace the original small sample experiment.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2C6F2-72A9-4FE4-B225-16776657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250" b="1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F6568-3F17-4238-BEF5-A9CB24D8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60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A common data pipeline supports both LSTM and Bi-LSTM comparisons.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17B84-6EDE-4BED-807F-438A7560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250" b="1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AD959-1961-4939-BB76-415CB951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95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Independent test metrics and resumable training are now recorded.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64E61-05D6-4BA0-A9C5-5882A9C1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250" b="1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73577-D889-4197-9691-2F3E84A8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529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The prediction page hides model selection and training/evaluation panels.</a:t>
            </a:r>
          </a:p>
        </p:txBody>
      </p:sp>
    </p:spTree>
    <p:extLst>
      <p:ext uri="{BB962C8B-B14F-4D97-AF65-F5344CB8AC3E}">
        <p14:creationId xmlns:p14="http://schemas.microsoft.com/office/powerpoint/2010/main" val="11070492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74806-D794-4F64-9DA2-3ABAE133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E7B11-E709-412A-B12D-569FE513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DATASET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325EC-4F48-4C73-AF11-30C28E4E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725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Native Telugu fields are used; the dataset names include “romanized”.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AE4C5-9EC4-4381-AEEB-674D2D1C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401F8-7342-47B9-A187-7C334B99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03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8763000"/>
                <a:gridCol w="2286000"/>
              </a:tblGrid>
              <a:tr h="857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Hugging Face dataset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Source records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Telugu-LLM-Labs/</a:t>
                      </a:r>
                    </a:p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telugu_alpaca_yahma_cleaned_filtered_romanized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28,910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Telugu-LLM-Labs/</a:t>
                      </a:r>
                    </a:p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telugu_teknium_GPTeacher_general_instruct_filtered_romanized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43,614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0297A-8F02-4026-9762-5C285F42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02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Fields: telugu_instruction, telugu_input, telugu_output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2E2E7-E7C7-43DE-B502-F3B2DDAE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725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Recorded licenses: CC BY 4.0 (Alpaca); MIT (GPTeacher).</a:t>
            </a:r>
          </a:p>
        </p:txBody>
      </p:sp>
    </p:spTree>
    <p:extLst>
      <p:ext uri="{BB962C8B-B14F-4D97-AF65-F5344CB8AC3E}">
        <p14:creationId xmlns:p14="http://schemas.microsoft.com/office/powerpoint/2010/main" val="760920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963B2-6081-4CA1-9439-97ACB975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FEA53-B40B-4028-A3C8-B112133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DATA SPLIT AND LEAKAGE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9B3A8-91B9-4F1E-A0FB-6A7AA636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901BF-3249-40CA-8943-C27C1252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2667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381500"/>
                <a:gridCol w="2857500"/>
                <a:gridCol w="38100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Partition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Sentences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Next-word examples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312,456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3,483,073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18,294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198,928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18,662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200,092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8F77F-32D9-4D54-A2F3-80449278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815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Instruction-grouped split • exact sentence overlaps removed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CA7FE-C9C1-4C90-ACAE-09D3BA54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8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Vocabulary is fitted only on training text. Semantic overlap may remain.</a:t>
            </a:r>
          </a:p>
        </p:txBody>
      </p:sp>
    </p:spTree>
    <p:extLst>
      <p:ext uri="{BB962C8B-B14F-4D97-AF65-F5344CB8AC3E}">
        <p14:creationId xmlns:p14="http://schemas.microsoft.com/office/powerpoint/2010/main" val="885150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08AFF-3ACC-4ECC-BC1C-3DE36518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FA0F2-489C-4C53-A945-4CD56282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FROM TELUGU TEXT TO TRAINING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2CF77-27A5-40CF-BCB3-79719BC0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5B2AB-E909-4E26-9105-8F92D358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BE660-B9DA-4822-A8C5-850C9DB5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250" b="1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9F42F-E424-4D8C-9D1D-5684C07C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Normalize Unicode and retain the relevant language 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12DAC-399C-4FE7-9A6B-03BDEBBC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250" b="1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6C5B9-A52C-434B-8183-374939E5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60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Split into words; build a 20,000-entry training vocabulary.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8F03A-C6C6-4D0F-9466-35B52269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250" b="1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B4489-20A5-4635-A91F-F532C4F9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95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Create prefix–target pairs using up to eight preceding words.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A051D-B068-4767-B6FB-A0808B35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250" b="1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A0B15-97E6-48DE-99FE-DBDF999C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529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Left-pad short prefixes; reserve &lt;pad&gt; = 0 and &lt;unk&gt; = 1.</a:t>
            </a:r>
          </a:p>
        </p:txBody>
      </p:sp>
    </p:spTree>
    <p:extLst>
      <p:ext uri="{BB962C8B-B14F-4D97-AF65-F5344CB8AC3E}">
        <p14:creationId xmlns:p14="http://schemas.microsoft.com/office/powerpoint/2010/main" val="4037647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FE8C5-76BF-4C3C-ABD8-E2661590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48900-4080-428D-AAB7-BC92BBDB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FORMAL NEXT-WORD PREDICTION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F36A5-C3DE-4ABA-AC68-9CC3B0E4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DAE8B-F4C0-40B4-AB91-3F17ADCA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F87DC-E7D9-4144-9E21-9391C6E3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70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x = (wₜ₋ₗ₊₁, …, wₜ),     1 ≤ l ≤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F5DA2-70CC-4EAB-AFED-73E28757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300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ŵₜ₊₁ = arg maxᵥ Pθ(v | x)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7997F-6C8A-49C8-B5F4-1BE0F3E2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25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Learn the probability of each vocabulary word</a:t>
            </a:r>
          </a:p>
          <a:p xmlns:a="http://schemas.openxmlformats.org/drawingml/2006/main">
            <a:pPr>
              <a:defRPr sz="225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25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from the observed prefix, then display the top five candidates.</a:t>
            </a:r>
          </a:p>
        </p:txBody>
      </p:sp>
    </p:spTree>
    <p:extLst>
      <p:ext uri="{BB962C8B-B14F-4D97-AF65-F5344CB8AC3E}">
        <p14:creationId xmlns:p14="http://schemas.microsoft.com/office/powerpoint/2010/main" val="20267281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53753-CB7C-47E7-9B7F-02108B20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7DC21-E993-4F29-A0B9-383141BD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ARCHITECTURE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47139-578C-48E7-9940-7598DD0F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C6F10-BA41-4FF2-9F93-11148FF8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76425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3619500"/>
                <a:gridCol w="3619500"/>
              </a:tblGrid>
              <a:tr h="63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LSTM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Bi-LSTM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Embedding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64 dimensions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64 dimensions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Recurrent layer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128 units; 1 layer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128 per direction; 1 layer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Output representation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128 dimensions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256 dimensions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Vocabulary output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20,000 logits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20,000 logits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Trainable parameters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3,959,328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6,618,656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8023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F95FA-2857-44CC-BAA2-7A94EE89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4C2B0-EDF2-476F-A445-C6FE1843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LSTM FORMULAS: GATES AND CANDIDATE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25C92-55D8-4147-BAEF-8D52C876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B586C-3495-48FB-8A91-B4F3F8E3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33D54-941B-49DF-94D5-3661A0B5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fₜ = σ(Wf xₜ + Uf hₜ₋₁ + bf)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3724F-BBDD-42B3-835C-B585B408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622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8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Forget gate: controls how much previous memory to retain.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EC1D3-AE2F-49F9-9DB2-52C0EB4C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iₜ = σ(Wi xₜ + Ui hₜ₋₁ + bi)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73053-C27A-4279-A2A6-1C2039BA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8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Input gate: controls how much new information to write.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971B2-E242-4096-AFF8-2DA856B4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gₜ = tanh(Wg xₜ + Ug hₜ₋₁ + bg)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08027-C339-47E0-B0F8-1534F567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8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Candidate memory generated from the current input and prior state.</a:t>
            </a:r>
          </a:p>
        </p:txBody>
      </p:sp>
    </p:spTree>
    <p:extLst>
      <p:ext uri="{BB962C8B-B14F-4D97-AF65-F5344CB8AC3E}">
        <p14:creationId xmlns:p14="http://schemas.microsoft.com/office/powerpoint/2010/main" val="447649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8C057-BA52-49B2-9F79-3E898474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D68D5-B8BF-44D2-A8D3-850E583B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LSTM FORMULAS: MEMORY AND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D6E9B-1A72-415D-80B1-C92E5D7A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7446B-B01E-4B69-8E56-18FAD535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C1E37-4528-41C0-AC35-6294115D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9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cₜ = fₜ ⊙ cₜ₋₁ + iₜ ⊙ gₜ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7384F-EEB3-423C-9418-25529DA7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oₜ = σ(Wo xₜ + Uo hₜ₋₁ + bo)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12FAC-C5F4-4ABF-9D1A-C82B85F5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9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hₜ = oₜ ⊙ tanh(cₜ)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D46BA-6BF4-48B7-9F51-4412E802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95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cₜ: cell memory     hₜ: hidden state     ⊙: element-wise product</a:t>
            </a:r>
          </a:p>
        </p:txBody>
      </p:sp>
    </p:spTree>
    <p:extLst>
      <p:ext uri="{BB962C8B-B14F-4D97-AF65-F5344CB8AC3E}">
        <p14:creationId xmlns:p14="http://schemas.microsoft.com/office/powerpoint/2010/main" val="754057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E1691-F3CE-47F7-9CB7-3B7F4817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457DC-6D91-42C5-AF40-0B1FCC7B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BI-LSTM: TWO VIEWS OF THE OBSERVED PREFIX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63414-0971-443F-A64B-6EA0707F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EC409-F14F-4B1C-B0C4-29E801DB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3DDB2-8959-487C-8CF0-DBD64B39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Forward:  x₁ → x₂ → … → xₗ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D5B77-DFFC-4E05-AD7A-B354D70F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Reverse:  xₗ → … → x₂ → x₁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F8DB9-4BCE-44B8-BBA1-FBA0FC26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h = concat(hforward, hreverse) ∈ ℝ²⁵⁶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F169B-47B9-4E56-808F-5CC0A91C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7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Both directions process only the supplied prefix.</a:t>
            </a:r>
          </a:p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7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Neither direction receives the next target word.</a:t>
            </a:r>
          </a:p>
        </p:txBody>
      </p:sp>
    </p:spTree>
    <p:extLst>
      <p:ext uri="{BB962C8B-B14F-4D97-AF65-F5344CB8AC3E}">
        <p14:creationId xmlns:p14="http://schemas.microsoft.com/office/powerpoint/2010/main" val="13244304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C0EFD-5C4E-4BBB-AE71-46A468F8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065AA-FD23-44DF-8CC8-F0073F60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OUTPUT PROBABILITIES AND TRAINING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E5960-6115-4BF0-818F-F9A21B13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7DFC6-843D-4E8D-81BB-FC9A7BBD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88EC1-FA2D-4614-BFC3-2E9F2EE4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7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z = Wout h + bout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134FE-44B8-454D-B484-2FF10FFF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8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pⱼ = exp(zⱼ) / Σₖ exp(zₖ)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4F900-BAF2-487D-AC52-D66DD5B7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70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LCE = −(1/N) Σₙ log p(yₙ | xₙ)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3C83C-F9B4-47CD-AAF1-8A7FEA95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02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Softmax produces a distribution; cross-entropy trains the model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02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to assign higher probability to the true next word.</a:t>
            </a:r>
          </a:p>
        </p:txBody>
      </p:sp>
    </p:spTree>
    <p:extLst>
      <p:ext uri="{BB962C8B-B14F-4D97-AF65-F5344CB8AC3E}">
        <p14:creationId xmlns:p14="http://schemas.microsoft.com/office/powerpoint/2010/main" val="20723029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7AD40-4673-45F2-862D-37A680FF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951B3-53A8-4E7A-ADBB-3251FA90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TRAINING CONFIGURATION AND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9788D-15C8-409C-8678-A77E708A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9CA90-7104-4C31-B3E7-6A7FBBE6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847850"/>
          <a:ext xmlns:a="http://schemas.openxmlformats.org/drawingml/2006/main" cx="11049000" cy="3552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667250"/>
                <a:gridCol w="6381750"/>
              </a:tblGrid>
              <a:tr h="5921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Setting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Current experiment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Optimizer / learning rate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Adam / 0.001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Batch / context / seed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512 / 8 words / 42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Device / threads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CPU / 4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Dropout / gradient clipping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0.0 / norm 1.0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Training budget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5 total epochs per model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2689E-663F-4F9B-81A3-BD214C10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87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Latest checkpoint resumes training; best checkpoint minimizes validation loss.</a:t>
            </a:r>
          </a:p>
        </p:txBody>
      </p:sp>
    </p:spTree>
    <p:extLst>
      <p:ext uri="{BB962C8B-B14F-4D97-AF65-F5344CB8AC3E}">
        <p14:creationId xmlns:p14="http://schemas.microsoft.com/office/powerpoint/2010/main" val="179774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BFF8F-21D2-45ED-9CAC-DC68386E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FE5B6-BCE5-4D6F-84E5-9F7C651B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EVALUATION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96381-7BD2-45F4-9B51-EE3CD9D9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BE785-5273-45F0-8BD3-D542B60B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8F2A4-75E7-4007-93CF-FD410AEF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Accuracy@k = (1/N) Σₙ 1{yₙ ∈ TopK(xₙ)}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D9DB1-9B7A-4198-A93D-1BBD2CBD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300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Perplexity = exp(LCE)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2B152-BC0A-469D-A7D3-683BFABB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Higher top-k accuracy is better; lower perplexity is better.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FE91E-ADB2-4178-B543-DCA9A451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149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875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Unknown test targets count as misses (7.21% of targets).</a:t>
            </a:r>
          </a:p>
          <a:p xmlns:a="http://schemas.openxmlformats.org/drawingml/2006/main">
            <a:pPr>
              <a:defRPr sz="1875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875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Perplexity uses the fixed vocabulary with unknown words collapsed.</a:t>
            </a:r>
          </a:p>
        </p:txBody>
      </p:sp>
    </p:spTree>
    <p:extLst>
      <p:ext uri="{BB962C8B-B14F-4D97-AF65-F5344CB8AC3E}">
        <p14:creationId xmlns:p14="http://schemas.microsoft.com/office/powerpoint/2010/main" val="16760883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92E3A-3E97-4825-927D-2687CEF7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29886-2A3C-4D46-B350-3071D48B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HELD-OUT TEST RESULTS: ONE-EPOCH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EF23A-AF7E-460C-9950-25D3F359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725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These are completed baseline evaluations, not final five-epoch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A19A9-6857-4C07-B817-F00C68DE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943E0-FA02-4753-B1C4-1DAB07E3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14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72000"/>
                <a:gridCol w="3238500"/>
                <a:gridCol w="323850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LSTM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Bi-LSTM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Top-1 accuracy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13.92%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15.25%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Top-3 accuracy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22.56%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24.63%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Top-5 accuracy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26.63%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29.03%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Cross-entropy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5.9623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5.7106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Perplexity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388.49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302.05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259C9-ED4A-4B96-A705-D601CE26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95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Bi-LSTM: +1.33 percentage points top-1; +2.41 points top-5.</a:t>
            </a:r>
          </a:p>
        </p:txBody>
      </p:sp>
    </p:spTree>
    <p:extLst>
      <p:ext uri="{BB962C8B-B14F-4D97-AF65-F5344CB8AC3E}">
        <p14:creationId xmlns:p14="http://schemas.microsoft.com/office/powerpoint/2010/main" val="2488153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D2A02-92D4-4B8F-867A-D4741212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BD951-ED54-43C3-B664-20FD251F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BI-LSTM VALIDATION IMPROVES ACROSS EPOCHS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21607-F08D-41D1-9848-C953F928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725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Validation metrics guide checkpoint selection; they are not test scores.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13CF3-162D-4DC3-BCE7-A49732A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09EC5-2357-42FD-8AB4-F0FDB8D9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15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2076450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2000250"/>
                <a:gridCol w="2000250"/>
                <a:gridCol w="2000250"/>
                <a:gridCol w="200025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Completed epoch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Top-1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Top-5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Loss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</a:rPr>
                        <a:t>Perplexity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15.06%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28.77%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5.7511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314.55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17.17%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32.19%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5.4076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223.10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17.95%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33.59%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5.2918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198.70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18.34%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34.25%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5.2457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Raleway"/>
                          <a:ea typeface="Raleway"/>
                          <a:cs typeface="Raleway"/>
                        </a:rPr>
                        <a:t>189.75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AC02E-518A-435E-A5E9-B223E26C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02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Epoch 4 improves top-5 by 5.48 percentage points over epoch 1.</a:t>
            </a:r>
          </a:p>
        </p:txBody>
      </p:sp>
    </p:spTree>
    <p:extLst>
      <p:ext uri="{BB962C8B-B14F-4D97-AF65-F5344CB8AC3E}">
        <p14:creationId xmlns:p14="http://schemas.microsoft.com/office/powerpoint/2010/main" val="17473914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212C2-F495-4E44-A89F-3B4E968E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F429A-26E0-48E9-998B-5A1F4C2A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LATEST TRAINING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50E62-F7BB-4748-96E2-EA618E55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725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Snapshot: 30/9/2026, 9:22:50 pm 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B25B0-47E1-44B7-AB60-6587A55A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859AC-D819-4E6B-A634-D2C5FFCC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7FFE1-F537-4744-B0EC-FCBD338A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3000" b="1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BILSTM • epoch 5 of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33351-F826-4230-B3F4-F3FB2A9E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25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Saved status: training</a:t>
            </a:r>
          </a:p>
          <a:p xmlns:a="http://schemas.openxmlformats.org/drawingml/2006/main">
            <a:pPr>
              <a:defRPr sz="225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25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Batch 1,000 / 6,803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705A0-C72D-4611-A624-48B2FABA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7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LSTM: one completed epoch; a partial second epoch is saved.</a:t>
            </a:r>
          </a:p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7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Completion workflow continues Bi-LSTM first, then LSTM.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AD32D-F093-4810-B407-CCC3C958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1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Final five-epoch test results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13233675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7BB1B-AA15-48B9-82C2-36497A95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0C1A1-C67C-4D50-9FEB-FC8338C0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PREDICTION APP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3B3E5-ABBF-41A7-A666-B7501D96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F3D51-744B-4A60-99C4-44B6B14C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55D64-ED5F-4A80-BF79-38D54ED4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250" b="1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B4F31-4438-4CF0-A2EA-B36D1D01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Streamlit page accepts Telugu input and ranks five next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45FCF-430C-496F-8E67-2B25D9AD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250" b="1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C9C7C-6D6A-4B81-B9B9-CDECB595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60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Model radio buttons and training/evaluation panels are hidden.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30B0D-4E8C-48C0-B09A-5CF60859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250" b="1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8B73C-80B4-4256-9286-234C3BAC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95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Current default is LSTM; predictions come from the neural model.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64ABA-5D57-43B9-AD31-581770AC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250" b="1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E6B62-6C97-48C3-A1B5-06863141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529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1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Checks cover model loading, finite outputs, input validation and UI health.</a:t>
            </a:r>
          </a:p>
        </p:txBody>
      </p:sp>
    </p:spTree>
    <p:extLst>
      <p:ext uri="{BB962C8B-B14F-4D97-AF65-F5344CB8AC3E}">
        <p14:creationId xmlns:p14="http://schemas.microsoft.com/office/powerpoint/2010/main" val="3319967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B2932-F85A-4179-81E8-0A03B592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FC0D5-D26F-4038-8699-7B36C61E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Prata"/>
                <a:ea typeface="Prata"/>
                <a:cs typeface="Prata"/>
              </a:defRPr>
            </a:pPr>
            <a:r>
              <a:rPr sz="3000" b="0">
                <a:solidFill>
                  <a:srgbClr val="344E41"/>
                </a:solidFill>
                <a:latin typeface="Prata"/>
                <a:ea typeface="Prata"/>
                <a:cs typeface="Prata"/>
              </a:rPr>
              <a:t>NOVELTY AND NEXT RESEARCH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7C3E6-9F60-4EBB-8C89-663F2A9E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Raleway"/>
                <a:ea typeface="Raleway"/>
                <a:cs typeface="Raleway"/>
              </a:defRPr>
            </a:pPr>
            <a:r>
              <a:rPr sz="1200" b="0">
                <a:solidFill>
                  <a:srgbClr val="456052"/>
                </a:solidFill>
                <a:latin typeface="Raleway"/>
                <a:ea typeface="Raleway"/>
                <a:cs typeface="Raleway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D1B71-9206-40E5-887D-68DE9A46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1500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A4297-0148-48AA-B3C8-14F67E1E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400" b="1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Current contribution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D566F-1341-46B7-9AB2-F3D5D380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02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A reproducible Telugu comparison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02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with grouped data splits, resumable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02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training and a usable prediction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02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LSTM and Bi-LSTM are established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02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architectures, not new algorithms.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F84C0-6EFD-4C70-898F-BCC60058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400" b="1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Proposed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CA239-76F5-414F-91C3-39EFF7CB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000"/>
            <a:ext cx="519112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02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Character-aware or subword modeling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02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for rare and inflected Telugu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02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Evaluate attention-based alternatives,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02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multiple seeds and more languages.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Raleway"/>
                <a:ea typeface="Raleway"/>
                <a:cs typeface="Raleway"/>
              </a:defRPr>
            </a:pPr>
            <a:r>
              <a:rPr sz="2025" b="0">
                <a:solidFill>
                  <a:srgbClr val="344E41"/>
                </a:solidFill>
                <a:latin typeface="Raleway"/>
                <a:ea typeface="Raleway"/>
                <a:cs typeface="Raleway"/>
              </a:rPr>
              <a:t>Validate gains through ablations.</a:t>
            </a:r>
          </a:p>
        </p:txBody>
      </p:sp>
    </p:spTree>
    <p:extLst>
      <p:ext uri="{BB962C8B-B14F-4D97-AF65-F5344CB8AC3E}">
        <p14:creationId xmlns:p14="http://schemas.microsoft.com/office/powerpoint/2010/main" val="1203994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2026-09-30T15:52:51.8500000Z</dcterms:created>
  <dcterms:modified xsi:type="dcterms:W3CDTF">2026-09-30T15:52:51.8500000Z</dcterms:modified>
</coreProperties>
</file>