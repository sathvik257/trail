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c9aa017794e08" /><Relationship Type="http://schemas.openxmlformats.org/officeDocument/2006/relationships/extended-properties" Target="/docProps/app.xml" Id="R29c3a2dc00b245c7" /><Relationship Type="http://schemas.openxmlformats.org/officeDocument/2006/relationships/officeDocument" Target="/ppt/presentation.xml" Id="Rb2337093c9ad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a297e5b5a0413a"/>
  </p:sldMasterIdLst>
  <p:notesMasterIdLst>
    <p:notesMasterId xmlns:r="http://schemas.openxmlformats.org/officeDocument/2006/relationships" r:id="Ra432ba2d16bc4577"/>
  </p:notesMasterIdLst>
  <p:sldIdLst>
    <p:sldId xmlns:r="http://schemas.openxmlformats.org/officeDocument/2006/relationships" id="256" r:id="Rb57ef541f5a846c5"/>
    <p:sldId xmlns:r="http://schemas.openxmlformats.org/officeDocument/2006/relationships" id="257" r:id="R0b74aa15f667417a"/>
    <p:sldId xmlns:r="http://schemas.openxmlformats.org/officeDocument/2006/relationships" id="258" r:id="R76a3c11a7d214f23"/>
    <p:sldId xmlns:r="http://schemas.openxmlformats.org/officeDocument/2006/relationships" id="259" r:id="Rf230fd51e96a482f"/>
    <p:sldId xmlns:r="http://schemas.openxmlformats.org/officeDocument/2006/relationships" id="260" r:id="Ra0a7d74f4a954b45"/>
    <p:sldId xmlns:r="http://schemas.openxmlformats.org/officeDocument/2006/relationships" id="261" r:id="Rd099f35f6d5e42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4ccb470a1946cc" /><Relationship Type="http://schemas.openxmlformats.org/officeDocument/2006/relationships/slideMaster" Target="/ppt/slideMasters/slideMaster1.xml" Id="Rafa297e5b5a0413a" /><Relationship Type="http://schemas.openxmlformats.org/officeDocument/2006/relationships/notesMaster" Target="/ppt/notesMasters/notesMaster1.xml" Id="Ra432ba2d16bc4577" /><Relationship Type="http://schemas.openxmlformats.org/officeDocument/2006/relationships/presProps" Target="/ppt/presProps.xml" Id="R0b86ff2ffc25477f" /><Relationship Type="http://schemas.openxmlformats.org/officeDocument/2006/relationships/tableStyles" Target="/ppt/tableStyles.xml" Id="R7012e3d3ba904b12" /><Relationship Type="http://schemas.openxmlformats.org/officeDocument/2006/relationships/slide" Target="/ppt/slides/slide1.xml" Id="Rb57ef541f5a846c5" /><Relationship Type="http://schemas.openxmlformats.org/officeDocument/2006/relationships/slide" Target="/ppt/slides/slide2.xml" Id="R0b74aa15f667417a" /><Relationship Type="http://schemas.openxmlformats.org/officeDocument/2006/relationships/slide" Target="/ppt/slides/slide3.xml" Id="R76a3c11a7d214f23" /><Relationship Type="http://schemas.openxmlformats.org/officeDocument/2006/relationships/slide" Target="/ppt/slides/slide4.xml" Id="Rf230fd51e96a482f" /><Relationship Type="http://schemas.openxmlformats.org/officeDocument/2006/relationships/slide" Target="/ppt/slides/slide5.xml" Id="Ra0a7d74f4a954b45" /><Relationship Type="http://schemas.openxmlformats.org/officeDocument/2006/relationships/slide" Target="/ppt/slides/slide6.xml" Id="Rd099f35f6d5e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bb04f3872349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e8f32a5584010" /><Relationship Type="http://schemas.openxmlformats.org/officeDocument/2006/relationships/notesMaster" Target="/ppt/notesMasters/notesMaster1.xml" Id="R5d73dc70d57d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002d1792c041eb" /><Relationship Type="http://schemas.openxmlformats.org/officeDocument/2006/relationships/notesMaster" Target="/ppt/notesMasters/notesMaster1.xml" Id="Rcb2bd1237b83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4af328c48647f4" /><Relationship Type="http://schemas.openxmlformats.org/officeDocument/2006/relationships/notesMaster" Target="/ppt/notesMasters/notesMaster1.xml" Id="Rb06447abdbf14c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de72265c394c3b" /><Relationship Type="http://schemas.openxmlformats.org/officeDocument/2006/relationships/notesMaster" Target="/ppt/notesMasters/notesMaster1.xml" Id="R307ef3fc8e1544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627ab6b01a4223" /><Relationship Type="http://schemas.openxmlformats.org/officeDocument/2006/relationships/notesMaster" Target="/ppt/notesMasters/notesMaster1.xml" Id="Rb90a46d2e71640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37284e6764a71" /><Relationship Type="http://schemas.openxmlformats.org/officeDocument/2006/relationships/notesMaster" Target="/ppt/notesMasters/notesMaster1.xml" Id="Ra00e5237222a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project predicts the next word from a short text prefix. The overall scope is multilingual, with Telugu as the current implementation. All four models have completed five epochs, held-out evaluation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pipeline uses grouped partitions, exact-overlap removal and a training-only vocabulary of 20,000 tokens. Four models are separate experiments. The validation-selected checkpoint supplies held-out evaluation. The deployed interface loads lstm_best.pt, excludes special-token suggestions and handles empty, non-Telugu and entirely unknown input. The CNN variants remain evaluation artifacts and are not wired into the current web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src/train_telugu_comparison.py; src/telugu_app.py;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gate retains useful memory, the input gate adds candidate information and the output gate exposes the hidden state. The Bi-LSTM combines terminal forward and reverse states of the input prefix. Neither direction sees the target word. W and U are learned weights and b is a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character branch uses Unicode code points, retaining up to the last 32 characters, then convolution and masked max pooling. The gate weights word and character features. Causal convolution produces v and u without looking beyond each prefix position. Unknown input words retain spelling information, but the fixed output vocabulary cannot generate unseen target words. This is an implemented project extension, not a claim of a first-of-its-kind algorithm. Rare-word evaluation is complete. Gate ablation and multiple-seed experiments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src/wordchar_model.py; src/model.py; src/check_wordchar.py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Softmax converts output logits to probabilities. Cross-entropy is the training objective. Top-k accuracy checks whether the target occurs among the k highest-ranked predictions. N is the number of examples. Perplexity uses the fixed vocabulary with unknown targets collapsed into the unknown token. The app shows five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reproduces overall saved accuracies exactly. Unknown input spelling can inform character features, but the output vocabulary remains fixed. Rare known targets have only 125 examples: top-1 changes from 3 hits to 2, and top-5 stays at 4. This does not support a rare-target improvement claim. A trained ungated-fusion ablation, multiple seeds and literature comparison remain necessary. More languages are future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outputs/telugu_frequency_evaluation.json; TELUGU_FREQUENCY_RESULTS.md; FINAL_MODEL_RESULTS.md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5fd6bd72e4b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de3e9fd7e49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c15dc4fb943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fc118db084f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e2417ca5745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cdfcd662841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B09FDB-D23F-4CD0-9B61-4C6C30BBF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1E4EA7-8A26-4744-A470-22155C3D7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DEFA64-0D26-47BA-9E8A-FBCCC0297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5C1829-58AB-4C78-8B9B-414BA7561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05E96A-1A84-4C8E-A913-B388AD02EE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209995-21BC-4BC0-B311-FC83A441D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6B81DC-83DA-4BA4-8C27-BFA0C2713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AD6847-DA24-497B-9408-664F0BDA8F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2AE96C-9DD3-4FE9-9029-6865EA40F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4D9A90-FCA8-4C8F-B173-0718534F8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61aed290bd48b4" /><Relationship Type="http://schemas.openxmlformats.org/officeDocument/2006/relationships/slideLayout" Target="/ppt/slideLayouts/slideLayout1.xml" Id="R7ba71da633914bf3" /><Relationship Type="http://schemas.openxmlformats.org/officeDocument/2006/relationships/slideLayout" Target="/ppt/slideLayouts/slideLayout2.xml" Id="Ree212f2038ca4101" /><Relationship Type="http://schemas.openxmlformats.org/officeDocument/2006/relationships/slideLayout" Target="/ppt/slideLayouts/slideLayout3.xml" Id="Ra8b88741a9f64a2a" /><Relationship Type="http://schemas.openxmlformats.org/officeDocument/2006/relationships/slideLayout" Target="/ppt/slideLayouts/slideLayout4.xml" Id="R76fb208f818145ec" /><Relationship Type="http://schemas.openxmlformats.org/officeDocument/2006/relationships/slideLayout" Target="/ppt/slideLayouts/slideLayout5.xml" Id="R0d4b9c3cc88d4c70" /><Relationship Type="http://schemas.openxmlformats.org/officeDocument/2006/relationships/slideLayout" Target="/ppt/slideLayouts/slideLayout6.xml" Id="Ra352b70e5b88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71da633914bf3"/>
    <p:sldLayoutId xmlns:r="http://schemas.openxmlformats.org/officeDocument/2006/relationships" id="2147483650" r:id="Ree212f2038ca4101"/>
    <p:sldLayoutId xmlns:r="http://schemas.openxmlformats.org/officeDocument/2006/relationships" id="2147483651" r:id="Ra8b88741a9f64a2a"/>
    <p:sldLayoutId xmlns:r="http://schemas.openxmlformats.org/officeDocument/2006/relationships" id="2147483652" r:id="R76fb208f818145ec"/>
    <p:sldLayoutId xmlns:r="http://schemas.openxmlformats.org/officeDocument/2006/relationships" id="2147483653" r:id="R0d4b9c3cc88d4c70"/>
    <p:sldLayoutId xmlns:r="http://schemas.openxmlformats.org/officeDocument/2006/relationships" id="2147483654" r:id="Ra352b70e5b88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50a8fa45a406a" /><Relationship Type="http://schemas.openxmlformats.org/officeDocument/2006/relationships/notesSlide" Target="/ppt/notesSlides/notesSlide1.xml" Id="Reb38bcb05ef8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7d82688ba4d07" /><Relationship Type="http://schemas.openxmlformats.org/officeDocument/2006/relationships/notesSlide" Target="/ppt/notesSlides/notesSlide2.xml" Id="R7446a22cf3a344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e777883ab4806" /><Relationship Type="http://schemas.openxmlformats.org/officeDocument/2006/relationships/notesSlide" Target="/ppt/notesSlides/notesSlide3.xml" Id="R5ea20502484b4f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d6240471d41ee" /><Relationship Type="http://schemas.openxmlformats.org/officeDocument/2006/relationships/notesSlide" Target="/ppt/notesSlides/notesSlide4.xml" Id="R1647c653b17e4a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f711eb9c14d7a" /><Relationship Type="http://schemas.openxmlformats.org/officeDocument/2006/relationships/notesSlide" Target="/ppt/notesSlides/notesSlide5.xml" Id="Ra9be64d06488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f0f6b273a4275" /><Relationship Type="http://schemas.openxmlformats.org/officeDocument/2006/relationships/notesSlide" Target="/ppt/notesSlides/notesSlide6.xml" Id="Rbcedc6ee1f814d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428C2-164E-4600-BB42-3067E0A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2C499-9961-476B-89F7-AB74FCD5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58E7D-C106-4BA3-A76E-EA754D5B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FAA38-2418-49C5-9826-8052E31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LSTM, Bi-LSTM and convolutional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A721-9B77-437D-97DA-13544CD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1B8CA-3455-4F09-888B-60FB80A4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417274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5CDCF-278E-441A-A307-8286B792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381D-1E8B-4D38-80C2-9657097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PROJECT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8B201-636E-4E12-B3E6-EDE7855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Telugu data preparation, model comparison and live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A09A7-C3AF-41A0-895A-B014DB75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8FBFF-9664-466C-BA53-86DED2D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61EC1-85E1-4800-8F67-C16989C1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TRAINING AND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BC22-1C5C-42B4-B00F-5C0C3B95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878D1-9962-4D10-91BC-13550D7F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Alpaca + GPTeacher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8FCC5-D78E-4B1F-BF23-2524712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DC6A2-FE9B-4F40-92C5-23D288A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9AD3D-466E-45F5-BD53-796D3DF7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Normalize and split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8-word contexts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D2724-938C-4FDC-820E-7C86987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83AB8-4C91-4006-BE9E-B22F1D6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7F1A7-7DFD-4BC7-930C-0548E8E7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 four models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 epochs 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94EC9-A31D-415E-A038-520587B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E99E-8313-433D-A16B-90984A7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F3533-0702-4FD8-BA42-4FAF1B0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Validation selection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F0E8F-5F2D-4732-A0B7-73E8FF35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LSTM, Bi-LSTM, word CNN and gated word–character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A14EE-3448-45B2-AAE2-25AC075C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LIVE WEB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11832-6163-472A-A20C-5FDCB136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9E018-5AF2-402B-88AF-25CEFEC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User types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phrase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75F95-26D1-4826-862C-A7D9269A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50BA1-AC9E-4526-AE2B-4E464D5E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59243-8A9A-4C08-A376-3F8382F8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Encode input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Last 8 words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C3112-824D-4A8C-A3CF-DB0D842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FF5E9-2260-4B62-A80F-3721175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99387-6C0C-4D21-8A64-D984F71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Saved LSTM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Word probabilities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D51F5-5322-4974-B42B-0D00F7EC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0E082-D6B1-490C-B65F-E4D141C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77509C-9861-4684-8752-4A7674AF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Streamlit displays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Top 5 suggestions</a:t>
            </a:r>
          </a:p>
        </p:txBody>
      </p:sp>
    </p:spTree>
    <p:extLst>
      <p:ext uri="{BB962C8B-B14F-4D97-AF65-F5344CB8AC3E}">
        <p14:creationId xmlns:p14="http://schemas.microsoft.com/office/powerpoint/2010/main" val="705593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E3602-C6F3-49EC-8331-2B1F789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77979-693B-4308-9A71-63B6AEB0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AND BI-LSTM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AAD40-7CF9-43EC-B603-0C67E1E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7CE9B-FB58-44E8-B0F1-4D54C48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184E4-A697-448B-848E-4CD80057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qₜ = σ(Wq xₜ + Uq hₜ₋₁ + bq),  q ∈ {f, i, o}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BB50A-3CEC-4C35-8B05-14DD62E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Forget, input, output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FAFD0-39C0-4BEF-A443-A6E6CC3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047B7-0177-4BAE-AF26-A9AFC99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BF903-C227-4DBA-B0DD-9B132FD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A7E4A-F52E-4916-80D6-846CCC6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802B3-4DEF-4651-AC52-AC607A1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07211-ADE8-425C-B281-10C0227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5CE89-38F2-4149-9712-53873F6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hBi = concat(hforward, hreverse)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61C3F-FAD6-4230-B6C4-62D3A72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Bi-LSTM terminal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21B75-61A6-447C-B455-B235DD14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read only the observed prefix. σ is sigmoid and ⊙ is element-wise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1987307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C5234-C938-4C0A-A194-6A8CC9E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DE9B-D81F-4E9F-9E2A-57AF8F6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GATED WORD–CHARACTER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61C69-B409-4879-976F-F6BEAC6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Proposed contribution: combine word identity with Telugu spelling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EB087-DA37-4A46-AEA4-7EB470D1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76863-3229-41BC-825D-530D970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B3200-A8EF-456C-A340-800455C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 = MaxPool(ReLU(Conv(CharEmbed(word))))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0F98F-5B16-4E6C-933C-942D839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 = σ(Wg [e ; c]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E088-ED53-42E4-803A-E6D9B39A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fused = g ⊙ e + (1 − g) ⊙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AE8FD-EFD2-40D8-AD51-CBF355B9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Causal block: h′ = (h + v ⊙ σ(u)) / √2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0F50C-12CE-4D35-8BE0-8CF9FD0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e: word embedding   c: character features   g: learned fusion gate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complete. Research originality requires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970107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B945A-327D-46B3-B746-050C234E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CA794-DA66-45AC-A538-501E5C3C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D94B5-3B90-44C0-8BBD-86E171B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090F-8904-4A07-9816-A4AE391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6943E-4293-45C2-B61A-60ECCC4C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exp(zₖ),   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F11D7-9B88-4A5D-9DF2-8AB44F3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DEBBA-49BD-46D9-987B-277E551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BB2D0-BC8F-4B2A-966B-C3A5A6EE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88F9E-2BB2-4B39-AA5A-A1E5B07A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Higher accuracy and lower perplexity are better.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unknown words and count as accuracy misses.</a:t>
            </a:r>
          </a:p>
        </p:txBody>
      </p:sp>
    </p:spTree>
    <p:extLst>
      <p:ext uri="{BB962C8B-B14F-4D97-AF65-F5344CB8AC3E}">
        <p14:creationId xmlns:p14="http://schemas.microsoft.com/office/powerpoint/2010/main" val="1426571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C7693-F2EF-4C77-9E1B-2936791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B5709-19B4-4A58-B584-CA22076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CONTRIBUTION AND FINAL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599EA-3AAE-44F9-B7CF-ABEECAD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Adaptive word–character fusion improves over the word-only CNN.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F6D13-4C28-4777-81EE-A98E074B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F3779-01D8-4FA9-B222-04170C8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3F870-41E9-45F8-BE2C-3768FF6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INPUTS CONTAINING UNKNOWN WORDS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8A13B-49E7-467D-BD0D-6ED3F5BA15C3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14.64%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71759-2FA4-4B46-99EE-3C5D56A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57,089 test examples. Rare-target improvement was not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C2959-B43A-452C-A9CE-672A35A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and verification complete. Telugu web demo uses LSTM.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Research originality and the gate’s specific benefit need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1668898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2026-10-14T08:54:18.9470000Z</dcterms:created>
  <dcterms:modified xsi:type="dcterms:W3CDTF">2026-10-14T08:54:18.9470000Z</dcterms:modified>
</coreProperties>
</file>