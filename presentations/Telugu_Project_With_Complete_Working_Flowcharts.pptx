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34ff907e9a4c29" /><Relationship Type="http://schemas.openxmlformats.org/officeDocument/2006/relationships/extended-properties" Target="/docProps/app.xml" Id="R1f332f83f53944c1" /><Relationship Type="http://schemas.openxmlformats.org/officeDocument/2006/relationships/officeDocument" Target="/ppt/presentation.xml" Id="Raa9c9b3dc07249ad" /></Relationships>
</file>

<file path=ppt/presentation.xml><?xml version="1.0" encoding="utf-8"?>
<p:presentation xmlns:p="http://schemas.openxmlformats.org/presentationml/2006/main">
  <p:sldMasterIdLst>
    <p:sldMasterId xmlns:r="http://schemas.openxmlformats.org/officeDocument/2006/relationships" id="2147483648" r:id="R1604e25d7cd5433f"/>
  </p:sldMasterIdLst>
  <p:notesMasterIdLst>
    <p:notesMasterId xmlns:r="http://schemas.openxmlformats.org/officeDocument/2006/relationships" r:id="R4a7695538ffd4517"/>
  </p:notesMasterIdLst>
  <p:sldIdLst>
    <p:sldId xmlns:r="http://schemas.openxmlformats.org/officeDocument/2006/relationships" id="256" r:id="R79015af9939b4884"/>
    <p:sldId xmlns:r="http://schemas.openxmlformats.org/officeDocument/2006/relationships" id="257" r:id="R2b536bdb793a4f49"/>
    <p:sldId xmlns:r="http://schemas.openxmlformats.org/officeDocument/2006/relationships" id="258" r:id="Re63d82dfdb5c4d24"/>
    <p:sldId xmlns:r="http://schemas.openxmlformats.org/officeDocument/2006/relationships" id="259" r:id="Rede85dbc0c8a40d2"/>
    <p:sldId xmlns:r="http://schemas.openxmlformats.org/officeDocument/2006/relationships" id="260" r:id="R92b27c74b9ce4019"/>
    <p:sldId xmlns:r="http://schemas.openxmlformats.org/officeDocument/2006/relationships" id="261" r:id="R955e9dd343d24177"/>
    <p:sldId xmlns:r="http://schemas.openxmlformats.org/officeDocument/2006/relationships" id="262" r:id="R7f7e44caafe140fe"/>
    <p:sldId xmlns:r="http://schemas.openxmlformats.org/officeDocument/2006/relationships" id="263" r:id="R9d87b38764d748e2"/>
    <p:sldId xmlns:r="http://schemas.openxmlformats.org/officeDocument/2006/relationships" id="264" r:id="R5f242245b96e4f4f"/>
    <p:sldId xmlns:r="http://schemas.openxmlformats.org/officeDocument/2006/relationships" id="265" r:id="Rdf9175fdf01f445f"/>
    <p:sldId xmlns:r="http://schemas.openxmlformats.org/officeDocument/2006/relationships" id="266" r:id="Rca6d07a113e54dd8"/>
    <p:sldId xmlns:r="http://schemas.openxmlformats.org/officeDocument/2006/relationships" id="267" r:id="R1ff12af247b54926"/>
    <p:sldId xmlns:r="http://schemas.openxmlformats.org/officeDocument/2006/relationships" id="268" r:id="R6da3dce6256a4a08"/>
    <p:sldId xmlns:r="http://schemas.openxmlformats.org/officeDocument/2006/relationships" id="269" r:id="Ra60e168674504eb4"/>
    <p:sldId xmlns:r="http://schemas.openxmlformats.org/officeDocument/2006/relationships" id="270" r:id="R7985f64eeb8c4382"/>
    <p:sldId xmlns:r="http://schemas.openxmlformats.org/officeDocument/2006/relationships" id="271" r:id="Ra9ca6ec289f34cfd"/>
    <p:sldId xmlns:r="http://schemas.openxmlformats.org/officeDocument/2006/relationships" id="272" r:id="R8f5d72aff94e4d25"/>
    <p:sldId xmlns:r="http://schemas.openxmlformats.org/officeDocument/2006/relationships" id="273" r:id="R0288b327ad494e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2f667d5ee14d61" /><Relationship Type="http://schemas.openxmlformats.org/officeDocument/2006/relationships/slideMaster" Target="/ppt/slideMasters/slideMaster1.xml" Id="R1604e25d7cd5433f" /><Relationship Type="http://schemas.openxmlformats.org/officeDocument/2006/relationships/notesMaster" Target="/ppt/notesMasters/notesMaster1.xml" Id="R4a7695538ffd4517" /><Relationship Type="http://schemas.openxmlformats.org/officeDocument/2006/relationships/presProps" Target="/ppt/presProps.xml" Id="R969ad573a73c4cc8" /><Relationship Type="http://schemas.openxmlformats.org/officeDocument/2006/relationships/tableStyles" Target="/ppt/tableStyles.xml" Id="R6efbb80b22514378" /><Relationship Type="http://schemas.openxmlformats.org/officeDocument/2006/relationships/slide" Target="/ppt/slides/slide1.xml" Id="R79015af9939b4884" /><Relationship Type="http://schemas.openxmlformats.org/officeDocument/2006/relationships/slide" Target="/ppt/slides/slide2.xml" Id="R2b536bdb793a4f49" /><Relationship Type="http://schemas.openxmlformats.org/officeDocument/2006/relationships/slide" Target="/ppt/slides/slide3.xml" Id="Re63d82dfdb5c4d24" /><Relationship Type="http://schemas.openxmlformats.org/officeDocument/2006/relationships/slide" Target="/ppt/slides/slide4.xml" Id="Rede85dbc0c8a40d2" /><Relationship Type="http://schemas.openxmlformats.org/officeDocument/2006/relationships/slide" Target="/ppt/slides/slide5.xml" Id="R92b27c74b9ce4019" /><Relationship Type="http://schemas.openxmlformats.org/officeDocument/2006/relationships/slide" Target="/ppt/slides/slide6.xml" Id="R955e9dd343d24177" /><Relationship Type="http://schemas.openxmlformats.org/officeDocument/2006/relationships/slide" Target="/ppt/slides/slide7.xml" Id="R7f7e44caafe140fe" /><Relationship Type="http://schemas.openxmlformats.org/officeDocument/2006/relationships/slide" Target="/ppt/slides/slide8.xml" Id="R9d87b38764d748e2" /><Relationship Type="http://schemas.openxmlformats.org/officeDocument/2006/relationships/slide" Target="/ppt/slides/slide9.xml" Id="R5f242245b96e4f4f" /><Relationship Type="http://schemas.openxmlformats.org/officeDocument/2006/relationships/slide" Target="/ppt/slides/slide10.xml" Id="Rdf9175fdf01f445f" /><Relationship Type="http://schemas.openxmlformats.org/officeDocument/2006/relationships/slide" Target="/ppt/slides/slide11.xml" Id="Rca6d07a113e54dd8" /><Relationship Type="http://schemas.openxmlformats.org/officeDocument/2006/relationships/slide" Target="/ppt/slides/slide12.xml" Id="R1ff12af247b54926" /><Relationship Type="http://schemas.openxmlformats.org/officeDocument/2006/relationships/slide" Target="/ppt/slides/slide13.xml" Id="R6da3dce6256a4a08" /><Relationship Type="http://schemas.openxmlformats.org/officeDocument/2006/relationships/slide" Target="/ppt/slides/slide14.xml" Id="Ra60e168674504eb4" /><Relationship Type="http://schemas.openxmlformats.org/officeDocument/2006/relationships/slide" Target="/ppt/slides/slide15.xml" Id="R7985f64eeb8c4382" /><Relationship Type="http://schemas.openxmlformats.org/officeDocument/2006/relationships/slide" Target="/ppt/slides/slide16.xml" Id="Ra9ca6ec289f34cfd" /><Relationship Type="http://schemas.openxmlformats.org/officeDocument/2006/relationships/slide" Target="/ppt/slides/slide17.xml" Id="R8f5d72aff94e4d25" /><Relationship Type="http://schemas.openxmlformats.org/officeDocument/2006/relationships/slide" Target="/ppt/slides/slide18.xml" Id="R0288b327ad494e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91de4b8d084b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7cb2d9db5441f1" /><Relationship Type="http://schemas.openxmlformats.org/officeDocument/2006/relationships/notesMaster" Target="/ppt/notesMasters/notesMaster1.xml" Id="Rb2f14d4a07a24f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0b47a754e8485f" /><Relationship Type="http://schemas.openxmlformats.org/officeDocument/2006/relationships/notesMaster" Target="/ppt/notesMasters/notesMaster1.xml" Id="R5d5472981ba64e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98e7f2b5f94887" /><Relationship Type="http://schemas.openxmlformats.org/officeDocument/2006/relationships/notesMaster" Target="/ppt/notesMasters/notesMaster1.xml" Id="Radc450c613b64e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f66bbb27ba4021" /><Relationship Type="http://schemas.openxmlformats.org/officeDocument/2006/relationships/notesMaster" Target="/ppt/notesMasters/notesMaster1.xml" Id="Re1a860a39d7c4f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a2f4748ba64fb6" /><Relationship Type="http://schemas.openxmlformats.org/officeDocument/2006/relationships/notesMaster" Target="/ppt/notesMasters/notesMaster1.xml" Id="Rbb55cc7eca1240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bdb43921c14b13" /><Relationship Type="http://schemas.openxmlformats.org/officeDocument/2006/relationships/notesMaster" Target="/ppt/notesMasters/notesMaster1.xml" Id="R65283ba793d343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3be172f8da4029" /><Relationship Type="http://schemas.openxmlformats.org/officeDocument/2006/relationships/notesMaster" Target="/ppt/notesMasters/notesMaster1.xml" Id="R973e284b507e47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88e4c10f6d423e" /><Relationship Type="http://schemas.openxmlformats.org/officeDocument/2006/relationships/notesMaster" Target="/ppt/notesMasters/notesMaster1.xml" Id="R8c10e4cbeed140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be12e3ced9412e" /><Relationship Type="http://schemas.openxmlformats.org/officeDocument/2006/relationships/notesMaster" Target="/ppt/notesMasters/notesMaster1.xml" Id="Rcb6ac39564f543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d4928955044c86" /><Relationship Type="http://schemas.openxmlformats.org/officeDocument/2006/relationships/notesMaster" Target="/ppt/notesMasters/notesMaster1.xml" Id="R19b0c5d3932b46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18b6a980a84085" /><Relationship Type="http://schemas.openxmlformats.org/officeDocument/2006/relationships/notesMaster" Target="/ppt/notesMasters/notesMaster1.xml" Id="Ra62a9788540a47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6c24882533496e" /><Relationship Type="http://schemas.openxmlformats.org/officeDocument/2006/relationships/notesMaster" Target="/ppt/notesMasters/notesMaster1.xml" Id="Redeae3b0233f4a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b6d84618d9447e" /><Relationship Type="http://schemas.openxmlformats.org/officeDocument/2006/relationships/notesMaster" Target="/ppt/notesMasters/notesMaster1.xml" Id="R8219fcb7c79b46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01978f77fa4a35" /><Relationship Type="http://schemas.openxmlformats.org/officeDocument/2006/relationships/notesMaster" Target="/ppt/notesMasters/notesMaster1.xml" Id="R7984f8d191c64e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b5fdb40a624edd" /><Relationship Type="http://schemas.openxmlformats.org/officeDocument/2006/relationships/notesMaster" Target="/ppt/notesMasters/notesMaster1.xml" Id="R6a0d6ebcb69c44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246797c238453b" /><Relationship Type="http://schemas.openxmlformats.org/officeDocument/2006/relationships/notesMaster" Target="/ppt/notesMasters/notesMaster1.xml" Id="Rf996b9488cea4d3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0a248ff3c64207" /><Relationship Type="http://schemas.openxmlformats.org/officeDocument/2006/relationships/notesMaster" Target="/ppt/notesMasters/notesMaster1.xml" Id="R829ea273bbb046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542485d87d49f5" /><Relationship Type="http://schemas.openxmlformats.org/officeDocument/2006/relationships/notesMaster" Target="/ppt/notesMasters/notesMaster1.xml" Id="R58c4e216f77944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predicts the next word from a short text prefix. The overall scope is multilingual, with Telugu as the current implementation. All four models have completed five epochs, held-out evaluation and verification.</a:t>
            </a:r>
          </a:p>
          <a:p xmlns:a="http://schemas.openxmlformats.org/drawingml/2006/main">
            <a:r>
              <a:t/>
            </a:r>
          </a:p>
          <a:p xmlns:a="http://schemas.openxmlformats.org/drawingml/2006/main">
            <a:r>
              <a:t>Evidence: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Multilingual describes the overall project scope. The verified interface currently supports Telugu only. The project predicts a next word rather than generating a full sentence.</a:t>
            </a:r>
          </a:p>
          <a:p xmlns:a="http://schemas.openxmlformats.org/drawingml/2006/main">
            <a:r>
              <a:t/>
            </a:r>
          </a:p>
          <a:p xmlns:a="http://schemas.openxmlformats.org/drawingml/2006/main">
            <a:r>
              <a:t>Evidence: src/telugu_app.py; FINAL_DELIVERY.md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size 200,092. Word CNN top-1 17.67%, gated word-character CNN 18.55%. Results are single seed with different parameter counts. Research originality and the gate-specific benefit remain unestablished.</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dataset IDs: Telugu-LLM-Labs/telugu_alpaca_yahma_cleaned_filtered_romanized and Telugu-LLM-Labs/telugu_teknium_GPTeacher_general_instruct_filtered_romanized. We use native Telugu instruction/input/output fields, not romanized fields. Seed 42, CPU execution, gradient clipping 1.0, dropout 0. Flower is a legacy dependency, not part of the current training.</a:t>
            </a:r>
          </a:p>
          <a:p xmlns:a="http://schemas.openxmlformats.org/drawingml/2006/main">
            <a:r>
              <a:t/>
            </a:r>
          </a:p>
          <a:p xmlns:a="http://schemas.openxmlformats.org/drawingml/2006/main">
            <a:r>
              <a:t>Evidence: data_telugu_llm/provenance.json; src/train_telugu_comparison.py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image, not an illustration generated for this project. The repeating blocks depict time steps of one LSTM, not separate stacked layers. Our implementation uses 64-dimensional embeddings and one 128-unit LSTM layer.</a:t>
            </a:r>
          </a:p>
          <a:p xmlns:a="http://schemas.openxmlformats.org/drawingml/2006/main">
            <a:r>
              <a:t/>
            </a:r>
          </a:p>
          <a:p xmlns:a="http://schemas.openxmlformats.org/drawingml/2006/main">
            <a:r>
              <a:t>Evidence: https://colah.github.io/posts/2015-08-Understanding-LSTMs/; https://colah.github.io/posts/2015-08-Understanding-LSTMs/img/LSTM3-chain.png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recurrent layer. f, i and o are sigmoid forget, input and output gates. g is the tanh candidate state, c is cell memory. The prediction head consumes the final hidden state.</a:t>
            </a:r>
          </a:p>
          <a:p xmlns:a="http://schemas.openxmlformats.org/drawingml/2006/main">
            <a:r>
              <a:t/>
            </a:r>
          </a:p>
          <a:p xmlns:a="http://schemas.openxmlformats.org/drawingml/2006/main">
            <a:r>
              <a:t>Evidence: src/model.py; outputs/telugu_comparison/lstm_test_metrics.json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 U and b are learned parameters. The sigmoid gates range from zero to one. These standard equations describe the implemented PyTorch LSTM, with combined bias notation.</a:t>
            </a:r>
          </a:p>
          <a:p xmlns:a="http://schemas.openxmlformats.org/drawingml/2006/main">
            <a:r>
              <a:t/>
            </a:r>
          </a:p>
          <a:p xmlns:a="http://schemas.openxmlformats.org/drawingml/2006/main">
            <a:r>
              <a:t>Evidence: src/model.py; https://colah.github.io/posts/2015-08-Understanding-LSTMs/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Short-Term Load Forecasting Based on Deep Learning Bidirectional LSTM Neural Network, Applied Sciences 2021, 11, 8129, Figure 3. Publisher original image reproduced with attribution (CC BY 4.0 article). The source depicts outputs at several positions; our model instead concatenates terminal states for a single next-word output. All input positions shown correspond to an observed prefix in our application.</a:t>
            </a:r>
          </a:p>
          <a:p xmlns:a="http://schemas.openxmlformats.org/drawingml/2006/main">
            <a:r>
              <a:t/>
            </a:r>
          </a:p>
          <a:p xmlns:a="http://schemas.openxmlformats.org/drawingml/2006/main">
            <a:r>
              <a:t>Evidence: https://www.mdpi.com/2076-3417/11/17/8129; https://doi.org/10.3390/app11178129; https://mdpi-res.com/d_attachment/applsci/applsci-11-08129/article_deploy/html/images/applsci-11-08129-g003.png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embedding sequence. Their terminal hidden states concatenate before output projection. Arrows indicate branch flow. More parameters than the LSTM baseline, so the comparison does not isolate directionality alone.</a:t>
            </a:r>
          </a:p>
          <a:p xmlns:a="http://schemas.openxmlformats.org/drawingml/2006/main">
            <a:r>
              <a:t/>
            </a:r>
          </a:p>
          <a:p xmlns:a="http://schemas.openxmlformats.org/drawingml/2006/main">
            <a:r>
              <a:t>Evidence: src/model.py; outputs/telugu_comparison/bilstm_test_metrics.json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convolution outputs value v and gate logits u. The sigmoid gate modulates the residual update. The last position representation feeds a 20,000-class head. This model uses word embeddings only.</a:t>
            </a:r>
          </a:p>
          <a:p xmlns:a="http://schemas.openxmlformats.org/drawingml/2006/main">
            <a:r>
              <a:t/>
            </a:r>
          </a:p>
          <a:p xmlns:a="http://schemas.openxmlformats.org/drawingml/2006/main">
            <a:r>
              <a:t>Evidence: src/model.py; outputs/telugu_cnn/cnn_test_metrics.json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word. The character branch uses a training-only alphabet, 16-d character embeddings, kernel-3 convolution, ReLU and masked max pooling. It retains the last 32 code points. Word and character features combine through an element-wise sigmoid gate, then a projection and the causal CNN. Unknown-prefix top-1 improves from 13.13% to 14.64% over word CNN; rare-target improvement was not demonstrated. Gate ablation and research originality remain future validation.</a:t>
            </a:r>
          </a:p>
          <a:p xmlns:a="http://schemas.openxmlformats.org/drawingml/2006/main">
            <a:r>
              <a:t/>
            </a:r>
          </a:p>
          <a:p xmlns:a="http://schemas.openxmlformats.org/drawingml/2006/main">
            <a:r>
              <a:t>Evidence: src/wordchar_model.py; outputs/telugu_wordchar/wordchar_cnn_test_metrics.json;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is grouped by normalized instruction, and exact sentence overlaps are removed. Semantic duplication is not ruled out. There are 3,483,073 training, 198,928 validation and 200,092 test examples. Each model uses seed 42 and 5 epochs. The web application remains LSTM by user preference.</a:t>
            </a:r>
          </a:p>
          <a:p xmlns:a="http://schemas.openxmlformats.org/drawingml/2006/main">
            <a:r>
              <a:t/>
            </a:r>
          </a:p>
          <a:p xmlns:a="http://schemas.openxmlformats.org/drawingml/2006/main">
            <a:r>
              <a:t>Evidence: src/prepare_telugu_llm_data.py; src/train_telugu_comparison.py; FINAL_DELIVERY.md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describes the experiment. All four architectures train independently. The live UI uses the saved LSTM checkpoint. Saved weights feed inference, and the text is never used to update model weights during prediction.</a:t>
            </a:r>
          </a:p>
          <a:p xmlns:a="http://schemas.openxmlformats.org/drawingml/2006/main">
            <a:r>
              <a:t/>
            </a:r>
          </a:p>
          <a:p xmlns:a="http://schemas.openxmlformats.org/drawingml/2006/main">
            <a:r>
              <a:t>Evidence: src/telugu_app.py;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disables Predict when neither best nor latest checkpoint exists. On click, it loads or reuses the cached predictor and handles loading/inference exceptions. The predictor normalizes and extracts Telugu tokens, then truncates context. No extracted tokens produces a warning. Arrows show the normal text-processing path. The right upper boxes describe application prerequisites and failure handling.</a:t>
            </a:r>
          </a:p>
          <a:p xmlns:a="http://schemas.openxmlformats.org/drawingml/2006/main">
            <a:r>
              <a:t/>
            </a:r>
          </a:p>
          <a:p xmlns:a="http://schemas.openxmlformats.org/drawingml/2006/main">
            <a:r>
              <a:t>Evidence: src/telugu_app.py; src/text_utils.py;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mixed input, unknown tokens map to ID 1 and known tokens keep their learned IDs. All-unknown contexts return no predictions. Padding brings the input length to 8. The 64-dimensional embedding and 128-unit LSTM produce logits through a linear head. Original softmax probabilities are computed before PAD and UNK are excluded from ranking. The UI lists any unknown input words and displays five predictions. These branches describe the deployed LSTM, not an ensemble.</a:t>
            </a:r>
          </a:p>
          <a:p xmlns:a="http://schemas.openxmlformats.org/drawingml/2006/main">
            <a:r>
              <a:t/>
            </a:r>
          </a:p>
          <a:p xmlns:a="http://schemas.openxmlformats.org/drawingml/2006/main">
            <a:r>
              <a:t>Evidence: src/telugu_neural_predictor.py; src/model.py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tokenizer normalizes and extracts Telugu tokens. The last seq_length tokens form the context. The predictor rejects an empty context and an all-unknown context before running inference. It maps remaining unknown tokens to 1 and left-pads to eight tokens with 0. This diagram describes the deployed word-level LSTM path.</a:t>
            </a:r>
          </a:p>
          <a:p xmlns:a="http://schemas.openxmlformats.org/drawingml/2006/main">
            <a:r>
              <a:t/>
            </a:r>
          </a:p>
          <a:p xmlns:a="http://schemas.openxmlformats.org/drawingml/2006/main">
            <a:r>
              <a:t>Evidence: src/text_utils.py;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uses all logits. Special-token logits are masked only for ranking. Displayed probabilities are original softmax values and are not renormalized after filtering. Each button click invokes inference on the selected context. The cached model reloads if the checkpoint modification time changes. The default remains LSTM; no model selector or training panel is shown.</a:t>
            </a:r>
          </a:p>
          <a:p xmlns:a="http://schemas.openxmlformats.org/drawingml/2006/main">
            <a:r>
              <a:t/>
            </a:r>
          </a:p>
          <a:p xmlns:a="http://schemas.openxmlformats.org/drawingml/2006/main">
            <a:r>
              <a:t>Evidence: src/telugu_neural_predictor.py; src/telugu_app.py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overall results use 200,092 held-out examples. The unknown-prefix subgroup includes 57,089 examples. It does not mean unseen target words can be generated. Bi-LSTM achieves the highest top-1 accuracy, character CNN the lowest vocabulary perplexity. Different parameter counts limit attribution. Literature comparison, ungated-fusion ablation and multiple seeds remain future work.</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820daa1f6d41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7210ced77f42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371a3768414dd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4cb892541442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81d15f18a841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551ebf11c44b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239873-0C0B-442D-94F4-FCFB8824B2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865FF8-BEFA-4F86-9CF8-D5B8A91D7E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456694-F6E6-47C6-ABAB-697E2E5670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EA132F-D21B-4C63-8F42-4543389F71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9D055B-9E89-4149-A869-0DAAC1358A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04636DD-D9CB-4AD0-B0D4-FED751AC99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C472FA-47C5-42BA-8FA1-A512267834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2A7538-8901-4AA0-A2C1-C1B8A8767C5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6B1212-54C1-4178-AF6D-F78DB02816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811CDB-E730-482B-ABAB-A04DE9BA92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23845c6d234d47" /><Relationship Type="http://schemas.openxmlformats.org/officeDocument/2006/relationships/slideLayout" Target="/ppt/slideLayouts/slideLayout1.xml" Id="Ra389c9bbe6274be3" /><Relationship Type="http://schemas.openxmlformats.org/officeDocument/2006/relationships/slideLayout" Target="/ppt/slideLayouts/slideLayout2.xml" Id="R62e7baed7cff4e30" /><Relationship Type="http://schemas.openxmlformats.org/officeDocument/2006/relationships/slideLayout" Target="/ppt/slideLayouts/slideLayout3.xml" Id="Re7d82392a1da4ecb" /><Relationship Type="http://schemas.openxmlformats.org/officeDocument/2006/relationships/slideLayout" Target="/ppt/slideLayouts/slideLayout4.xml" Id="R6ad5797563f840a7" /><Relationship Type="http://schemas.openxmlformats.org/officeDocument/2006/relationships/slideLayout" Target="/ppt/slideLayouts/slideLayout5.xml" Id="Rc42551f3717343de" /><Relationship Type="http://schemas.openxmlformats.org/officeDocument/2006/relationships/slideLayout" Target="/ppt/slideLayouts/slideLayout6.xml" Id="Rceec83b7bc2a4d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89c9bbe6274be3"/>
    <p:sldLayoutId xmlns:r="http://schemas.openxmlformats.org/officeDocument/2006/relationships" id="2147483650" r:id="R62e7baed7cff4e30"/>
    <p:sldLayoutId xmlns:r="http://schemas.openxmlformats.org/officeDocument/2006/relationships" id="2147483651" r:id="Re7d82392a1da4ecb"/>
    <p:sldLayoutId xmlns:r="http://schemas.openxmlformats.org/officeDocument/2006/relationships" id="2147483652" r:id="R6ad5797563f840a7"/>
    <p:sldLayoutId xmlns:r="http://schemas.openxmlformats.org/officeDocument/2006/relationships" id="2147483653" r:id="Rc42551f3717343de"/>
    <p:sldLayoutId xmlns:r="http://schemas.openxmlformats.org/officeDocument/2006/relationships" id="2147483654" r:id="Rceec83b7bc2a4d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ab3d88734e7471d" /><Relationship Type="http://schemas.openxmlformats.org/officeDocument/2006/relationships/notesSlide" Target="/ppt/notesSlides/notesSlide1.xml" Id="R973542bc4e164d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6a95913bd44889" /><Relationship Type="http://schemas.openxmlformats.org/officeDocument/2006/relationships/notesSlide" Target="/ppt/notesSlides/notesSlide2.xml" Id="R1f48dccdf70e48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376953792544eb0" /><Relationship Type="http://schemas.openxmlformats.org/officeDocument/2006/relationships/notesSlide" Target="/ppt/notesSlides/notesSlide3.xml" Id="Rad28eb33ec1f40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8623d85bbf49ef" /><Relationship Type="http://schemas.openxmlformats.org/officeDocument/2006/relationships/notesSlide" Target="/ppt/notesSlides/notesSlide4.xml" Id="Raa771de9a3524f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26086e0704d451e" /><Relationship Type="http://schemas.openxmlformats.org/officeDocument/2006/relationships/image" Target="/ppt/media/image.png" Id="R477bc3b829344875" /><Relationship Type="http://schemas.openxmlformats.org/officeDocument/2006/relationships/notesSlide" Target="/ppt/notesSlides/notesSlide5.xml" Id="Rd9e03dc0d2f845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9c5eb530944e43" /><Relationship Type="http://schemas.openxmlformats.org/officeDocument/2006/relationships/notesSlide" Target="/ppt/notesSlides/notesSlide6.xml" Id="R3a064bb5841f4c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f898ea1e114161" /><Relationship Type="http://schemas.openxmlformats.org/officeDocument/2006/relationships/notesSlide" Target="/ppt/notesSlides/notesSlide7.xml" Id="Radc8bc01ac9345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3f9222188034745" /><Relationship Type="http://schemas.openxmlformats.org/officeDocument/2006/relationships/image" Target="/ppt/media/image2.png" Id="R164774d2d70f4100" /><Relationship Type="http://schemas.openxmlformats.org/officeDocument/2006/relationships/notesSlide" Target="/ppt/notesSlides/notesSlide8.xml" Id="R3dc747ecd12f4a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6a8facd630424f" /><Relationship Type="http://schemas.openxmlformats.org/officeDocument/2006/relationships/notesSlide" Target="/ppt/notesSlides/notesSlide9.xml" Id="Rfe554fc22c5c4f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e8a25c6f7ac411b" /><Relationship Type="http://schemas.openxmlformats.org/officeDocument/2006/relationships/notesSlide" Target="/ppt/notesSlides/notesSlide10.xml" Id="R7f27a9ea4f684d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66dd3d71f74102" /><Relationship Type="http://schemas.openxmlformats.org/officeDocument/2006/relationships/notesSlide" Target="/ppt/notesSlides/notesSlide11.xml" Id="R80bd0707e6e647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628a282567e4da1" /><Relationship Type="http://schemas.openxmlformats.org/officeDocument/2006/relationships/notesSlide" Target="/ppt/notesSlides/notesSlide12.xml" Id="R7a9d4dc6d29f4e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69f561e276e4cdc" /><Relationship Type="http://schemas.openxmlformats.org/officeDocument/2006/relationships/notesSlide" Target="/ppt/notesSlides/notesSlide13.xml" Id="R04430c2597a740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7d6e54e01354514" /><Relationship Type="http://schemas.openxmlformats.org/officeDocument/2006/relationships/notesSlide" Target="/ppt/notesSlides/notesSlide14.xml" Id="Re6afd3e6661146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4f8bda06d2e42e9" /><Relationship Type="http://schemas.openxmlformats.org/officeDocument/2006/relationships/notesSlide" Target="/ppt/notesSlides/notesSlide15.xml" Id="R6669956bd1d147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771b2a1f12a43d1" /><Relationship Type="http://schemas.openxmlformats.org/officeDocument/2006/relationships/notesSlide" Target="/ppt/notesSlides/notesSlide16.xml" Id="R7c5b537eb03444c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3d54027a62b4946" /><Relationship Type="http://schemas.openxmlformats.org/officeDocument/2006/relationships/notesSlide" Target="/ppt/notesSlides/notesSlide17.xml" Id="R6a521fa3eba5421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aeb039ec4ab47f2" /><Relationship Type="http://schemas.openxmlformats.org/officeDocument/2006/relationships/notesSlide" Target="/ppt/notesSlides/notesSlide18.xml" Id="Rb41220ba48e44378" /></Relationships>
</file>

<file path=ppt/slides/slide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83563C-494B-4870-B54B-D1A8F91A449A}"/>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3F52FF-4A6C-4437-A200-B110380F8244}"/>
              </a:ext>
            </a:extLst>
          </p:cNvPr>
          <p:cNvSpPr>
            <a:spLocks xmlns:a="http://schemas.openxmlformats.org/drawingml/2006/main" noGrp="1"/>
          </p:cNvSpPr>
          <p:nvPr/>
        </p:nvSpPr>
        <p:spPr>
          <a:xfrm xmlns:a="http://schemas.openxmlformats.org/drawingml/2006/main">
            <a:off x="714375" y="1381125"/>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5700" b="0">
                <a:solidFill>
                  <a:srgbClr val="344E41"/>
                </a:solidFill>
                <a:latin typeface="Georgia"/>
                <a:ea typeface="Georgia"/>
                <a:cs typeface="Georgia"/>
              </a:defRPr>
            </a:defPPr>
          </a:lstStyle>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MULTILINGUAL</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NEXT-WORD</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PREDICTION</a:t>
            </a:r>
          </a:p>
        </p:txBody>
      </p:sp>
      <p:sp>
        <p:nvSpPr>
          <p:cNvPr id="3" name="">
            <a:extLst xmlns:a="http://schemas.openxmlformats.org/drawingml/2006/main">
              <a:ext uri="{FF2B5EF4-FFF2-40B4-BE49-F238E27FC236}">
                <a16:creationId xmlns:a16="http://schemas.microsoft.com/office/drawing/2014/main" id="{E982D144-85D6-4A56-AD72-92C8EDC31015}"/>
              </a:ext>
            </a:extLst>
          </p:cNvPr>
          <p:cNvSpPr>
            <a:spLocks xmlns:a="http://schemas.openxmlformats.org/drawingml/2006/main" noGrp="1"/>
          </p:cNvSpPr>
          <p:nvPr/>
        </p:nvSpPr>
        <p:spPr>
          <a:xfrm xmlns:a="http://schemas.openxmlformats.org/drawingml/2006/main">
            <a:off x="714375" y="714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TELUGU PHASE</a:t>
            </a:r>
          </a:p>
        </p:txBody>
      </p:sp>
      <p:sp>
        <p:nvSpPr>
          <p:cNvPr id="4" name="">
            <a:extLst xmlns:a="http://schemas.openxmlformats.org/drawingml/2006/main">
              <a:ext uri="{FF2B5EF4-FFF2-40B4-BE49-F238E27FC236}">
                <a16:creationId xmlns:a16="http://schemas.microsoft.com/office/drawing/2014/main" id="{915DF15F-63EF-4DEE-9AF3-2043EF978840}"/>
              </a:ext>
            </a:extLst>
          </p:cNvPr>
          <p:cNvSpPr>
            <a:spLocks xmlns:a="http://schemas.openxmlformats.org/drawingml/2006/main" noGrp="1"/>
          </p:cNvSpPr>
          <p:nvPr/>
        </p:nvSpPr>
        <p:spPr>
          <a:xfrm xmlns:a="http://schemas.openxmlformats.org/drawingml/2006/main">
            <a:off x="714375" y="4857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LSTM, Bi-LSTM and convolutional models</a:t>
            </a:r>
          </a:p>
        </p:txBody>
      </p:sp>
      <p:sp>
        <p:nvSpPr>
          <p:cNvPr id="5" name="">
            <a:extLst xmlns:a="http://schemas.openxmlformats.org/drawingml/2006/main">
              <a:ext uri="{FF2B5EF4-FFF2-40B4-BE49-F238E27FC236}">
                <a16:creationId xmlns:a16="http://schemas.microsoft.com/office/drawing/2014/main" id="{E90086C4-3A6C-47A3-A086-0725DB637174}"/>
              </a:ext>
            </a:extLst>
          </p:cNvPr>
          <p:cNvSpPr>
            <a:spLocks xmlns:a="http://schemas.openxmlformats.org/drawingml/2006/main" noGrp="1"/>
          </p:cNvSpPr>
          <p:nvPr/>
        </p:nvSpPr>
        <p:spPr>
          <a:xfrm xmlns:a="http://schemas.openxmlformats.org/drawingml/2006/main">
            <a:off x="571500" y="64008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15 October 2026</a:t>
            </a:r>
          </a:p>
        </p:txBody>
      </p:sp>
      <p:sp>
        <p:nvSpPr>
          <p:cNvPr id="6" name="">
            <a:extLst xmlns:a="http://schemas.openxmlformats.org/drawingml/2006/main">
              <a:ext uri="{FF2B5EF4-FFF2-40B4-BE49-F238E27FC236}">
                <a16:creationId xmlns:a16="http://schemas.microsoft.com/office/drawing/2014/main" id="{15D76478-D579-4ADA-A456-38088CC0C6EA}"/>
              </a:ext>
            </a:extLst>
          </p:cNvPr>
          <p:cNvSpPr>
            <a:spLocks xmlns:a="http://schemas.openxmlformats.org/drawingml/2006/main" noGrp="1"/>
          </p:cNvSpPr>
          <p:nvPr/>
        </p:nvSpPr>
        <p:spPr>
          <a:xfrm xmlns:a="http://schemas.openxmlformats.org/drawingml/2006/main">
            <a:off x="8382000" y="6400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UROP PROJECT REVIEW</a:t>
            </a:r>
          </a:p>
        </p:txBody>
      </p:sp>
    </p:spTree>
    <p:extLst>
      <p:ext uri="{BB962C8B-B14F-4D97-AF65-F5344CB8AC3E}">
        <p14:creationId xmlns:p14="http://schemas.microsoft.com/office/powerpoint/2010/main" val="300953353"/>
      </p:ext>
    </p:extLst>
  </p:cSld>
</p:sld>
</file>

<file path=ppt/slides/slide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771A15E-A511-4352-A3A4-7941D150B0C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FA8085-22B9-4FD4-A0A8-B3C07C996359}"/>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INTRODUCTION</a:t>
            </a:r>
          </a:p>
        </p:txBody>
      </p:sp>
      <p:sp>
        <p:nvSpPr>
          <p:cNvPr id="3" name="">
            <a:extLst xmlns:a="http://schemas.openxmlformats.org/drawingml/2006/main">
              <a:ext uri="{FF2B5EF4-FFF2-40B4-BE49-F238E27FC236}">
                <a16:creationId xmlns:a16="http://schemas.microsoft.com/office/drawing/2014/main" id="{7EE99F90-B91A-438C-9B75-CF5BD811ADB6}"/>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Multilingual next-word prediction: current focus on Telugu</a:t>
            </a:r>
          </a:p>
        </p:txBody>
      </p:sp>
      <p:sp>
        <p:nvSpPr>
          <p:cNvPr id="4" name="">
            <a:extLst xmlns:a="http://schemas.openxmlformats.org/drawingml/2006/main">
              <a:ext uri="{FF2B5EF4-FFF2-40B4-BE49-F238E27FC236}">
                <a16:creationId xmlns:a16="http://schemas.microsoft.com/office/drawing/2014/main" id="{DF733449-F599-421B-B618-BDC1C1CC77C1}"/>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F09F31B0-C772-4575-B8E8-6C6D4C328700}"/>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C66BD56-2B1A-400E-9BD3-96079E81673A}"/>
              </a:ext>
            </a:extLst>
          </p:cNvPr>
          <p:cNvSpPr>
            <a:spLocks xmlns:a="http://schemas.openxmlformats.org/drawingml/2006/main" noGrp="1"/>
          </p:cNvSpPr>
          <p:nvPr/>
        </p:nvSpPr>
        <p:spPr>
          <a:xfrm xmlns:a="http://schemas.openxmlformats.org/drawingml/2006/main">
            <a:off x="571500" y="18573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A975888B-4800-4D14-9AE5-DA596A588221}"/>
              </a:ext>
            </a:extLst>
          </p:cNvPr>
          <p:cNvSpPr>
            <a:spLocks xmlns:a="http://schemas.openxmlformats.org/drawingml/2006/main" noGrp="1"/>
          </p:cNvSpPr>
          <p:nvPr/>
        </p:nvSpPr>
        <p:spPr>
          <a:xfrm xmlns:a="http://schemas.openxmlformats.org/drawingml/2006/main">
            <a:off x="1428750" y="18573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Goal: suggest the next word from the phrase a user has typed.</a:t>
            </a:r>
          </a:p>
        </p:txBody>
      </p:sp>
      <p:sp>
        <p:nvSpPr>
          <p:cNvPr id="8" name="">
            <a:extLst xmlns:a="http://schemas.openxmlformats.org/drawingml/2006/main">
              <a:ext uri="{FF2B5EF4-FFF2-40B4-BE49-F238E27FC236}">
                <a16:creationId xmlns:a16="http://schemas.microsoft.com/office/drawing/2014/main" id="{22E2E25A-DDAC-42CD-887F-211E173647B7}"/>
              </a:ext>
            </a:extLst>
          </p:cNvPr>
          <p:cNvSpPr>
            <a:spLocks xmlns:a="http://schemas.openxmlformats.org/drawingml/2006/main" noGrp="1"/>
          </p:cNvSpPr>
          <p:nvPr/>
        </p:nvSpPr>
        <p:spPr>
          <a:xfrm xmlns:a="http://schemas.openxmlformats.org/drawingml/2006/main">
            <a:off x="571500" y="27908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A90F439B-048A-45CC-A3E9-AD95BBD79601}"/>
              </a:ext>
            </a:extLst>
          </p:cNvPr>
          <p:cNvSpPr>
            <a:spLocks xmlns:a="http://schemas.openxmlformats.org/drawingml/2006/main" noGrp="1"/>
          </p:cNvSpPr>
          <p:nvPr/>
        </p:nvSpPr>
        <p:spPr>
          <a:xfrm xmlns:a="http://schemas.openxmlformats.org/drawingml/2006/main">
            <a:off x="1428750" y="27908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Current scope: Telugu input and five ranked word suggestions.</a:t>
            </a:r>
          </a:p>
        </p:txBody>
      </p:sp>
      <p:sp>
        <p:nvSpPr>
          <p:cNvPr id="10" name="">
            <a:extLst xmlns:a="http://schemas.openxmlformats.org/drawingml/2006/main">
              <a:ext uri="{FF2B5EF4-FFF2-40B4-BE49-F238E27FC236}">
                <a16:creationId xmlns:a16="http://schemas.microsoft.com/office/drawing/2014/main" id="{7EF7561E-2E53-4073-8701-615231699E31}"/>
              </a:ext>
            </a:extLst>
          </p:cNvPr>
          <p:cNvSpPr>
            <a:spLocks xmlns:a="http://schemas.openxmlformats.org/drawingml/2006/main" noGrp="1"/>
          </p:cNvSpPr>
          <p:nvPr/>
        </p:nvSpPr>
        <p:spPr>
          <a:xfrm xmlns:a="http://schemas.openxmlformats.org/drawingml/2006/main">
            <a:off x="571500" y="37242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EC22CB0-8D98-4036-9A0C-65ABA2948391}"/>
              </a:ext>
            </a:extLst>
          </p:cNvPr>
          <p:cNvSpPr>
            <a:spLocks xmlns:a="http://schemas.openxmlformats.org/drawingml/2006/main" noGrp="1"/>
          </p:cNvSpPr>
          <p:nvPr/>
        </p:nvSpPr>
        <p:spPr>
          <a:xfrm xmlns:a="http://schemas.openxmlformats.org/drawingml/2006/main">
            <a:off x="1428750" y="37242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Approach: compare LSTM, Bi-LSTM and two CNN models.</a:t>
            </a:r>
          </a:p>
        </p:txBody>
      </p:sp>
      <p:sp>
        <p:nvSpPr>
          <p:cNvPr id="12" name="">
            <a:extLst xmlns:a="http://schemas.openxmlformats.org/drawingml/2006/main">
              <a:ext uri="{FF2B5EF4-FFF2-40B4-BE49-F238E27FC236}">
                <a16:creationId xmlns:a16="http://schemas.microsoft.com/office/drawing/2014/main" id="{542B9E39-3E6F-416D-9CA2-BB434387427F}"/>
              </a:ext>
            </a:extLst>
          </p:cNvPr>
          <p:cNvSpPr>
            <a:spLocks xmlns:a="http://schemas.openxmlformats.org/drawingml/2006/main" noGrp="1"/>
          </p:cNvSpPr>
          <p:nvPr/>
        </p:nvSpPr>
        <p:spPr>
          <a:xfrm xmlns:a="http://schemas.openxmlformats.org/drawingml/2006/main">
            <a:off x="571500" y="46577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084FC49E-C371-4694-BF1F-8B14E6AB135E}"/>
              </a:ext>
            </a:extLst>
          </p:cNvPr>
          <p:cNvSpPr>
            <a:spLocks xmlns:a="http://schemas.openxmlformats.org/drawingml/2006/main" noGrp="1"/>
          </p:cNvSpPr>
          <p:nvPr/>
        </p:nvSpPr>
        <p:spPr>
          <a:xfrm xmlns:a="http://schemas.openxmlformats.org/drawingml/2006/main">
            <a:off x="1428750" y="46577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Application: a Streamlit demo using the saved LSTM checkpoint.</a:t>
            </a:r>
          </a:p>
        </p:txBody>
      </p:sp>
    </p:spTree>
    <p:extLst>
      <p:ext uri="{BB962C8B-B14F-4D97-AF65-F5344CB8AC3E}">
        <p14:creationId xmlns:p14="http://schemas.microsoft.com/office/powerpoint/2010/main" val="591033853"/>
      </p:ext>
    </p:extLst>
  </p:cSld>
</p:sld>
</file>

<file path=ppt/slides/slide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EE2884-FE32-4762-83AA-202E7392187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126631-9CDA-4415-825C-45ABFCFFAD6D}"/>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ABSTRACT</a:t>
            </a:r>
          </a:p>
        </p:txBody>
      </p:sp>
      <p:sp>
        <p:nvSpPr>
          <p:cNvPr id="3" name="">
            <a:extLst xmlns:a="http://schemas.openxmlformats.org/drawingml/2006/main">
              <a:ext uri="{FF2B5EF4-FFF2-40B4-BE49-F238E27FC236}">
                <a16:creationId xmlns:a16="http://schemas.microsoft.com/office/drawing/2014/main" id="{E9324F10-AED3-486B-935C-2169F1F4CDD8}"/>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63D36412-259A-4E58-A6FF-DF10338F0B43}"/>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1CE9EE9-0C30-4180-874E-6F32F4F7F43F}"/>
              </a:ext>
            </a:extLst>
          </p:cNvPr>
          <p:cNvSpPr>
            <a:spLocks xmlns:a="http://schemas.openxmlformats.org/drawingml/2006/main" noGrp="1"/>
          </p:cNvSpPr>
          <p:nvPr/>
        </p:nvSpPr>
        <p:spPr>
          <a:xfrm xmlns:a="http://schemas.openxmlformats.org/drawingml/2006/main">
            <a:off x="571500" y="18097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This project studies multilingual next-word prediction with Telugu as the current language. Native Telugu text from Alpaca and GPTeacher supplies the training data.</a:t>
            </a:r>
          </a:p>
        </p:txBody>
      </p:sp>
      <p:sp>
        <p:nvSpPr>
          <p:cNvPr id="6" name="">
            <a:extLst xmlns:a="http://schemas.openxmlformats.org/drawingml/2006/main">
              <a:ext uri="{FF2B5EF4-FFF2-40B4-BE49-F238E27FC236}">
                <a16:creationId xmlns:a16="http://schemas.microsoft.com/office/drawing/2014/main" id="{5EA4D163-A2A3-47D4-9768-44E135DC7CDE}"/>
              </a:ext>
            </a:extLst>
          </p:cNvPr>
          <p:cNvSpPr>
            <a:spLocks xmlns:a="http://schemas.openxmlformats.org/drawingml/2006/main" noGrp="1"/>
          </p:cNvSpPr>
          <p:nvPr/>
        </p:nvSpPr>
        <p:spPr>
          <a:xfrm xmlns:a="http://schemas.openxmlformats.org/drawingml/2006/main">
            <a:off x="571500" y="2952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We compare LSTM, Bi-LSTM, a causal word CNN and a gated word–character CNN using eight-word contexts. The character model learns to combine whole-word and spelling features.</a:t>
            </a:r>
          </a:p>
        </p:txBody>
      </p:sp>
      <p:sp>
        <p:nvSpPr>
          <p:cNvPr id="7" name="">
            <a:extLst xmlns:a="http://schemas.openxmlformats.org/drawingml/2006/main">
              <a:ext uri="{FF2B5EF4-FFF2-40B4-BE49-F238E27FC236}">
                <a16:creationId xmlns:a16="http://schemas.microsoft.com/office/drawing/2014/main" id="{DE14461C-0A93-4C7B-A03B-1F7FCDB20EFC}"/>
              </a:ext>
            </a:extLst>
          </p:cNvPr>
          <p:cNvSpPr>
            <a:spLocks xmlns:a="http://schemas.openxmlformats.org/drawingml/2006/main" noGrp="1"/>
          </p:cNvSpPr>
          <p:nvPr/>
        </p:nvSpPr>
        <p:spPr>
          <a:xfrm xmlns:a="http://schemas.openxmlformats.org/drawingml/2006/main">
            <a:off x="571500" y="4333875"/>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All models completed five epochs. Bi-LSTM achieved 18.82% top-1 accuracy. Character fusion improved over word CNN, including on inputs containing unknown words. A Streamlit interface provides five suggestions.</a:t>
            </a:r>
          </a:p>
        </p:txBody>
      </p:sp>
    </p:spTree>
    <p:extLst>
      <p:ext uri="{BB962C8B-B14F-4D97-AF65-F5344CB8AC3E}">
        <p14:creationId xmlns:p14="http://schemas.microsoft.com/office/powerpoint/2010/main" val="1057655579"/>
      </p:ext>
    </p:extLst>
  </p:cSld>
</p:sld>
</file>

<file path=ppt/slides/slide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52F39B-847F-4AE1-A1C6-4B8F513C1C4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87410F-E631-4FE3-9EAB-DF29278C72ED}"/>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WHAT WE USED</a:t>
            </a:r>
          </a:p>
        </p:txBody>
      </p:sp>
      <p:sp>
        <p:nvSpPr>
          <p:cNvPr id="3" name="">
            <a:extLst xmlns:a="http://schemas.openxmlformats.org/drawingml/2006/main">
              <a:ext uri="{FF2B5EF4-FFF2-40B4-BE49-F238E27FC236}">
                <a16:creationId xmlns:a16="http://schemas.microsoft.com/office/drawing/2014/main" id="{423F4117-C262-4612-B398-0F6B2D994781}"/>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E7706240-DF19-4C84-8DF9-95ED2BDE00D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0161F6B4-24FE-451C-93D1-B55687D416BD}"/>
              </a:ext>
            </a:extLst>
          </p:cNvPr>
          <p:cNvGraphicFramePr/>
          <p:nvPr/>
        </p:nvGraphicFramePr>
        <p:xfrm>
          <a:off xmlns:a="http://schemas.openxmlformats.org/drawingml/2006/main" x="571500" y="1619250"/>
          <a:ext xmlns:a="http://schemas.openxmlformats.org/drawingml/2006/main" cx="11049000" cy="3143250"/>
        </p:xfrm>
        <a:graphic xmlns:a="http://schemas.openxmlformats.org/drawingml/2006/main">
          <a:graphicData uri="http://schemas.openxmlformats.org/drawingml/2006/table">
            <a:tbl>
              <a:tblPr firstRow="1" bandRow="0"/>
              <a:tblGrid>
                <a:gridCol w="2952750"/>
                <a:gridCol w="8096250"/>
              </a:tblGrid>
              <a:tr h="523875">
                <a:tc>
                  <a:txBody>
                    <a:bodyPr/>
                    <a:lstStyle/>
                    <a:p>
                      <a:r>
                        <a:rPr sz="1875" b="1">
                          <a:solidFill>
                            <a:srgbClr val="FFFFFF"/>
                          </a:solidFill>
                          <a:latin typeface="Arial"/>
                          <a:ea typeface="Arial"/>
                          <a:cs typeface="Arial"/>
                        </a:rPr>
                        <a:t>Component</a:t>
                      </a:r>
                    </a:p>
                  </a:txBody>
                  <a:tcPr marL="91440" marR="91440" marT="45720" marB="45720">
                    <a:lnL w="9525">
                      <a:solidFill>
                        <a:srgbClr val="A3B18A"/>
                      </a:solidFill>
                      <a:prstDash val="solid"/>
                    </a:lnL>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Current experiment</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r>
              <a:tr h="523875">
                <a:tc>
                  <a:txBody>
                    <a:bodyPr/>
                    <a:lstStyle/>
                    <a:p>
                      <a:r>
                        <a:rPr sz="1875" b="0">
                          <a:solidFill>
                            <a:srgbClr val="344E41"/>
                          </a:solidFill>
                          <a:latin typeface="Arial"/>
                          <a:ea typeface="Arial"/>
                          <a:cs typeface="Arial"/>
                        </a:rPr>
                        <a:t>Data</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Telugu-LLM-Labs Alpaca and GPTeacher</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Software</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Python, PyTorch, NumPy and Streamlit</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Representations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20,000-token vocabulary, 8-word context</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Models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LSTM, Bi-LSTM, word CNN, word–character CNN</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Training</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Adam, learning rate 0.001, batch 512, 5 epochs</a:t>
                      </a:r>
                    </a:p>
                  </a:txBody>
                  <a:tcPr marL="91440" marR="91440" marT="45720" marB="45720">
                    <a:lnR w="9525">
                      <a:solidFill>
                        <a:srgbClr val="A3B18A"/>
                      </a:solidFill>
                      <a:prstDash val="solid"/>
                    </a:lnR>
                    <a:lnB w="9525">
                      <a:solidFill>
                        <a:srgbClr val="A3B18A"/>
                      </a:solidFill>
                      <a:prstDash val="solid"/>
                    </a:lnB>
                    <a:solidFill>
                      <a:srgbClr val="E7E5DD"/>
                    </a:solidFill>
                  </a:tcPr>
                </a:tc>
              </a:tr>
            </a:tbl>
          </a:graphicData>
        </a:graphic>
      </p:graphicFrame>
      <p:sp>
        <p:nvSpPr>
          <p:cNvPr id="6" name="">
            <a:extLst xmlns:a="http://schemas.openxmlformats.org/drawingml/2006/main">
              <a:ext uri="{FF2B5EF4-FFF2-40B4-BE49-F238E27FC236}">
                <a16:creationId xmlns:a16="http://schemas.microsoft.com/office/drawing/2014/main" id="{8845D888-9C81-40AB-ABC7-EAB578828D0C}"/>
              </a:ext>
            </a:extLst>
          </p:cNvPr>
          <p:cNvSpPr>
            <a:spLocks xmlns:a="http://schemas.openxmlformats.org/drawingml/2006/main" noGrp="1"/>
          </p:cNvSpPr>
          <p:nvPr/>
        </p:nvSpPr>
        <p:spPr>
          <a:xfrm xmlns:a="http://schemas.openxmlformats.org/drawingml/2006/main">
            <a:off x="571500" y="509587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44E41"/>
                </a:solidFill>
                <a:latin typeface="Arial"/>
                <a:ea typeface="Arial"/>
                <a:cs typeface="Arial"/>
              </a:defRPr>
            </a:defPPr>
          </a:lstStyle>
          <a:p xmlns:a="http://schemas.openxmlformats.org/drawingml/2006/main">
            <a:pPr>
              <a:defRPr sz="1875" b="1">
                <a:solidFill>
                  <a:srgbClr val="344E41"/>
                </a:solidFill>
                <a:latin typeface="Arial"/>
                <a:ea typeface="Arial"/>
                <a:cs typeface="Arial"/>
              </a:defRPr>
            </a:pPr>
            <a:r>
              <a:rPr sz="1875" b="1">
                <a:solidFill>
                  <a:srgbClr val="344E41"/>
                </a:solidFill>
                <a:latin typeface="Arial"/>
                <a:ea typeface="Arial"/>
                <a:cs typeface="Arial"/>
              </a:rPr>
              <a:t>Train: 3,483,073 examples. Validation: 198,928. Test: 200,092.</a:t>
            </a:r>
          </a:p>
        </p:txBody>
      </p:sp>
      <p:sp>
        <p:nvSpPr>
          <p:cNvPr id="7" name="">
            <a:extLst xmlns:a="http://schemas.openxmlformats.org/drawingml/2006/main">
              <a:ext uri="{FF2B5EF4-FFF2-40B4-BE49-F238E27FC236}">
                <a16:creationId xmlns:a16="http://schemas.microsoft.com/office/drawing/2014/main" id="{95C1A7E1-2104-4B44-B2A7-A73CB0D42643}"/>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Native Telugu fields, grouped splits and training-only vocabulary.</a:t>
            </a:r>
          </a:p>
        </p:txBody>
      </p:sp>
    </p:spTree>
    <p:extLst>
      <p:ext uri="{BB962C8B-B14F-4D97-AF65-F5344CB8AC3E}">
        <p14:creationId xmlns:p14="http://schemas.microsoft.com/office/powerpoint/2010/main" val="1331681190"/>
      </p:ext>
    </p:extLst>
  </p:cSld>
</p:sld>
</file>

<file path=ppt/slides/slide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112EE5-3E3D-4B47-BB54-1CDC17F484F0}"/>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EBD1A4-37B1-42CB-A658-80699E3C56A8}"/>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PUBLISHED ARCHITECTURE</a:t>
            </a:r>
          </a:p>
        </p:txBody>
      </p:sp>
      <p:sp>
        <p:nvSpPr>
          <p:cNvPr id="3" name="">
            <a:extLst xmlns:a="http://schemas.openxmlformats.org/drawingml/2006/main">
              <a:ext uri="{FF2B5EF4-FFF2-40B4-BE49-F238E27FC236}">
                <a16:creationId xmlns:a16="http://schemas.microsoft.com/office/drawing/2014/main" id="{D3D8B3B7-435C-48E3-9DA8-171ADA440F3B}"/>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Original reference illustration showing the cell state and internal gates</a:t>
            </a:r>
          </a:p>
        </p:txBody>
      </p:sp>
      <p:sp>
        <p:nvSpPr>
          <p:cNvPr id="4" name="">
            <a:extLst xmlns:a="http://schemas.openxmlformats.org/drawingml/2006/main">
              <a:ext uri="{FF2B5EF4-FFF2-40B4-BE49-F238E27FC236}">
                <a16:creationId xmlns:a16="http://schemas.microsoft.com/office/drawing/2014/main" id="{6697EF81-4745-4D81-8ABF-9C2DCEC5B1C6}"/>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6916EEFE-D8CE-42E4-971F-12402643B80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05</a:t>
            </a:r>
          </a:p>
        </p:txBody>
      </p:sp>
      <p:pic>
        <p:nvPicPr>
          <p:cNvPr id="6" name="">
            <a:extLst xmlns:a="http://schemas.openxmlformats.org/drawingml/2006/main">
              <a:ext uri="{FF2B5EF4-FFF2-40B4-BE49-F238E27FC236}">
                <a16:creationId xmlns:a16="http://schemas.microsoft.com/office/drawing/2014/main" id="{0E901409-1173-442A-8184-A7FA0CCE9772}"/>
              </a:ext>
            </a:extLst>
          </p:cNvPr>
          <p:cNvPicPr>
            <a:picLocks xmlns:a="http://schemas.openxmlformats.org/drawingml/2006/main" noChangeAspect="1"/>
          </p:cNvPicPr>
          <p:nvPr/>
        </p:nvPicPr>
        <p:blipFill>
          <a:blip xmlns:r="http://schemas.openxmlformats.org/officeDocument/2006/relationships" xmlns:a="http://schemas.openxmlformats.org/drawingml/2006/main" r:embed="R477bc3b829344875"/>
          <a:stretch xmlns:a="http://schemas.openxmlformats.org/drawingml/2006/main"/>
        </p:blipFill>
        <p:spPr>
          <a:xfrm xmlns:a="http://schemas.openxmlformats.org/drawingml/2006/main">
            <a:off x="1659609" y="1809750"/>
            <a:ext cx="8872782" cy="3333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EB84A6D-9FA7-4864-97C7-98025F3F8CB9}"/>
              </a:ext>
            </a:extLst>
          </p:cNvPr>
          <p:cNvSpPr>
            <a:spLocks xmlns:a="http://schemas.openxmlformats.org/drawingml/2006/main" noGrp="1"/>
          </p:cNvSpPr>
          <p:nvPr/>
        </p:nvSpPr>
        <p:spPr>
          <a:xfrm xmlns:a="http://schemas.openxmlformats.org/drawingml/2006/main">
            <a:off x="571500" y="53149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344E41"/>
                </a:solidFill>
                <a:latin typeface="Arial"/>
                <a:ea typeface="Arial"/>
                <a:cs typeface="Arial"/>
              </a:defRPr>
            </a:defPPr>
          </a:lstStyle>
          <a:p xmlns:a="http://schemas.openxmlformats.org/drawingml/2006/main">
            <a:pPr>
              <a:defRPr sz="1875" b="0">
                <a:solidFill>
                  <a:srgbClr val="344E41"/>
                </a:solidFill>
                <a:latin typeface="Arial"/>
                <a:ea typeface="Arial"/>
                <a:cs typeface="Arial"/>
              </a:defRPr>
            </a:pPr>
            <a:r>
              <a:rPr sz="1875" b="0">
                <a:solidFill>
                  <a:srgbClr val="344E41"/>
                </a:solidFill>
                <a:latin typeface="Arial"/>
                <a:ea typeface="Arial"/>
                <a:cs typeface="Arial"/>
              </a:rPr>
              <a:t>The memory path runs across time. Gates regulate retention, updates and output.</a:t>
            </a:r>
          </a:p>
        </p:txBody>
      </p:sp>
      <p:sp>
        <p:nvSpPr>
          <p:cNvPr id="8" name="">
            <a:extLst xmlns:a="http://schemas.openxmlformats.org/drawingml/2006/main">
              <a:ext uri="{FF2B5EF4-FFF2-40B4-BE49-F238E27FC236}">
                <a16:creationId xmlns:a16="http://schemas.microsoft.com/office/drawing/2014/main" id="{704F367F-38F0-4495-A4FB-4ECDD2CE0ED6}"/>
              </a:ext>
            </a:extLst>
          </p:cNvPr>
          <p:cNvSpPr>
            <a:spLocks xmlns:a="http://schemas.openxmlformats.org/drawingml/2006/main" noGrp="1"/>
          </p:cNvSpPr>
          <p:nvPr/>
        </p:nvSpPr>
        <p:spPr>
          <a:xfrm xmlns:a="http://schemas.openxmlformats.org/drawingml/2006/main">
            <a:off x="571500" y="58197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456052"/>
                </a:solidFill>
                <a:latin typeface="Arial"/>
                <a:ea typeface="Arial"/>
                <a:cs typeface="Arial"/>
              </a:defRPr>
            </a:defPPr>
          </a:lstStyle>
          <a:p xmlns:a="http://schemas.openxmlformats.org/drawingml/2006/main">
            <a:pPr>
              <a:defRPr sz="1350" b="0">
                <a:solidFill>
                  <a:srgbClr val="456052"/>
                </a:solidFill>
                <a:latin typeface="Arial"/>
                <a:ea typeface="Arial"/>
                <a:cs typeface="Arial"/>
              </a:defRPr>
            </a:pPr>
            <a:r>
              <a:rPr sz="1350" b="0">
                <a:solidFill>
                  <a:srgbClr val="456052"/>
                </a:solidFill>
                <a:latin typeface="Arial"/>
                <a:ea typeface="Arial"/>
                <a:cs typeface="Arial"/>
              </a:rPr>
              <a:t>Image: Christopher Olah, Understanding LSTM Networks (2015). Unmodified.</a:t>
            </a:r>
          </a:p>
        </p:txBody>
      </p:sp>
    </p:spTree>
    <p:extLst>
      <p:ext uri="{BB962C8B-B14F-4D97-AF65-F5344CB8AC3E}">
        <p14:creationId xmlns:p14="http://schemas.microsoft.com/office/powerpoint/2010/main" val="635105450"/>
      </p:ext>
    </p:extLst>
  </p:cSld>
</p:sld>
</file>

<file path=ppt/slides/slide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3A3070E-8F3C-4850-B60A-62ED41C5E77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2207DE-E52C-4303-A578-134232153D82}"/>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ARCHITECTURE</a:t>
            </a:r>
          </a:p>
        </p:txBody>
      </p:sp>
      <p:sp>
        <p:nvSpPr>
          <p:cNvPr id="3" name="">
            <a:extLst xmlns:a="http://schemas.openxmlformats.org/drawingml/2006/main">
              <a:ext uri="{FF2B5EF4-FFF2-40B4-BE49-F238E27FC236}">
                <a16:creationId xmlns:a16="http://schemas.microsoft.com/office/drawing/2014/main" id="{020357EF-4983-4990-B281-5DF4A30E9E35}"/>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Sequential memory over the observed input words</a:t>
            </a:r>
          </a:p>
        </p:txBody>
      </p:sp>
      <p:sp>
        <p:nvSpPr>
          <p:cNvPr id="4" name="">
            <a:extLst xmlns:a="http://schemas.openxmlformats.org/drawingml/2006/main">
              <a:ext uri="{FF2B5EF4-FFF2-40B4-BE49-F238E27FC236}">
                <a16:creationId xmlns:a16="http://schemas.microsoft.com/office/drawing/2014/main" id="{144DE0A2-2B85-4531-B602-3BF5FC1D8194}"/>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63C7AAF3-CED1-4A64-9FD1-BBDD5A2FD1F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A53FD766-8C3B-40C5-9EB1-4B984015B9A1}"/>
              </a:ext>
            </a:extLst>
          </p:cNvPr>
          <p:cNvSpPr>
            <a:spLocks xmlns:a="http://schemas.openxmlformats.org/drawingml/2006/main" noGrp="1"/>
          </p:cNvSpPr>
          <p:nvPr/>
        </p:nvSpPr>
        <p:spPr>
          <a:xfrm xmlns:a="http://schemas.openxmlformats.org/drawingml/2006/main">
            <a:off x="5715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D2F8A969-94BF-48AC-9901-0409DB0A2844}"/>
              </a:ext>
            </a:extLst>
          </p:cNvPr>
          <p:cNvSpPr>
            <a:spLocks xmlns:a="http://schemas.openxmlformats.org/drawingml/2006/main" noGrp="1"/>
          </p:cNvSpPr>
          <p:nvPr/>
        </p:nvSpPr>
        <p:spPr>
          <a:xfrm xmlns:a="http://schemas.openxmlformats.org/drawingml/2006/main">
            <a:off x="647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8-word prefix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Token IDs</a:t>
            </a:r>
          </a:p>
        </p:txBody>
      </p:sp>
      <p:sp>
        <p:nvSpPr>
          <p:cNvPr id="8" name="">
            <a:extLst xmlns:a="http://schemas.openxmlformats.org/drawingml/2006/main">
              <a:ext uri="{FF2B5EF4-FFF2-40B4-BE49-F238E27FC236}">
                <a16:creationId xmlns:a16="http://schemas.microsoft.com/office/drawing/2014/main" id="{70810A22-DFF3-42A3-823D-F8F08079CE60}"/>
              </a:ext>
            </a:extLst>
          </p:cNvPr>
          <p:cNvSpPr>
            <a:spLocks xmlns:a="http://schemas.openxmlformats.org/drawingml/2006/main" noGrp="1"/>
          </p:cNvSpPr>
          <p:nvPr/>
        </p:nvSpPr>
        <p:spPr>
          <a:xfrm xmlns:a="http://schemas.openxmlformats.org/drawingml/2006/main">
            <a:off x="2952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407D9B98-5706-4911-B00D-B97E77503CB5}"/>
              </a:ext>
            </a:extLst>
          </p:cNvPr>
          <p:cNvSpPr>
            <a:spLocks xmlns:a="http://schemas.openxmlformats.org/drawingml/2006/main" noGrp="1"/>
          </p:cNvSpPr>
          <p:nvPr/>
        </p:nvSpPr>
        <p:spPr>
          <a:xfrm xmlns:a="http://schemas.openxmlformats.org/drawingml/2006/main">
            <a:off x="3429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E12C8624-E55A-455E-96D3-F5AAC6D69A61}"/>
              </a:ext>
            </a:extLst>
          </p:cNvPr>
          <p:cNvSpPr>
            <a:spLocks xmlns:a="http://schemas.openxmlformats.org/drawingml/2006/main" noGrp="1"/>
          </p:cNvSpPr>
          <p:nvPr/>
        </p:nvSpPr>
        <p:spPr>
          <a:xfrm xmlns:a="http://schemas.openxmlformats.org/drawingml/2006/main">
            <a:off x="3505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11" name="">
            <a:extLst xmlns:a="http://schemas.openxmlformats.org/drawingml/2006/main">
              <a:ext uri="{FF2B5EF4-FFF2-40B4-BE49-F238E27FC236}">
                <a16:creationId xmlns:a16="http://schemas.microsoft.com/office/drawing/2014/main" id="{1A454C67-CF5D-4018-8C84-D55282C2B521}"/>
              </a:ext>
            </a:extLst>
          </p:cNvPr>
          <p:cNvSpPr>
            <a:spLocks xmlns:a="http://schemas.openxmlformats.org/drawingml/2006/main" noGrp="1"/>
          </p:cNvSpPr>
          <p:nvPr/>
        </p:nvSpPr>
        <p:spPr>
          <a:xfrm xmlns:a="http://schemas.openxmlformats.org/drawingml/2006/main">
            <a:off x="58102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C8F2C6CB-99FC-487A-8F54-E62C7C15FE1E}"/>
              </a:ext>
            </a:extLst>
          </p:cNvPr>
          <p:cNvSpPr>
            <a:spLocks xmlns:a="http://schemas.openxmlformats.org/drawingml/2006/main" noGrp="1"/>
          </p:cNvSpPr>
          <p:nvPr/>
        </p:nvSpPr>
        <p:spPr>
          <a:xfrm xmlns:a="http://schemas.openxmlformats.org/drawingml/2006/main">
            <a:off x="6286500" y="23812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6CC5C556-C4AD-4F92-8537-1215545543FD}"/>
              </a:ext>
            </a:extLst>
          </p:cNvPr>
          <p:cNvSpPr>
            <a:spLocks xmlns:a="http://schemas.openxmlformats.org/drawingml/2006/main" noGrp="1"/>
          </p:cNvSpPr>
          <p:nvPr/>
        </p:nvSpPr>
        <p:spPr>
          <a:xfrm xmlns:a="http://schemas.openxmlformats.org/drawingml/2006/main">
            <a:off x="6362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LSTM layer</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hidden units</a:t>
            </a:r>
          </a:p>
        </p:txBody>
      </p:sp>
      <p:sp>
        <p:nvSpPr>
          <p:cNvPr id="14" name="">
            <a:extLst xmlns:a="http://schemas.openxmlformats.org/drawingml/2006/main">
              <a:ext uri="{FF2B5EF4-FFF2-40B4-BE49-F238E27FC236}">
                <a16:creationId xmlns:a16="http://schemas.microsoft.com/office/drawing/2014/main" id="{FACA9D4C-6B58-4FAA-A1EB-BCC0880767C3}"/>
              </a:ext>
            </a:extLst>
          </p:cNvPr>
          <p:cNvSpPr>
            <a:spLocks xmlns:a="http://schemas.openxmlformats.org/drawingml/2006/main" noGrp="1"/>
          </p:cNvSpPr>
          <p:nvPr/>
        </p:nvSpPr>
        <p:spPr>
          <a:xfrm xmlns:a="http://schemas.openxmlformats.org/drawingml/2006/main">
            <a:off x="8667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29698C3C-A812-4ABC-85E4-1D3D1358F6B8}"/>
              </a:ext>
            </a:extLst>
          </p:cNvPr>
          <p:cNvSpPr>
            <a:spLocks xmlns:a="http://schemas.openxmlformats.org/drawingml/2006/main" noGrp="1"/>
          </p:cNvSpPr>
          <p:nvPr/>
        </p:nvSpPr>
        <p:spPr>
          <a:xfrm xmlns:a="http://schemas.openxmlformats.org/drawingml/2006/main">
            <a:off x="9144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77FFC91A-08D7-44A3-A806-90612F26FA0C}"/>
              </a:ext>
            </a:extLst>
          </p:cNvPr>
          <p:cNvSpPr>
            <a:spLocks xmlns:a="http://schemas.openxmlformats.org/drawingml/2006/main" noGrp="1"/>
          </p:cNvSpPr>
          <p:nvPr/>
        </p:nvSpPr>
        <p:spPr>
          <a:xfrm xmlns:a="http://schemas.openxmlformats.org/drawingml/2006/main">
            <a:off x="9220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17" name="">
            <a:extLst xmlns:a="http://schemas.openxmlformats.org/drawingml/2006/main">
              <a:ext uri="{FF2B5EF4-FFF2-40B4-BE49-F238E27FC236}">
                <a16:creationId xmlns:a16="http://schemas.microsoft.com/office/drawing/2014/main" id="{EED431F2-E70E-4BFE-B0F3-4CD11940FCB8}"/>
              </a:ext>
            </a:extLst>
          </p:cNvPr>
          <p:cNvSpPr>
            <a:spLocks xmlns:a="http://schemas.openxmlformats.org/drawingml/2006/main" noGrp="1"/>
          </p:cNvSpPr>
          <p:nvPr/>
        </p:nvSpPr>
        <p:spPr>
          <a:xfrm xmlns:a="http://schemas.openxmlformats.org/drawingml/2006/main">
            <a:off x="619125" y="3905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cₜ = fₜ ⊙ cₜ₋₁ + iₜ ⊙ gₜ</a:t>
            </a:r>
          </a:p>
        </p:txBody>
      </p:sp>
      <p:sp>
        <p:nvSpPr>
          <p:cNvPr id="18" name="">
            <a:extLst xmlns:a="http://schemas.openxmlformats.org/drawingml/2006/main">
              <a:ext uri="{FF2B5EF4-FFF2-40B4-BE49-F238E27FC236}">
                <a16:creationId xmlns:a16="http://schemas.microsoft.com/office/drawing/2014/main" id="{6936BA7B-B3B5-434F-92BA-EF3DABBE3FBC}"/>
              </a:ext>
            </a:extLst>
          </p:cNvPr>
          <p:cNvSpPr>
            <a:spLocks xmlns:a="http://schemas.openxmlformats.org/drawingml/2006/main" noGrp="1"/>
          </p:cNvSpPr>
          <p:nvPr/>
        </p:nvSpPr>
        <p:spPr>
          <a:xfrm xmlns:a="http://schemas.openxmlformats.org/drawingml/2006/main">
            <a:off x="619125" y="4619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hₜ = oₜ ⊙ tanh(cₜ)</a:t>
            </a:r>
          </a:p>
        </p:txBody>
      </p:sp>
      <p:sp>
        <p:nvSpPr>
          <p:cNvPr id="19" name="">
            <a:extLst xmlns:a="http://schemas.openxmlformats.org/drawingml/2006/main">
              <a:ext uri="{FF2B5EF4-FFF2-40B4-BE49-F238E27FC236}">
                <a16:creationId xmlns:a16="http://schemas.microsoft.com/office/drawing/2014/main" id="{0A23ADFC-1EA2-472F-A68A-8849F5AD5371}"/>
              </a:ext>
            </a:extLst>
          </p:cNvPr>
          <p:cNvSpPr>
            <a:spLocks xmlns:a="http://schemas.openxmlformats.org/drawingml/2006/main" noGrp="1"/>
          </p:cNvSpPr>
          <p:nvPr/>
        </p:nvSpPr>
        <p:spPr>
          <a:xfrm xmlns:a="http://schemas.openxmlformats.org/drawingml/2006/main">
            <a:off x="619125" y="55626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final hidden state predicts the next word. Test top-1 accuracy: 18.03%.</a:t>
            </a:r>
          </a:p>
        </p:txBody>
      </p:sp>
    </p:spTree>
    <p:extLst>
      <p:ext uri="{BB962C8B-B14F-4D97-AF65-F5344CB8AC3E}">
        <p14:creationId xmlns:p14="http://schemas.microsoft.com/office/powerpoint/2010/main" val="951873188"/>
      </p:ext>
    </p:extLst>
  </p:cSld>
</p:sld>
</file>

<file path=ppt/slides/slide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98AF9A2-B76D-4464-BD25-7C2FA039F0B1}"/>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AE7370-E3DB-4441-B993-D79D67608FE5}"/>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GATES AND MEMORY</a:t>
            </a:r>
          </a:p>
        </p:txBody>
      </p:sp>
      <p:sp>
        <p:nvSpPr>
          <p:cNvPr id="3" name="">
            <a:extLst xmlns:a="http://schemas.openxmlformats.org/drawingml/2006/main">
              <a:ext uri="{FF2B5EF4-FFF2-40B4-BE49-F238E27FC236}">
                <a16:creationId xmlns:a16="http://schemas.microsoft.com/office/drawing/2014/main" id="{782CB05B-6AF8-42D7-B09C-432811857ECC}"/>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Each gate learns what information to retain, add or expose</a:t>
            </a:r>
          </a:p>
        </p:txBody>
      </p:sp>
      <p:sp>
        <p:nvSpPr>
          <p:cNvPr id="4" name="">
            <a:extLst xmlns:a="http://schemas.openxmlformats.org/drawingml/2006/main">
              <a:ext uri="{FF2B5EF4-FFF2-40B4-BE49-F238E27FC236}">
                <a16:creationId xmlns:a16="http://schemas.microsoft.com/office/drawing/2014/main" id="{B5F714B4-BBB1-45D5-A5C4-8D8BFFCF6117}"/>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759DBF76-FB5F-4288-9DFA-E25FBA96301F}"/>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7872AF3E-7D2E-486C-8493-4D9834AEE710}"/>
              </a:ext>
            </a:extLst>
          </p:cNvPr>
          <p:cNvSpPr>
            <a:spLocks xmlns:a="http://schemas.openxmlformats.org/drawingml/2006/main" noGrp="1"/>
          </p:cNvSpPr>
          <p:nvPr/>
        </p:nvSpPr>
        <p:spPr>
          <a:xfrm xmlns:a="http://schemas.openxmlformats.org/drawingml/2006/main">
            <a:off x="619125" y="18573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fₜ = σ(Wf xₜ + Uf hₜ₋₁ + bf)</a:t>
            </a:r>
          </a:p>
        </p:txBody>
      </p:sp>
      <p:sp>
        <p:nvSpPr>
          <p:cNvPr id="7" name="">
            <a:extLst xmlns:a="http://schemas.openxmlformats.org/drawingml/2006/main">
              <a:ext uri="{FF2B5EF4-FFF2-40B4-BE49-F238E27FC236}">
                <a16:creationId xmlns:a16="http://schemas.microsoft.com/office/drawing/2014/main" id="{3C3F4A14-217F-4F7E-93DA-EF920A3FDD2E}"/>
              </a:ext>
            </a:extLst>
          </p:cNvPr>
          <p:cNvSpPr>
            <a:spLocks xmlns:a="http://schemas.openxmlformats.org/drawingml/2006/main" noGrp="1"/>
          </p:cNvSpPr>
          <p:nvPr/>
        </p:nvSpPr>
        <p:spPr>
          <a:xfrm xmlns:a="http://schemas.openxmlformats.org/drawingml/2006/main">
            <a:off x="8096250" y="19240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Forget: retain old memory</a:t>
            </a:r>
          </a:p>
        </p:txBody>
      </p:sp>
      <p:sp>
        <p:nvSpPr>
          <p:cNvPr id="8" name="">
            <a:extLst xmlns:a="http://schemas.openxmlformats.org/drawingml/2006/main">
              <a:ext uri="{FF2B5EF4-FFF2-40B4-BE49-F238E27FC236}">
                <a16:creationId xmlns:a16="http://schemas.microsoft.com/office/drawing/2014/main" id="{66B0EE9D-7F1C-4E38-AA23-C3958754CF11}"/>
              </a:ext>
            </a:extLst>
          </p:cNvPr>
          <p:cNvSpPr>
            <a:spLocks xmlns:a="http://schemas.openxmlformats.org/drawingml/2006/main" noGrp="1"/>
          </p:cNvSpPr>
          <p:nvPr/>
        </p:nvSpPr>
        <p:spPr>
          <a:xfrm xmlns:a="http://schemas.openxmlformats.org/drawingml/2006/main">
            <a:off x="619125" y="24479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iₜ = σ(Wi xₜ + Ui hₜ₋₁ + bi)</a:t>
            </a:r>
          </a:p>
        </p:txBody>
      </p:sp>
      <p:sp>
        <p:nvSpPr>
          <p:cNvPr id="9" name="">
            <a:extLst xmlns:a="http://schemas.openxmlformats.org/drawingml/2006/main">
              <a:ext uri="{FF2B5EF4-FFF2-40B4-BE49-F238E27FC236}">
                <a16:creationId xmlns:a16="http://schemas.microsoft.com/office/drawing/2014/main" id="{12456225-4C24-4D56-B3FB-E7F3F3FF39FF}"/>
              </a:ext>
            </a:extLst>
          </p:cNvPr>
          <p:cNvSpPr>
            <a:spLocks xmlns:a="http://schemas.openxmlformats.org/drawingml/2006/main" noGrp="1"/>
          </p:cNvSpPr>
          <p:nvPr/>
        </p:nvSpPr>
        <p:spPr>
          <a:xfrm xmlns:a="http://schemas.openxmlformats.org/drawingml/2006/main">
            <a:off x="8096250" y="25146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Input: select new information</a:t>
            </a:r>
          </a:p>
        </p:txBody>
      </p:sp>
      <p:sp>
        <p:nvSpPr>
          <p:cNvPr id="10" name="">
            <a:extLst xmlns:a="http://schemas.openxmlformats.org/drawingml/2006/main">
              <a:ext uri="{FF2B5EF4-FFF2-40B4-BE49-F238E27FC236}">
                <a16:creationId xmlns:a16="http://schemas.microsoft.com/office/drawing/2014/main" id="{B128A330-15B0-483B-AFEE-B6484E695ED5}"/>
              </a:ext>
            </a:extLst>
          </p:cNvPr>
          <p:cNvSpPr>
            <a:spLocks xmlns:a="http://schemas.openxmlformats.org/drawingml/2006/main" noGrp="1"/>
          </p:cNvSpPr>
          <p:nvPr/>
        </p:nvSpPr>
        <p:spPr>
          <a:xfrm xmlns:a="http://schemas.openxmlformats.org/drawingml/2006/main">
            <a:off x="619125" y="30384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gₜ = tanh(Wg xₜ + Ug hₜ₋₁ + bg)</a:t>
            </a:r>
          </a:p>
        </p:txBody>
      </p:sp>
      <p:sp>
        <p:nvSpPr>
          <p:cNvPr id="11" name="">
            <a:extLst xmlns:a="http://schemas.openxmlformats.org/drawingml/2006/main">
              <a:ext uri="{FF2B5EF4-FFF2-40B4-BE49-F238E27FC236}">
                <a16:creationId xmlns:a16="http://schemas.microsoft.com/office/drawing/2014/main" id="{83B8935C-019D-45B3-A580-7C2242DFF9BB}"/>
              </a:ext>
            </a:extLst>
          </p:cNvPr>
          <p:cNvSpPr>
            <a:spLocks xmlns:a="http://schemas.openxmlformats.org/drawingml/2006/main" noGrp="1"/>
          </p:cNvSpPr>
          <p:nvPr/>
        </p:nvSpPr>
        <p:spPr>
          <a:xfrm xmlns:a="http://schemas.openxmlformats.org/drawingml/2006/main">
            <a:off x="8096250" y="31051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Candidate: propose an update</a:t>
            </a:r>
          </a:p>
        </p:txBody>
      </p:sp>
      <p:sp>
        <p:nvSpPr>
          <p:cNvPr id="12" name="">
            <a:extLst xmlns:a="http://schemas.openxmlformats.org/drawingml/2006/main">
              <a:ext uri="{FF2B5EF4-FFF2-40B4-BE49-F238E27FC236}">
                <a16:creationId xmlns:a16="http://schemas.microsoft.com/office/drawing/2014/main" id="{036773D0-7E36-4986-AEBA-4462B5451079}"/>
              </a:ext>
            </a:extLst>
          </p:cNvPr>
          <p:cNvSpPr>
            <a:spLocks xmlns:a="http://schemas.openxmlformats.org/drawingml/2006/main" noGrp="1"/>
          </p:cNvSpPr>
          <p:nvPr/>
        </p:nvSpPr>
        <p:spPr>
          <a:xfrm xmlns:a="http://schemas.openxmlformats.org/drawingml/2006/main">
            <a:off x="619125" y="36290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cₜ = fₜ ⊙ cₜ₋₁ + iₜ ⊙ gₜ</a:t>
            </a:r>
          </a:p>
        </p:txBody>
      </p:sp>
      <p:sp>
        <p:nvSpPr>
          <p:cNvPr id="13" name="">
            <a:extLst xmlns:a="http://schemas.openxmlformats.org/drawingml/2006/main">
              <a:ext uri="{FF2B5EF4-FFF2-40B4-BE49-F238E27FC236}">
                <a16:creationId xmlns:a16="http://schemas.microsoft.com/office/drawing/2014/main" id="{D34F9ABE-2761-4F50-9057-A904C9B4966B}"/>
              </a:ext>
            </a:extLst>
          </p:cNvPr>
          <p:cNvSpPr>
            <a:spLocks xmlns:a="http://schemas.openxmlformats.org/drawingml/2006/main" noGrp="1"/>
          </p:cNvSpPr>
          <p:nvPr/>
        </p:nvSpPr>
        <p:spPr>
          <a:xfrm xmlns:a="http://schemas.openxmlformats.org/drawingml/2006/main">
            <a:off x="8096250" y="36957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Memory: combine old and new</a:t>
            </a:r>
          </a:p>
        </p:txBody>
      </p:sp>
      <p:sp>
        <p:nvSpPr>
          <p:cNvPr id="14" name="">
            <a:extLst xmlns:a="http://schemas.openxmlformats.org/drawingml/2006/main">
              <a:ext uri="{FF2B5EF4-FFF2-40B4-BE49-F238E27FC236}">
                <a16:creationId xmlns:a16="http://schemas.microsoft.com/office/drawing/2014/main" id="{4846217D-C8BA-4E70-9DBC-4416CD813567}"/>
              </a:ext>
            </a:extLst>
          </p:cNvPr>
          <p:cNvSpPr>
            <a:spLocks xmlns:a="http://schemas.openxmlformats.org/drawingml/2006/main" noGrp="1"/>
          </p:cNvSpPr>
          <p:nvPr/>
        </p:nvSpPr>
        <p:spPr>
          <a:xfrm xmlns:a="http://schemas.openxmlformats.org/drawingml/2006/main">
            <a:off x="619125" y="42195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oₜ = σ(Wo xₜ + Uo hₜ₋₁ + bo)</a:t>
            </a:r>
          </a:p>
        </p:txBody>
      </p:sp>
      <p:sp>
        <p:nvSpPr>
          <p:cNvPr id="15" name="">
            <a:extLst xmlns:a="http://schemas.openxmlformats.org/drawingml/2006/main">
              <a:ext uri="{FF2B5EF4-FFF2-40B4-BE49-F238E27FC236}">
                <a16:creationId xmlns:a16="http://schemas.microsoft.com/office/drawing/2014/main" id="{A3B66610-8C9F-4D62-9689-36BEF3D4703C}"/>
              </a:ext>
            </a:extLst>
          </p:cNvPr>
          <p:cNvSpPr>
            <a:spLocks xmlns:a="http://schemas.openxmlformats.org/drawingml/2006/main" noGrp="1"/>
          </p:cNvSpPr>
          <p:nvPr/>
        </p:nvSpPr>
        <p:spPr>
          <a:xfrm xmlns:a="http://schemas.openxmlformats.org/drawingml/2006/main">
            <a:off x="8096250" y="42862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Output: control exposure</a:t>
            </a:r>
          </a:p>
        </p:txBody>
      </p:sp>
      <p:sp>
        <p:nvSpPr>
          <p:cNvPr id="16" name="">
            <a:extLst xmlns:a="http://schemas.openxmlformats.org/drawingml/2006/main">
              <a:ext uri="{FF2B5EF4-FFF2-40B4-BE49-F238E27FC236}">
                <a16:creationId xmlns:a16="http://schemas.microsoft.com/office/drawing/2014/main" id="{40C35E44-F3D0-4A5A-8132-B4293EC5AB60}"/>
              </a:ext>
            </a:extLst>
          </p:cNvPr>
          <p:cNvSpPr>
            <a:spLocks xmlns:a="http://schemas.openxmlformats.org/drawingml/2006/main" noGrp="1"/>
          </p:cNvSpPr>
          <p:nvPr/>
        </p:nvSpPr>
        <p:spPr>
          <a:xfrm xmlns:a="http://schemas.openxmlformats.org/drawingml/2006/main">
            <a:off x="619125" y="48101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hₜ = oₜ ⊙ tanh(cₜ)</a:t>
            </a:r>
          </a:p>
        </p:txBody>
      </p:sp>
      <p:sp>
        <p:nvSpPr>
          <p:cNvPr id="17" name="">
            <a:extLst xmlns:a="http://schemas.openxmlformats.org/drawingml/2006/main">
              <a:ext uri="{FF2B5EF4-FFF2-40B4-BE49-F238E27FC236}">
                <a16:creationId xmlns:a16="http://schemas.microsoft.com/office/drawing/2014/main" id="{C34A795F-CE36-416D-A2AC-C825C7C5D0F8}"/>
              </a:ext>
            </a:extLst>
          </p:cNvPr>
          <p:cNvSpPr>
            <a:spLocks xmlns:a="http://schemas.openxmlformats.org/drawingml/2006/main" noGrp="1"/>
          </p:cNvSpPr>
          <p:nvPr/>
        </p:nvSpPr>
        <p:spPr>
          <a:xfrm xmlns:a="http://schemas.openxmlformats.org/drawingml/2006/main">
            <a:off x="8096250" y="48768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Hidden state: feed the predictor</a:t>
            </a:r>
          </a:p>
        </p:txBody>
      </p:sp>
      <p:sp>
        <p:nvSpPr>
          <p:cNvPr id="18" name="">
            <a:extLst xmlns:a="http://schemas.openxmlformats.org/drawingml/2006/main">
              <a:ext uri="{FF2B5EF4-FFF2-40B4-BE49-F238E27FC236}">
                <a16:creationId xmlns:a16="http://schemas.microsoft.com/office/drawing/2014/main" id="{DFFEAECC-B461-41F5-9B14-FAF44505E09E}"/>
              </a:ext>
            </a:extLst>
          </p:cNvPr>
          <p:cNvSpPr>
            <a:spLocks xmlns:a="http://schemas.openxmlformats.org/drawingml/2006/main" noGrp="1"/>
          </p:cNvSpPr>
          <p:nvPr/>
        </p:nvSpPr>
        <p:spPr>
          <a:xfrm xmlns:a="http://schemas.openxmlformats.org/drawingml/2006/main">
            <a:off x="619125" y="56959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x: word embedding   h: hidden state   c: memory   σ: sigmoid   ⊙: element-wise product</a:t>
            </a:r>
          </a:p>
        </p:txBody>
      </p:sp>
    </p:spTree>
    <p:extLst>
      <p:ext uri="{BB962C8B-B14F-4D97-AF65-F5344CB8AC3E}">
        <p14:creationId xmlns:p14="http://schemas.microsoft.com/office/powerpoint/2010/main" val="163723561"/>
      </p:ext>
    </p:extLst>
  </p:cSld>
</p:sld>
</file>

<file path=ppt/slides/slide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A539D5-6FDE-400C-AA84-F50DCCA9A0EF}"/>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894371-19C0-4B65-AEBD-D5D7B1DE4A5A}"/>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PUBLISHED ARCHITECTURE</a:t>
            </a:r>
          </a:p>
        </p:txBody>
      </p:sp>
      <p:sp>
        <p:nvSpPr>
          <p:cNvPr id="3" name="">
            <a:extLst xmlns:a="http://schemas.openxmlformats.org/drawingml/2006/main">
              <a:ext uri="{FF2B5EF4-FFF2-40B4-BE49-F238E27FC236}">
                <a16:creationId xmlns:a16="http://schemas.microsoft.com/office/drawing/2014/main" id="{84806C47-720C-4729-96DD-A4939875F8E7}"/>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Original reference diagram of forward and backward recurrent processing</a:t>
            </a:r>
          </a:p>
        </p:txBody>
      </p:sp>
      <p:sp>
        <p:nvSpPr>
          <p:cNvPr id="4" name="">
            <a:extLst xmlns:a="http://schemas.openxmlformats.org/drawingml/2006/main">
              <a:ext uri="{FF2B5EF4-FFF2-40B4-BE49-F238E27FC236}">
                <a16:creationId xmlns:a16="http://schemas.microsoft.com/office/drawing/2014/main" id="{7A4555EC-3FD2-4450-B618-013BA1C1EE5E}"/>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DD758B6A-6053-4780-8537-71091B34C48F}"/>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08</a:t>
            </a:r>
          </a:p>
        </p:txBody>
      </p:sp>
      <p:pic>
        <p:nvPicPr>
          <p:cNvPr id="6" name="">
            <a:extLst xmlns:a="http://schemas.openxmlformats.org/drawingml/2006/main">
              <a:ext uri="{FF2B5EF4-FFF2-40B4-BE49-F238E27FC236}">
                <a16:creationId xmlns:a16="http://schemas.microsoft.com/office/drawing/2014/main" id="{02CBB861-7F91-4217-A88C-932F3C324B98}"/>
              </a:ext>
            </a:extLst>
          </p:cNvPr>
          <p:cNvPicPr>
            <a:picLocks xmlns:a="http://schemas.openxmlformats.org/drawingml/2006/main" noChangeAspect="1"/>
          </p:cNvPicPr>
          <p:nvPr/>
        </p:nvPicPr>
        <p:blipFill>
          <a:blip xmlns:r="http://schemas.openxmlformats.org/officeDocument/2006/relationships" xmlns:a="http://schemas.openxmlformats.org/drawingml/2006/main" r:embed="R164774d2d70f4100"/>
          <a:stretch xmlns:a="http://schemas.openxmlformats.org/drawingml/2006/main"/>
        </p:blipFill>
        <p:spPr>
          <a:xfrm xmlns:a="http://schemas.openxmlformats.org/drawingml/2006/main">
            <a:off x="658086" y="1809750"/>
            <a:ext cx="5732328"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5E97EC9-E9F2-4E14-99FB-B9250B9DE710}"/>
              </a:ext>
            </a:extLst>
          </p:cNvPr>
          <p:cNvSpPr>
            <a:spLocks xmlns:a="http://schemas.openxmlformats.org/drawingml/2006/main" noGrp="1"/>
          </p:cNvSpPr>
          <p:nvPr/>
        </p:nvSpPr>
        <p:spPr>
          <a:xfrm xmlns:a="http://schemas.openxmlformats.org/drawingml/2006/main">
            <a:off x="7000875" y="20002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Forward branch</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Processes the prefix in its original order.</a:t>
            </a:r>
          </a:p>
        </p:txBody>
      </p:sp>
      <p:sp>
        <p:nvSpPr>
          <p:cNvPr id="8" name="">
            <a:extLst xmlns:a="http://schemas.openxmlformats.org/drawingml/2006/main">
              <a:ext uri="{FF2B5EF4-FFF2-40B4-BE49-F238E27FC236}">
                <a16:creationId xmlns:a16="http://schemas.microsoft.com/office/drawing/2014/main" id="{132BD0EF-6D7A-4445-950A-E414A97D99C9}"/>
              </a:ext>
            </a:extLst>
          </p:cNvPr>
          <p:cNvSpPr>
            <a:spLocks xmlns:a="http://schemas.openxmlformats.org/drawingml/2006/main" noGrp="1"/>
          </p:cNvSpPr>
          <p:nvPr/>
        </p:nvSpPr>
        <p:spPr>
          <a:xfrm xmlns:a="http://schemas.openxmlformats.org/drawingml/2006/main">
            <a:off x="7000875" y="31432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Backward branch</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Processes that same prefix in reverse.</a:t>
            </a:r>
          </a:p>
        </p:txBody>
      </p:sp>
      <p:sp>
        <p:nvSpPr>
          <p:cNvPr id="9" name="">
            <a:extLst xmlns:a="http://schemas.openxmlformats.org/drawingml/2006/main">
              <a:ext uri="{FF2B5EF4-FFF2-40B4-BE49-F238E27FC236}">
                <a16:creationId xmlns:a16="http://schemas.microsoft.com/office/drawing/2014/main" id="{8DDD0AEF-C6FC-4C0C-80D8-F8A2D10760A3}"/>
              </a:ext>
            </a:extLst>
          </p:cNvPr>
          <p:cNvSpPr>
            <a:spLocks xmlns:a="http://schemas.openxmlformats.org/drawingml/2006/main" noGrp="1"/>
          </p:cNvSpPr>
          <p:nvPr/>
        </p:nvSpPr>
        <p:spPr>
          <a:xfrm xmlns:a="http://schemas.openxmlformats.org/drawingml/2006/main">
            <a:off x="7000875" y="4286250"/>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Our project</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Combines terminal states to predict one next word. The target stays unseen.</a:t>
            </a:r>
          </a:p>
        </p:txBody>
      </p:sp>
      <p:sp>
        <p:nvSpPr>
          <p:cNvPr id="10" name="">
            <a:extLst xmlns:a="http://schemas.openxmlformats.org/drawingml/2006/main">
              <a:ext uri="{FF2B5EF4-FFF2-40B4-BE49-F238E27FC236}">
                <a16:creationId xmlns:a16="http://schemas.microsoft.com/office/drawing/2014/main" id="{205D12FF-E67C-4CDC-A720-F2F29F299B8E}"/>
              </a:ext>
            </a:extLst>
          </p:cNvPr>
          <p:cNvSpPr>
            <a:spLocks xmlns:a="http://schemas.openxmlformats.org/drawingml/2006/main" noGrp="1"/>
          </p:cNvSpPr>
          <p:nvPr/>
        </p:nvSpPr>
        <p:spPr>
          <a:xfrm xmlns:a="http://schemas.openxmlformats.org/drawingml/2006/main">
            <a:off x="571500" y="585787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456052"/>
                </a:solidFill>
                <a:latin typeface="Arial"/>
                <a:ea typeface="Arial"/>
                <a:cs typeface="Arial"/>
              </a:defRPr>
            </a:defPPr>
          </a:lstStyle>
          <a:p xmlns:a="http://schemas.openxmlformats.org/drawingml/2006/main">
            <a:pPr>
              <a:defRPr sz="1350" b="0">
                <a:solidFill>
                  <a:srgbClr val="456052"/>
                </a:solidFill>
                <a:latin typeface="Arial"/>
                <a:ea typeface="Arial"/>
                <a:cs typeface="Arial"/>
              </a:defRPr>
            </a:pPr>
            <a:r>
              <a:rPr sz="1350" b="0">
                <a:solidFill>
                  <a:srgbClr val="456052"/>
                </a:solidFill>
                <a:latin typeface="Arial"/>
                <a:ea typeface="Arial"/>
                <a:cs typeface="Arial"/>
              </a:rPr>
              <a:t>Image: Applied Sciences 11(17), 8129 (2021), Figure 3. Unmodified.</a:t>
            </a:r>
          </a:p>
        </p:txBody>
      </p:sp>
    </p:spTree>
    <p:extLst>
      <p:ext uri="{BB962C8B-B14F-4D97-AF65-F5344CB8AC3E}">
        <p14:creationId xmlns:p14="http://schemas.microsoft.com/office/powerpoint/2010/main" val="181203319"/>
      </p:ext>
    </p:extLst>
  </p:cSld>
</p:sld>
</file>

<file path=ppt/slides/slide9.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E8BED38-D272-41D4-BE75-33530F3B289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A7BAA9-105F-4AEF-87C6-32D9F46E7F61}"/>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ARCHITECTURE</a:t>
            </a:r>
          </a:p>
        </p:txBody>
      </p:sp>
      <p:sp>
        <p:nvSpPr>
          <p:cNvPr id="3" name="">
            <a:extLst xmlns:a="http://schemas.openxmlformats.org/drawingml/2006/main">
              <a:ext uri="{FF2B5EF4-FFF2-40B4-BE49-F238E27FC236}">
                <a16:creationId xmlns:a16="http://schemas.microsoft.com/office/drawing/2014/main" id="{2DB4ED71-8D27-496B-B2F2-82C61E427C9B}"/>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Two directions process the same observed prefix</a:t>
            </a:r>
          </a:p>
        </p:txBody>
      </p:sp>
      <p:sp>
        <p:nvSpPr>
          <p:cNvPr id="4" name="">
            <a:extLst xmlns:a="http://schemas.openxmlformats.org/drawingml/2006/main">
              <a:ext uri="{FF2B5EF4-FFF2-40B4-BE49-F238E27FC236}">
                <a16:creationId xmlns:a16="http://schemas.microsoft.com/office/drawing/2014/main" id="{021E7D8A-1927-4A5C-9201-CE9C49AA3901}"/>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781EEC1D-D644-4DED-BC5E-C973CEABEA2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600D40F5-6A29-4D5A-80BF-80D2A751BBBA}"/>
              </a:ext>
            </a:extLst>
          </p:cNvPr>
          <p:cNvSpPr>
            <a:spLocks xmlns:a="http://schemas.openxmlformats.org/drawingml/2006/main" noGrp="1"/>
          </p:cNvSpPr>
          <p:nvPr/>
        </p:nvSpPr>
        <p:spPr>
          <a:xfrm xmlns:a="http://schemas.openxmlformats.org/drawingml/2006/main">
            <a:off x="571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5DF410A1-2838-41F6-AF93-DD5F2B04784B}"/>
              </a:ext>
            </a:extLst>
          </p:cNvPr>
          <p:cNvSpPr>
            <a:spLocks xmlns:a="http://schemas.openxmlformats.org/drawingml/2006/main" noGrp="1"/>
          </p:cNvSpPr>
          <p:nvPr/>
        </p:nvSpPr>
        <p:spPr>
          <a:xfrm xmlns:a="http://schemas.openxmlformats.org/drawingml/2006/main">
            <a:off x="647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430694F2-EE08-42E8-B282-EC26138BCDE9}"/>
              </a:ext>
            </a:extLst>
          </p:cNvPr>
          <p:cNvSpPr>
            <a:spLocks xmlns:a="http://schemas.openxmlformats.org/drawingml/2006/main" noGrp="1"/>
          </p:cNvSpPr>
          <p:nvPr/>
        </p:nvSpPr>
        <p:spPr>
          <a:xfrm xmlns:a="http://schemas.openxmlformats.org/drawingml/2006/main">
            <a:off x="285750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B9A923-734F-45C0-B360-E9D297FA5B5C}"/>
              </a:ext>
            </a:extLst>
          </p:cNvPr>
          <p:cNvSpPr>
            <a:spLocks xmlns:a="http://schemas.openxmlformats.org/drawingml/2006/main" noGrp="1"/>
          </p:cNvSpPr>
          <p:nvPr/>
        </p:nvSpPr>
        <p:spPr>
          <a:xfrm xmlns:a="http://schemas.openxmlformats.org/drawingml/2006/main">
            <a:off x="31432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BCF53E7-498B-46DF-A070-A0E829073481}"/>
              </a:ext>
            </a:extLst>
          </p:cNvPr>
          <p:cNvSpPr>
            <a:spLocks xmlns:a="http://schemas.openxmlformats.org/drawingml/2006/main" noGrp="1"/>
          </p:cNvSpPr>
          <p:nvPr/>
        </p:nvSpPr>
        <p:spPr>
          <a:xfrm xmlns:a="http://schemas.openxmlformats.org/drawingml/2006/main">
            <a:off x="314325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2A92DB0-7ACB-4F1E-BBDF-F135ED52B98F}"/>
              </a:ext>
            </a:extLst>
          </p:cNvPr>
          <p:cNvSpPr>
            <a:spLocks xmlns:a="http://schemas.openxmlformats.org/drawingml/2006/main" noGrp="1"/>
          </p:cNvSpPr>
          <p:nvPr/>
        </p:nvSpPr>
        <p:spPr>
          <a:xfrm xmlns:a="http://schemas.openxmlformats.org/drawingml/2006/main">
            <a:off x="314325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9E9B7E6-B27C-4536-8860-229F3C4D6D6C}"/>
              </a:ext>
            </a:extLst>
          </p:cNvPr>
          <p:cNvSpPr>
            <a:spLocks xmlns:a="http://schemas.openxmlformats.org/drawingml/2006/main" noGrp="1"/>
          </p:cNvSpPr>
          <p:nvPr/>
        </p:nvSpPr>
        <p:spPr>
          <a:xfrm xmlns:a="http://schemas.openxmlformats.org/drawingml/2006/main">
            <a:off x="3429000" y="209550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62407C3B-1639-448C-82A9-4875918D9BC3}"/>
              </a:ext>
            </a:extLst>
          </p:cNvPr>
          <p:cNvSpPr>
            <a:spLocks xmlns:a="http://schemas.openxmlformats.org/drawingml/2006/main" noGrp="1"/>
          </p:cNvSpPr>
          <p:nvPr/>
        </p:nvSpPr>
        <p:spPr>
          <a:xfrm xmlns:a="http://schemas.openxmlformats.org/drawingml/2006/main">
            <a:off x="3505200" y="22669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Forward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4" name="">
            <a:extLst xmlns:a="http://schemas.openxmlformats.org/drawingml/2006/main">
              <a:ext uri="{FF2B5EF4-FFF2-40B4-BE49-F238E27FC236}">
                <a16:creationId xmlns:a16="http://schemas.microsoft.com/office/drawing/2014/main" id="{A5AA1114-AA6F-4B06-B5EE-9B082B3F1E0E}"/>
              </a:ext>
            </a:extLst>
          </p:cNvPr>
          <p:cNvSpPr>
            <a:spLocks xmlns:a="http://schemas.openxmlformats.org/drawingml/2006/main" noGrp="1"/>
          </p:cNvSpPr>
          <p:nvPr/>
        </p:nvSpPr>
        <p:spPr>
          <a:xfrm xmlns:a="http://schemas.openxmlformats.org/drawingml/2006/main">
            <a:off x="3429000" y="3714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A754F4BA-A45C-4955-84EA-AE46C2905B9D}"/>
              </a:ext>
            </a:extLst>
          </p:cNvPr>
          <p:cNvSpPr>
            <a:spLocks xmlns:a="http://schemas.openxmlformats.org/drawingml/2006/main" noGrp="1"/>
          </p:cNvSpPr>
          <p:nvPr/>
        </p:nvSpPr>
        <p:spPr>
          <a:xfrm xmlns:a="http://schemas.openxmlformats.org/drawingml/2006/main">
            <a:off x="3505200" y="3886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Reverse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6" name="">
            <a:extLst xmlns:a="http://schemas.openxmlformats.org/drawingml/2006/main">
              <a:ext uri="{FF2B5EF4-FFF2-40B4-BE49-F238E27FC236}">
                <a16:creationId xmlns:a16="http://schemas.microsoft.com/office/drawing/2014/main" id="{84B37D05-8CD9-430F-90E4-273E9515D217}"/>
              </a:ext>
            </a:extLst>
          </p:cNvPr>
          <p:cNvSpPr>
            <a:spLocks xmlns:a="http://schemas.openxmlformats.org/drawingml/2006/main" noGrp="1"/>
          </p:cNvSpPr>
          <p:nvPr/>
        </p:nvSpPr>
        <p:spPr>
          <a:xfrm xmlns:a="http://schemas.openxmlformats.org/drawingml/2006/main">
            <a:off x="571500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7CB6E9F-B01D-4097-81AF-EE5D9BCABD91}"/>
              </a:ext>
            </a:extLst>
          </p:cNvPr>
          <p:cNvSpPr>
            <a:spLocks xmlns:a="http://schemas.openxmlformats.org/drawingml/2006/main" noGrp="1"/>
          </p:cNvSpPr>
          <p:nvPr/>
        </p:nvSpPr>
        <p:spPr>
          <a:xfrm xmlns:a="http://schemas.openxmlformats.org/drawingml/2006/main">
            <a:off x="571500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01F8943-BAA5-4A57-A419-91D515ABF555}"/>
              </a:ext>
            </a:extLst>
          </p:cNvPr>
          <p:cNvSpPr>
            <a:spLocks xmlns:a="http://schemas.openxmlformats.org/drawingml/2006/main" noGrp="1"/>
          </p:cNvSpPr>
          <p:nvPr/>
        </p:nvSpPr>
        <p:spPr>
          <a:xfrm xmlns:a="http://schemas.openxmlformats.org/drawingml/2006/main">
            <a:off x="60007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7DA933C-5185-430B-88F2-5DF31C77ACEB}"/>
              </a:ext>
            </a:extLst>
          </p:cNvPr>
          <p:cNvSpPr>
            <a:spLocks xmlns:a="http://schemas.openxmlformats.org/drawingml/2006/main" noGrp="1"/>
          </p:cNvSpPr>
          <p:nvPr/>
        </p:nvSpPr>
        <p:spPr>
          <a:xfrm xmlns:a="http://schemas.openxmlformats.org/drawingml/2006/main">
            <a:off x="600075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81C89D8-922B-4945-9CB1-72734C678859}"/>
              </a:ext>
            </a:extLst>
          </p:cNvPr>
          <p:cNvSpPr>
            <a:spLocks xmlns:a="http://schemas.openxmlformats.org/drawingml/2006/main" noGrp="1"/>
          </p:cNvSpPr>
          <p:nvPr/>
        </p:nvSpPr>
        <p:spPr>
          <a:xfrm xmlns:a="http://schemas.openxmlformats.org/drawingml/2006/main">
            <a:off x="6286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823CF9AF-779C-4139-AF18-0BE8EAE809B4}"/>
              </a:ext>
            </a:extLst>
          </p:cNvPr>
          <p:cNvSpPr>
            <a:spLocks xmlns:a="http://schemas.openxmlformats.org/drawingml/2006/main" noGrp="1"/>
          </p:cNvSpPr>
          <p:nvPr/>
        </p:nvSpPr>
        <p:spPr>
          <a:xfrm xmlns:a="http://schemas.openxmlformats.org/drawingml/2006/main">
            <a:off x="6362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Concatenate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256 dimensions</a:t>
            </a:r>
          </a:p>
        </p:txBody>
      </p:sp>
      <p:sp>
        <p:nvSpPr>
          <p:cNvPr id="22" name="">
            <a:extLst xmlns:a="http://schemas.openxmlformats.org/drawingml/2006/main">
              <a:ext uri="{FF2B5EF4-FFF2-40B4-BE49-F238E27FC236}">
                <a16:creationId xmlns:a16="http://schemas.microsoft.com/office/drawing/2014/main" id="{AF2C8E90-493D-41CC-857F-0A4952423FFD}"/>
              </a:ext>
            </a:extLst>
          </p:cNvPr>
          <p:cNvSpPr>
            <a:spLocks xmlns:a="http://schemas.openxmlformats.org/drawingml/2006/main" noGrp="1"/>
          </p:cNvSpPr>
          <p:nvPr/>
        </p:nvSpPr>
        <p:spPr>
          <a:xfrm xmlns:a="http://schemas.openxmlformats.org/drawingml/2006/main">
            <a:off x="866775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3" name="">
            <a:extLst xmlns:a="http://schemas.openxmlformats.org/drawingml/2006/main">
              <a:ext uri="{FF2B5EF4-FFF2-40B4-BE49-F238E27FC236}">
                <a16:creationId xmlns:a16="http://schemas.microsoft.com/office/drawing/2014/main" id="{4617ACA8-400C-4B21-B219-0350D90C1BD5}"/>
              </a:ext>
            </a:extLst>
          </p:cNvPr>
          <p:cNvSpPr>
            <a:spLocks xmlns:a="http://schemas.openxmlformats.org/drawingml/2006/main" noGrp="1"/>
          </p:cNvSpPr>
          <p:nvPr/>
        </p:nvSpPr>
        <p:spPr>
          <a:xfrm xmlns:a="http://schemas.openxmlformats.org/drawingml/2006/main">
            <a:off x="91440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39BA654B-8FA5-47AA-B157-4D9BBF47D6C9}"/>
              </a:ext>
            </a:extLst>
          </p:cNvPr>
          <p:cNvSpPr>
            <a:spLocks xmlns:a="http://schemas.openxmlformats.org/drawingml/2006/main" noGrp="1"/>
          </p:cNvSpPr>
          <p:nvPr/>
        </p:nvSpPr>
        <p:spPr>
          <a:xfrm xmlns:a="http://schemas.openxmlformats.org/drawingml/2006/main">
            <a:off x="92202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25" name="">
            <a:extLst xmlns:a="http://schemas.openxmlformats.org/drawingml/2006/main">
              <a:ext uri="{FF2B5EF4-FFF2-40B4-BE49-F238E27FC236}">
                <a16:creationId xmlns:a16="http://schemas.microsoft.com/office/drawing/2014/main" id="{AC8DB9D9-7283-412C-AE25-296B09F418FE}"/>
              </a:ext>
            </a:extLst>
          </p:cNvPr>
          <p:cNvSpPr>
            <a:spLocks xmlns:a="http://schemas.openxmlformats.org/drawingml/2006/main" noGrp="1"/>
          </p:cNvSpPr>
          <p:nvPr/>
        </p:nvSpPr>
        <p:spPr>
          <a:xfrm xmlns:a="http://schemas.openxmlformats.org/drawingml/2006/main">
            <a:off x="619125" y="4905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344E41"/>
                </a:solidFill>
                <a:latin typeface="Cambria"/>
                <a:ea typeface="Cambria"/>
                <a:cs typeface="Cambria"/>
              </a:defRPr>
            </a:defPPr>
          </a:lstStyle>
          <a:p xmlns:a="http://schemas.openxmlformats.org/drawingml/2006/main">
            <a:pPr>
              <a:defRPr sz="2550" b="0">
                <a:solidFill>
                  <a:srgbClr val="344E41"/>
                </a:solidFill>
                <a:latin typeface="Cambria"/>
                <a:ea typeface="Cambria"/>
                <a:cs typeface="Cambria"/>
              </a:defRPr>
            </a:pPr>
            <a:r>
              <a:rPr sz="2550" b="0">
                <a:solidFill>
                  <a:srgbClr val="344E41"/>
                </a:solidFill>
                <a:latin typeface="Cambria"/>
                <a:ea typeface="Cambria"/>
                <a:cs typeface="Cambria"/>
              </a:rPr>
              <a:t>h = concat(hforward, hreverse)</a:t>
            </a:r>
          </a:p>
        </p:txBody>
      </p:sp>
      <p:sp>
        <p:nvSpPr>
          <p:cNvPr id="26" name="">
            <a:extLst xmlns:a="http://schemas.openxmlformats.org/drawingml/2006/main">
              <a:ext uri="{FF2B5EF4-FFF2-40B4-BE49-F238E27FC236}">
                <a16:creationId xmlns:a16="http://schemas.microsoft.com/office/drawing/2014/main" id="{B714F8E9-07C3-454A-888C-EDE0980F0B4B}"/>
              </a:ext>
            </a:extLst>
          </p:cNvPr>
          <p:cNvSpPr>
            <a:spLocks xmlns:a="http://schemas.openxmlformats.org/drawingml/2006/main" noGrp="1"/>
          </p:cNvSpPr>
          <p:nvPr/>
        </p:nvSpPr>
        <p:spPr>
          <a:xfrm xmlns:a="http://schemas.openxmlformats.org/drawingml/2006/main">
            <a:off x="619125" y="5600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Neither direction sees the target word. Test top-1 accuracy: 18.82%.</a:t>
            </a:r>
          </a:p>
        </p:txBody>
      </p:sp>
    </p:spTree>
    <p:extLst>
      <p:ext uri="{BB962C8B-B14F-4D97-AF65-F5344CB8AC3E}">
        <p14:creationId xmlns:p14="http://schemas.microsoft.com/office/powerpoint/2010/main" val="1759491798"/>
      </p:ext>
    </p:extLst>
  </p:cSld>
</p:sld>
</file>

<file path=ppt/slides/slide10.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5C2C4D7-32D1-4174-B80C-BA332CE2DAA7}"/>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25D985-54F9-4990-A371-9DFF9B170BF0}"/>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WORD CNN ARCHITECTURE</a:t>
            </a:r>
          </a:p>
        </p:txBody>
      </p:sp>
      <p:sp>
        <p:nvSpPr>
          <p:cNvPr id="3" name="">
            <a:extLst xmlns:a="http://schemas.openxmlformats.org/drawingml/2006/main">
              <a:ext uri="{FF2B5EF4-FFF2-40B4-BE49-F238E27FC236}">
                <a16:creationId xmlns:a16="http://schemas.microsoft.com/office/drawing/2014/main" id="{2E246551-92A8-430C-AEAD-AE51D76DD098}"/>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Gated causal convolutions over word embeddings</a:t>
            </a:r>
          </a:p>
        </p:txBody>
      </p:sp>
      <p:sp>
        <p:nvSpPr>
          <p:cNvPr id="4" name="">
            <a:extLst xmlns:a="http://schemas.openxmlformats.org/drawingml/2006/main">
              <a:ext uri="{FF2B5EF4-FFF2-40B4-BE49-F238E27FC236}">
                <a16:creationId xmlns:a16="http://schemas.microsoft.com/office/drawing/2014/main" id="{ECA7F918-FCE6-4D67-91FA-0FCEB01D5177}"/>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BAE3CCB9-F070-4A7B-9277-1B660D08C39E}"/>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F8F3585F-435E-40E8-9E02-B4C1F1B58A42}"/>
              </a:ext>
            </a:extLst>
          </p:cNvPr>
          <p:cNvSpPr>
            <a:spLocks xmlns:a="http://schemas.openxmlformats.org/drawingml/2006/main" noGrp="1"/>
          </p:cNvSpPr>
          <p:nvPr/>
        </p:nvSpPr>
        <p:spPr>
          <a:xfrm xmlns:a="http://schemas.openxmlformats.org/drawingml/2006/main">
            <a:off x="5715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BA55DC16-B4CB-4E4A-A712-6674D5601ACA}"/>
              </a:ext>
            </a:extLst>
          </p:cNvPr>
          <p:cNvSpPr>
            <a:spLocks xmlns:a="http://schemas.openxmlformats.org/drawingml/2006/main" noGrp="1"/>
          </p:cNvSpPr>
          <p:nvPr/>
        </p:nvSpPr>
        <p:spPr>
          <a:xfrm xmlns:a="http://schemas.openxmlformats.org/drawingml/2006/main">
            <a:off x="647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4175D9AE-1066-4496-BAB2-EEEB1CF2A47B}"/>
              </a:ext>
            </a:extLst>
          </p:cNvPr>
          <p:cNvSpPr>
            <a:spLocks xmlns:a="http://schemas.openxmlformats.org/drawingml/2006/main" noGrp="1"/>
          </p:cNvSpPr>
          <p:nvPr/>
        </p:nvSpPr>
        <p:spPr>
          <a:xfrm xmlns:a="http://schemas.openxmlformats.org/drawingml/2006/main">
            <a:off x="2952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38AC257C-83B5-4C70-9AB6-87C1814317FE}"/>
              </a:ext>
            </a:extLst>
          </p:cNvPr>
          <p:cNvSpPr>
            <a:spLocks xmlns:a="http://schemas.openxmlformats.org/drawingml/2006/main" noGrp="1"/>
          </p:cNvSpPr>
          <p:nvPr/>
        </p:nvSpPr>
        <p:spPr>
          <a:xfrm xmlns:a="http://schemas.openxmlformats.org/drawingml/2006/main">
            <a:off x="3429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2F1FF980-B025-4B57-8E15-43FD81846E7B}"/>
              </a:ext>
            </a:extLst>
          </p:cNvPr>
          <p:cNvSpPr>
            <a:spLocks xmlns:a="http://schemas.openxmlformats.org/drawingml/2006/main" noGrp="1"/>
          </p:cNvSpPr>
          <p:nvPr/>
        </p:nvSpPr>
        <p:spPr>
          <a:xfrm xmlns:a="http://schemas.openxmlformats.org/drawingml/2006/main">
            <a:off x="3505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1×1 projection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128 channels</a:t>
            </a:r>
          </a:p>
        </p:txBody>
      </p:sp>
      <p:sp>
        <p:nvSpPr>
          <p:cNvPr id="11" name="">
            <a:extLst xmlns:a="http://schemas.openxmlformats.org/drawingml/2006/main">
              <a:ext uri="{FF2B5EF4-FFF2-40B4-BE49-F238E27FC236}">
                <a16:creationId xmlns:a16="http://schemas.microsoft.com/office/drawing/2014/main" id="{7C1FD97E-1275-4437-B9AD-9C7EFC8D4CE7}"/>
              </a:ext>
            </a:extLst>
          </p:cNvPr>
          <p:cNvSpPr>
            <a:spLocks xmlns:a="http://schemas.openxmlformats.org/drawingml/2006/main" noGrp="1"/>
          </p:cNvSpPr>
          <p:nvPr/>
        </p:nvSpPr>
        <p:spPr>
          <a:xfrm xmlns:a="http://schemas.openxmlformats.org/drawingml/2006/main">
            <a:off x="58102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1E629427-2609-41D3-81A0-552B9879F588}"/>
              </a:ext>
            </a:extLst>
          </p:cNvPr>
          <p:cNvSpPr>
            <a:spLocks xmlns:a="http://schemas.openxmlformats.org/drawingml/2006/main" noGrp="1"/>
          </p:cNvSpPr>
          <p:nvPr/>
        </p:nvSpPr>
        <p:spPr>
          <a:xfrm xmlns:a="http://schemas.openxmlformats.org/drawingml/2006/main">
            <a:off x="6286500" y="2238375"/>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389004CF-9FC4-49C8-9895-9957245ECCA0}"/>
              </a:ext>
            </a:extLst>
          </p:cNvPr>
          <p:cNvSpPr>
            <a:spLocks xmlns:a="http://schemas.openxmlformats.org/drawingml/2006/main" noGrp="1"/>
          </p:cNvSpPr>
          <p:nvPr/>
        </p:nvSpPr>
        <p:spPr>
          <a:xfrm xmlns:a="http://schemas.openxmlformats.org/drawingml/2006/main">
            <a:off x="6362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3 causal blocks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Dilations 1, 2, 4</a:t>
            </a:r>
          </a:p>
        </p:txBody>
      </p:sp>
      <p:sp>
        <p:nvSpPr>
          <p:cNvPr id="14" name="">
            <a:extLst xmlns:a="http://schemas.openxmlformats.org/drawingml/2006/main">
              <a:ext uri="{FF2B5EF4-FFF2-40B4-BE49-F238E27FC236}">
                <a16:creationId xmlns:a16="http://schemas.microsoft.com/office/drawing/2014/main" id="{FB966F5C-E11A-4120-BCD4-013B2F42B5D3}"/>
              </a:ext>
            </a:extLst>
          </p:cNvPr>
          <p:cNvSpPr>
            <a:spLocks xmlns:a="http://schemas.openxmlformats.org/drawingml/2006/main" noGrp="1"/>
          </p:cNvSpPr>
          <p:nvPr/>
        </p:nvSpPr>
        <p:spPr>
          <a:xfrm xmlns:a="http://schemas.openxmlformats.org/drawingml/2006/main">
            <a:off x="8667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EAF02A81-1C72-48E0-8333-5B481FF2BCD3}"/>
              </a:ext>
            </a:extLst>
          </p:cNvPr>
          <p:cNvSpPr>
            <a:spLocks xmlns:a="http://schemas.openxmlformats.org/drawingml/2006/main" noGrp="1"/>
          </p:cNvSpPr>
          <p:nvPr/>
        </p:nvSpPr>
        <p:spPr>
          <a:xfrm xmlns:a="http://schemas.openxmlformats.org/drawingml/2006/main">
            <a:off x="9144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105C112F-9323-4016-A280-3108B7285E55}"/>
              </a:ext>
            </a:extLst>
          </p:cNvPr>
          <p:cNvSpPr>
            <a:spLocks xmlns:a="http://schemas.openxmlformats.org/drawingml/2006/main" noGrp="1"/>
          </p:cNvSpPr>
          <p:nvPr/>
        </p:nvSpPr>
        <p:spPr>
          <a:xfrm xmlns:a="http://schemas.openxmlformats.org/drawingml/2006/main">
            <a:off x="9220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Final position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p:txBody>
      </p:sp>
      <p:sp>
        <p:nvSpPr>
          <p:cNvPr id="17" name="">
            <a:extLst xmlns:a="http://schemas.openxmlformats.org/drawingml/2006/main">
              <a:ext uri="{FF2B5EF4-FFF2-40B4-BE49-F238E27FC236}">
                <a16:creationId xmlns:a16="http://schemas.microsoft.com/office/drawing/2014/main" id="{CEAAB447-3F9D-40EA-8040-DB4C345882E2}"/>
              </a:ext>
            </a:extLst>
          </p:cNvPr>
          <p:cNvSpPr>
            <a:spLocks xmlns:a="http://schemas.openxmlformats.org/drawingml/2006/main" noGrp="1"/>
          </p:cNvSpPr>
          <p:nvPr/>
        </p:nvSpPr>
        <p:spPr>
          <a:xfrm xmlns:a="http://schemas.openxmlformats.org/drawingml/2006/main">
            <a:off x="619125" y="3762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 = (h + v ⊙ σ(u)) / √2</a:t>
            </a:r>
          </a:p>
        </p:txBody>
      </p:sp>
      <p:sp>
        <p:nvSpPr>
          <p:cNvPr id="18" name="">
            <a:extLst xmlns:a="http://schemas.openxmlformats.org/drawingml/2006/main">
              <a:ext uri="{FF2B5EF4-FFF2-40B4-BE49-F238E27FC236}">
                <a16:creationId xmlns:a16="http://schemas.microsoft.com/office/drawing/2014/main" id="{555F0C9D-7FAC-41D0-A874-138A38CA62C5}"/>
              </a:ext>
            </a:extLst>
          </p:cNvPr>
          <p:cNvSpPr>
            <a:spLocks xmlns:a="http://schemas.openxmlformats.org/drawingml/2006/main" noGrp="1"/>
          </p:cNvSpPr>
          <p:nvPr/>
        </p:nvSpPr>
        <p:spPr>
          <a:xfrm xmlns:a="http://schemas.openxmlformats.org/drawingml/2006/main">
            <a:off x="619125" y="47148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Kernel size 3. Left padding prevents access to later input positions.</a:t>
            </a:r>
          </a:p>
        </p:txBody>
      </p:sp>
      <p:sp>
        <p:nvSpPr>
          <p:cNvPr id="19" name="">
            <a:extLst xmlns:a="http://schemas.openxmlformats.org/drawingml/2006/main">
              <a:ext uri="{FF2B5EF4-FFF2-40B4-BE49-F238E27FC236}">
                <a16:creationId xmlns:a16="http://schemas.microsoft.com/office/drawing/2014/main" id="{65B93409-2985-4C07-83B9-9688B151FDF4}"/>
              </a:ext>
            </a:extLst>
          </p:cNvPr>
          <p:cNvSpPr>
            <a:spLocks xmlns:a="http://schemas.openxmlformats.org/drawingml/2006/main" noGrp="1"/>
          </p:cNvSpPr>
          <p:nvPr/>
        </p:nvSpPr>
        <p:spPr>
          <a:xfrm xmlns:a="http://schemas.openxmlformats.org/drawingml/2006/main">
            <a:off x="619125" y="5572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receptive field covers the eight-word context. Test top-1: 17.67%.</a:t>
            </a:r>
          </a:p>
        </p:txBody>
      </p:sp>
    </p:spTree>
    <p:extLst>
      <p:ext uri="{BB962C8B-B14F-4D97-AF65-F5344CB8AC3E}">
        <p14:creationId xmlns:p14="http://schemas.microsoft.com/office/powerpoint/2010/main" val="436366831"/>
      </p:ext>
    </p:extLst>
  </p:cSld>
</p:sld>
</file>

<file path=ppt/slides/slide1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3A6D0FA-1F30-4C80-9E5E-BA441500C20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AE91AB-8D3F-4C4F-A033-0CE44B59F127}"/>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GATED WORD–CHARACTER CNN</a:t>
            </a:r>
          </a:p>
        </p:txBody>
      </p:sp>
      <p:sp>
        <p:nvSpPr>
          <p:cNvPr id="3" name="">
            <a:extLst xmlns:a="http://schemas.openxmlformats.org/drawingml/2006/main">
              <a:ext uri="{FF2B5EF4-FFF2-40B4-BE49-F238E27FC236}">
                <a16:creationId xmlns:a16="http://schemas.microsoft.com/office/drawing/2014/main" id="{2888B53F-8027-4BAA-BB98-F4E8961E0F0D}"/>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Learned fusion of whole-word and spelling representations</a:t>
            </a:r>
          </a:p>
        </p:txBody>
      </p:sp>
      <p:sp>
        <p:nvSpPr>
          <p:cNvPr id="4" name="">
            <a:extLst xmlns:a="http://schemas.openxmlformats.org/drawingml/2006/main">
              <a:ext uri="{FF2B5EF4-FFF2-40B4-BE49-F238E27FC236}">
                <a16:creationId xmlns:a16="http://schemas.microsoft.com/office/drawing/2014/main" id="{AF7C1720-9032-4AB3-B800-DDD38952A22A}"/>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56AAA6A6-18B7-4160-B5BB-D6CB7C88BE87}"/>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76B29A7A-5E3B-44B4-9F9A-92AB20AB617A}"/>
              </a:ext>
            </a:extLst>
          </p:cNvPr>
          <p:cNvSpPr>
            <a:spLocks xmlns:a="http://schemas.openxmlformats.org/drawingml/2006/main" noGrp="1"/>
          </p:cNvSpPr>
          <p:nvPr/>
        </p:nvSpPr>
        <p:spPr>
          <a:xfrm xmlns:a="http://schemas.openxmlformats.org/drawingml/2006/main">
            <a:off x="571500" y="2095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4156F52A-7344-4665-B466-13022144548B}"/>
              </a:ext>
            </a:extLst>
          </p:cNvPr>
          <p:cNvSpPr>
            <a:spLocks xmlns:a="http://schemas.openxmlformats.org/drawingml/2006/main" noGrp="1"/>
          </p:cNvSpPr>
          <p:nvPr/>
        </p:nvSpPr>
        <p:spPr>
          <a:xfrm xmlns:a="http://schemas.openxmlformats.org/drawingml/2006/main">
            <a:off x="647700" y="2266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57242070-9A4F-44E3-93CD-1461000AA6EC}"/>
              </a:ext>
            </a:extLst>
          </p:cNvPr>
          <p:cNvSpPr>
            <a:spLocks xmlns:a="http://schemas.openxmlformats.org/drawingml/2006/main" noGrp="1"/>
          </p:cNvSpPr>
          <p:nvPr/>
        </p:nvSpPr>
        <p:spPr>
          <a:xfrm xmlns:a="http://schemas.openxmlformats.org/drawingml/2006/main">
            <a:off x="571500" y="3619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9" name="">
            <a:extLst xmlns:a="http://schemas.openxmlformats.org/drawingml/2006/main">
              <a:ext uri="{FF2B5EF4-FFF2-40B4-BE49-F238E27FC236}">
                <a16:creationId xmlns:a16="http://schemas.microsoft.com/office/drawing/2014/main" id="{7D576D12-B7DA-4D60-ABA8-C04EEC14C3EF}"/>
              </a:ext>
            </a:extLst>
          </p:cNvPr>
          <p:cNvSpPr>
            <a:spLocks xmlns:a="http://schemas.openxmlformats.org/drawingml/2006/main" noGrp="1"/>
          </p:cNvSpPr>
          <p:nvPr/>
        </p:nvSpPr>
        <p:spPr>
          <a:xfrm xmlns:a="http://schemas.openxmlformats.org/drawingml/2006/main">
            <a:off x="647700" y="3790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Character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64-d features</a:t>
            </a:r>
          </a:p>
        </p:txBody>
      </p:sp>
      <p:sp>
        <p:nvSpPr>
          <p:cNvPr id="10" name="">
            <a:extLst xmlns:a="http://schemas.openxmlformats.org/drawingml/2006/main">
              <a:ext uri="{FF2B5EF4-FFF2-40B4-BE49-F238E27FC236}">
                <a16:creationId xmlns:a16="http://schemas.microsoft.com/office/drawing/2014/main" id="{7A87EB76-D98A-4604-A2B9-354073C56F74}"/>
              </a:ext>
            </a:extLst>
          </p:cNvPr>
          <p:cNvSpPr>
            <a:spLocks xmlns:a="http://schemas.openxmlformats.org/drawingml/2006/main" noGrp="1"/>
          </p:cNvSpPr>
          <p:nvPr/>
        </p:nvSpPr>
        <p:spPr>
          <a:xfrm xmlns:a="http://schemas.openxmlformats.org/drawingml/2006/main">
            <a:off x="2952750" y="2524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63AB323-E7E3-4E2D-94D4-0B9823F03C7D}"/>
              </a:ext>
            </a:extLst>
          </p:cNvPr>
          <p:cNvSpPr>
            <a:spLocks xmlns:a="http://schemas.openxmlformats.org/drawingml/2006/main" noGrp="1"/>
          </p:cNvSpPr>
          <p:nvPr/>
        </p:nvSpPr>
        <p:spPr>
          <a:xfrm xmlns:a="http://schemas.openxmlformats.org/drawingml/2006/main">
            <a:off x="2952750" y="4048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8D92474-C6C7-4D42-B8BE-3745D4A47FF0}"/>
              </a:ext>
            </a:extLst>
          </p:cNvPr>
          <p:cNvSpPr>
            <a:spLocks xmlns:a="http://schemas.openxmlformats.org/drawingml/2006/main" noGrp="1"/>
          </p:cNvSpPr>
          <p:nvPr/>
        </p:nvSpPr>
        <p:spPr>
          <a:xfrm xmlns:a="http://schemas.openxmlformats.org/drawingml/2006/main">
            <a:off x="3333750" y="2524125"/>
            <a:ext cx="19050" cy="15240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6BD65E5-DECD-4F10-BF57-E640BBE76F6B}"/>
              </a:ext>
            </a:extLst>
          </p:cNvPr>
          <p:cNvSpPr>
            <a:spLocks xmlns:a="http://schemas.openxmlformats.org/drawingml/2006/main" noGrp="1"/>
          </p:cNvSpPr>
          <p:nvPr/>
        </p:nvSpPr>
        <p:spPr>
          <a:xfrm xmlns:a="http://schemas.openxmlformats.org/drawingml/2006/main">
            <a:off x="3333750" y="33242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0FFD954-A370-4C2D-A387-EE8C4AE01E3A}"/>
              </a:ext>
            </a:extLst>
          </p:cNvPr>
          <p:cNvSpPr>
            <a:spLocks xmlns:a="http://schemas.openxmlformats.org/drawingml/2006/main" noGrp="1"/>
          </p:cNvSpPr>
          <p:nvPr/>
        </p:nvSpPr>
        <p:spPr>
          <a:xfrm xmlns:a="http://schemas.openxmlformats.org/drawingml/2006/main">
            <a:off x="3714750" y="2857500"/>
            <a:ext cx="2286000" cy="9525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8D8767B0-B642-46A1-888D-6182B2176187}"/>
              </a:ext>
            </a:extLst>
          </p:cNvPr>
          <p:cNvSpPr>
            <a:spLocks xmlns:a="http://schemas.openxmlformats.org/drawingml/2006/main" noGrp="1"/>
          </p:cNvSpPr>
          <p:nvPr/>
        </p:nvSpPr>
        <p:spPr>
          <a:xfrm xmlns:a="http://schemas.openxmlformats.org/drawingml/2006/main">
            <a:off x="379095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Learned gate</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Word + character</a:t>
            </a:r>
          </a:p>
        </p:txBody>
      </p:sp>
      <p:sp>
        <p:nvSpPr>
          <p:cNvPr id="16" name="">
            <a:extLst xmlns:a="http://schemas.openxmlformats.org/drawingml/2006/main">
              <a:ext uri="{FF2B5EF4-FFF2-40B4-BE49-F238E27FC236}">
                <a16:creationId xmlns:a16="http://schemas.microsoft.com/office/drawing/2014/main" id="{20C82C48-0CB7-4F93-BF8D-02AB330D8126}"/>
              </a:ext>
            </a:extLst>
          </p:cNvPr>
          <p:cNvSpPr>
            <a:spLocks xmlns:a="http://schemas.openxmlformats.org/drawingml/2006/main" noGrp="1"/>
          </p:cNvSpPr>
          <p:nvPr/>
        </p:nvSpPr>
        <p:spPr>
          <a:xfrm xmlns:a="http://schemas.openxmlformats.org/drawingml/2006/main">
            <a:off x="609600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7" name="">
            <a:extLst xmlns:a="http://schemas.openxmlformats.org/drawingml/2006/main">
              <a:ext uri="{FF2B5EF4-FFF2-40B4-BE49-F238E27FC236}">
                <a16:creationId xmlns:a16="http://schemas.microsoft.com/office/drawing/2014/main" id="{23A71A5D-2392-46E2-B318-862B5ADDBF61}"/>
              </a:ext>
            </a:extLst>
          </p:cNvPr>
          <p:cNvSpPr>
            <a:spLocks xmlns:a="http://schemas.openxmlformats.org/drawingml/2006/main" noGrp="1"/>
          </p:cNvSpPr>
          <p:nvPr/>
        </p:nvSpPr>
        <p:spPr>
          <a:xfrm xmlns:a="http://schemas.openxmlformats.org/drawingml/2006/main">
            <a:off x="6762750" y="2857500"/>
            <a:ext cx="20002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8" name="">
            <a:extLst xmlns:a="http://schemas.openxmlformats.org/drawingml/2006/main">
              <a:ext uri="{FF2B5EF4-FFF2-40B4-BE49-F238E27FC236}">
                <a16:creationId xmlns:a16="http://schemas.microsoft.com/office/drawing/2014/main" id="{126812FA-2B53-4C19-A723-95BEEB0BEE4D}"/>
              </a:ext>
            </a:extLst>
          </p:cNvPr>
          <p:cNvSpPr>
            <a:spLocks xmlns:a="http://schemas.openxmlformats.org/drawingml/2006/main" noGrp="1"/>
          </p:cNvSpPr>
          <p:nvPr/>
        </p:nvSpPr>
        <p:spPr>
          <a:xfrm xmlns:a="http://schemas.openxmlformats.org/drawingml/2006/main">
            <a:off x="6838950" y="3028950"/>
            <a:ext cx="1847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Causal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blocks</a:t>
            </a:r>
          </a:p>
        </p:txBody>
      </p:sp>
      <p:sp>
        <p:nvSpPr>
          <p:cNvPr id="19" name="">
            <a:extLst xmlns:a="http://schemas.openxmlformats.org/drawingml/2006/main">
              <a:ext uri="{FF2B5EF4-FFF2-40B4-BE49-F238E27FC236}">
                <a16:creationId xmlns:a16="http://schemas.microsoft.com/office/drawing/2014/main" id="{4A0FC942-F115-4825-9B76-A6FBB2B0AB2D}"/>
              </a:ext>
            </a:extLst>
          </p:cNvPr>
          <p:cNvSpPr>
            <a:spLocks xmlns:a="http://schemas.openxmlformats.org/drawingml/2006/main" noGrp="1"/>
          </p:cNvSpPr>
          <p:nvPr/>
        </p:nvSpPr>
        <p:spPr>
          <a:xfrm xmlns:a="http://schemas.openxmlformats.org/drawingml/2006/main">
            <a:off x="8810625"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0" name="">
            <a:extLst xmlns:a="http://schemas.openxmlformats.org/drawingml/2006/main">
              <a:ext uri="{FF2B5EF4-FFF2-40B4-BE49-F238E27FC236}">
                <a16:creationId xmlns:a16="http://schemas.microsoft.com/office/drawing/2014/main" id="{495DCDF6-BFA2-4955-94A0-000C69A1E3B4}"/>
              </a:ext>
            </a:extLst>
          </p:cNvPr>
          <p:cNvSpPr>
            <a:spLocks xmlns:a="http://schemas.openxmlformats.org/drawingml/2006/main" noGrp="1"/>
          </p:cNvSpPr>
          <p:nvPr/>
        </p:nvSpPr>
        <p:spPr>
          <a:xfrm xmlns:a="http://schemas.openxmlformats.org/drawingml/2006/main">
            <a:off x="9334500" y="2857500"/>
            <a:ext cx="21907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D7491968-B10E-4EE8-9B46-7DDCBB00B110}"/>
              </a:ext>
            </a:extLst>
          </p:cNvPr>
          <p:cNvSpPr>
            <a:spLocks xmlns:a="http://schemas.openxmlformats.org/drawingml/2006/main" noGrp="1"/>
          </p:cNvSpPr>
          <p:nvPr/>
        </p:nvSpPr>
        <p:spPr>
          <a:xfrm xmlns:a="http://schemas.openxmlformats.org/drawingml/2006/main">
            <a:off x="9410700" y="3028950"/>
            <a:ext cx="2038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Next word</a:t>
            </a:r>
          </a:p>
        </p:txBody>
      </p:sp>
      <p:sp>
        <p:nvSpPr>
          <p:cNvPr id="22" name="">
            <a:extLst xmlns:a="http://schemas.openxmlformats.org/drawingml/2006/main">
              <a:ext uri="{FF2B5EF4-FFF2-40B4-BE49-F238E27FC236}">
                <a16:creationId xmlns:a16="http://schemas.microsoft.com/office/drawing/2014/main" id="{13648E81-5A77-4AEB-8AE4-65675108010B}"/>
              </a:ext>
            </a:extLst>
          </p:cNvPr>
          <p:cNvSpPr>
            <a:spLocks xmlns:a="http://schemas.openxmlformats.org/drawingml/2006/main" noGrp="1"/>
          </p:cNvSpPr>
          <p:nvPr/>
        </p:nvSpPr>
        <p:spPr>
          <a:xfrm xmlns:a="http://schemas.openxmlformats.org/drawingml/2006/main">
            <a:off x="619125" y="47625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344E41"/>
                </a:solidFill>
                <a:latin typeface="Cambria"/>
                <a:ea typeface="Cambria"/>
                <a:cs typeface="Cambria"/>
              </a:defRPr>
            </a:defPPr>
          </a:lstStyle>
          <a:p xmlns:a="http://schemas.openxmlformats.org/drawingml/2006/main">
            <a:pPr>
              <a:defRPr sz="2325" b="0">
                <a:solidFill>
                  <a:srgbClr val="344E41"/>
                </a:solidFill>
                <a:latin typeface="Cambria"/>
                <a:ea typeface="Cambria"/>
                <a:cs typeface="Cambria"/>
              </a:defRPr>
            </a:pPr>
            <a:r>
              <a:rPr sz="2325" b="0">
                <a:solidFill>
                  <a:srgbClr val="344E41"/>
                </a:solidFill>
                <a:latin typeface="Cambria"/>
                <a:ea typeface="Cambria"/>
                <a:cs typeface="Cambria"/>
              </a:rPr>
              <a:t>g = σ(Wg [e ; c] + bg)</a:t>
            </a:r>
          </a:p>
        </p:txBody>
      </p:sp>
      <p:sp>
        <p:nvSpPr>
          <p:cNvPr id="23" name="">
            <a:extLst xmlns:a="http://schemas.openxmlformats.org/drawingml/2006/main">
              <a:ext uri="{FF2B5EF4-FFF2-40B4-BE49-F238E27FC236}">
                <a16:creationId xmlns:a16="http://schemas.microsoft.com/office/drawing/2014/main" id="{B7E67D6B-A5F5-470E-A628-E71F1E5F3A5F}"/>
              </a:ext>
            </a:extLst>
          </p:cNvPr>
          <p:cNvSpPr>
            <a:spLocks xmlns:a="http://schemas.openxmlformats.org/drawingml/2006/main" noGrp="1"/>
          </p:cNvSpPr>
          <p:nvPr/>
        </p:nvSpPr>
        <p:spPr>
          <a:xfrm xmlns:a="http://schemas.openxmlformats.org/drawingml/2006/main">
            <a:off x="5905500" y="47625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fused = g ⊙ e + (1 − g) ⊙ c</a:t>
            </a:r>
          </a:p>
        </p:txBody>
      </p:sp>
      <p:sp>
        <p:nvSpPr>
          <p:cNvPr id="24" name="">
            <a:extLst xmlns:a="http://schemas.openxmlformats.org/drawingml/2006/main">
              <a:ext uri="{FF2B5EF4-FFF2-40B4-BE49-F238E27FC236}">
                <a16:creationId xmlns:a16="http://schemas.microsoft.com/office/drawing/2014/main" id="{50714C05-06EE-48A8-8729-29EEEC010E9C}"/>
              </a:ext>
            </a:extLst>
          </p:cNvPr>
          <p:cNvSpPr>
            <a:spLocks xmlns:a="http://schemas.openxmlformats.org/drawingml/2006/main" noGrp="1"/>
          </p:cNvSpPr>
          <p:nvPr/>
        </p:nvSpPr>
        <p:spPr>
          <a:xfrm xmlns:a="http://schemas.openxmlformats.org/drawingml/2006/main">
            <a:off x="61912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Test top-1: 18.55%. Output vocabulary stays fixed at 20,000 tokens.</a:t>
            </a:r>
          </a:p>
        </p:txBody>
      </p:sp>
    </p:spTree>
    <p:extLst>
      <p:ext uri="{BB962C8B-B14F-4D97-AF65-F5344CB8AC3E}">
        <p14:creationId xmlns:p14="http://schemas.microsoft.com/office/powerpoint/2010/main" val="1402075201"/>
      </p:ext>
    </p:extLst>
  </p:cSld>
</p:sld>
</file>

<file path=ppt/slides/slide1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F9510DA-E108-49F9-B56C-F7FAD563A2A9}"/>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48173E-27EF-40F1-80DD-315A78CFC8E1}"/>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TRAINING WORKFLOW</a:t>
            </a:r>
          </a:p>
        </p:txBody>
      </p:sp>
      <p:sp>
        <p:nvSpPr>
          <p:cNvPr id="3" name="">
            <a:extLst xmlns:a="http://schemas.openxmlformats.org/drawingml/2006/main">
              <a:ext uri="{FF2B5EF4-FFF2-40B4-BE49-F238E27FC236}">
                <a16:creationId xmlns:a16="http://schemas.microsoft.com/office/drawing/2014/main" id="{77DFDACD-A06E-4759-8031-EAC10A65CBB1}"/>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Learning happens offline before the user opens the web application</a:t>
            </a:r>
          </a:p>
        </p:txBody>
      </p:sp>
      <p:sp>
        <p:nvSpPr>
          <p:cNvPr id="4" name="">
            <a:extLst xmlns:a="http://schemas.openxmlformats.org/drawingml/2006/main">
              <a:ext uri="{FF2B5EF4-FFF2-40B4-BE49-F238E27FC236}">
                <a16:creationId xmlns:a16="http://schemas.microsoft.com/office/drawing/2014/main" id="{04FCAE26-FC13-4F1F-AF9F-A8F7B1A286F2}"/>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A5DD22C3-D2DA-420D-B7A5-BD5E39D26D3C}"/>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387C3036-86CF-4060-B286-1C6496D0E717}"/>
              </a:ext>
            </a:extLst>
          </p:cNvPr>
          <p:cNvSpPr>
            <a:spLocks xmlns:a="http://schemas.openxmlformats.org/drawingml/2006/main" noGrp="1"/>
          </p:cNvSpPr>
          <p:nvPr/>
        </p:nvSpPr>
        <p:spPr>
          <a:xfrm xmlns:a="http://schemas.openxmlformats.org/drawingml/2006/main">
            <a:off x="5715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DE197E90-C1B3-4CED-90F1-72C4A0CF9D2C}"/>
              </a:ext>
            </a:extLst>
          </p:cNvPr>
          <p:cNvSpPr>
            <a:spLocks xmlns:a="http://schemas.openxmlformats.org/drawingml/2006/main" noGrp="1"/>
          </p:cNvSpPr>
          <p:nvPr/>
        </p:nvSpPr>
        <p:spPr>
          <a:xfrm xmlns:a="http://schemas.openxmlformats.org/drawingml/2006/main">
            <a:off x="6477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 Native Telugu</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Extract text fields</a:t>
            </a:r>
          </a:p>
        </p:txBody>
      </p:sp>
      <p:sp>
        <p:nvSpPr>
          <p:cNvPr id="8" name="">
            <a:extLst xmlns:a="http://schemas.openxmlformats.org/drawingml/2006/main">
              <a:ext uri="{FF2B5EF4-FFF2-40B4-BE49-F238E27FC236}">
                <a16:creationId xmlns:a16="http://schemas.microsoft.com/office/drawing/2014/main" id="{BC717CB7-8512-4F77-B4C4-2349C66C0A1A}"/>
              </a:ext>
            </a:extLst>
          </p:cNvPr>
          <p:cNvSpPr>
            <a:spLocks xmlns:a="http://schemas.openxmlformats.org/drawingml/2006/main" noGrp="1"/>
          </p:cNvSpPr>
          <p:nvPr/>
        </p:nvSpPr>
        <p:spPr>
          <a:xfrm xmlns:a="http://schemas.openxmlformats.org/drawingml/2006/main">
            <a:off x="29527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ADE29504-06D5-4109-A854-2DD56A1BC86F}"/>
              </a:ext>
            </a:extLst>
          </p:cNvPr>
          <p:cNvSpPr>
            <a:spLocks xmlns:a="http://schemas.openxmlformats.org/drawingml/2006/main" noGrp="1"/>
          </p:cNvSpPr>
          <p:nvPr/>
        </p:nvSpPr>
        <p:spPr>
          <a:xfrm xmlns:a="http://schemas.openxmlformats.org/drawingml/2006/main">
            <a:off x="34290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8A4F6E4A-208C-44C8-B606-38056833A324}"/>
              </a:ext>
            </a:extLst>
          </p:cNvPr>
          <p:cNvSpPr>
            <a:spLocks xmlns:a="http://schemas.openxmlformats.org/drawingml/2006/main" noGrp="1"/>
          </p:cNvSpPr>
          <p:nvPr/>
        </p:nvSpPr>
        <p:spPr>
          <a:xfrm xmlns:a="http://schemas.openxmlformats.org/drawingml/2006/main">
            <a:off x="35052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 Prepare data</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Normalize + split</a:t>
            </a:r>
          </a:p>
        </p:txBody>
      </p:sp>
      <p:sp>
        <p:nvSpPr>
          <p:cNvPr id="11" name="">
            <a:extLst xmlns:a="http://schemas.openxmlformats.org/drawingml/2006/main">
              <a:ext uri="{FF2B5EF4-FFF2-40B4-BE49-F238E27FC236}">
                <a16:creationId xmlns:a16="http://schemas.microsoft.com/office/drawing/2014/main" id="{C0F7AE4D-B2F6-4B3C-9A5F-DE4DF57E8134}"/>
              </a:ext>
            </a:extLst>
          </p:cNvPr>
          <p:cNvSpPr>
            <a:spLocks xmlns:a="http://schemas.openxmlformats.org/drawingml/2006/main" noGrp="1"/>
          </p:cNvSpPr>
          <p:nvPr/>
        </p:nvSpPr>
        <p:spPr>
          <a:xfrm xmlns:a="http://schemas.openxmlformats.org/drawingml/2006/main">
            <a:off x="58102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0F394558-8D52-4407-ACDB-F6BDA53FDB21}"/>
              </a:ext>
            </a:extLst>
          </p:cNvPr>
          <p:cNvSpPr>
            <a:spLocks xmlns:a="http://schemas.openxmlformats.org/drawingml/2006/main" noGrp="1"/>
          </p:cNvSpPr>
          <p:nvPr/>
        </p:nvSpPr>
        <p:spPr>
          <a:xfrm xmlns:a="http://schemas.openxmlformats.org/drawingml/2006/main">
            <a:off x="62865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AC64C60C-9C1E-4043-9923-8B1BC36E3F34}"/>
              </a:ext>
            </a:extLst>
          </p:cNvPr>
          <p:cNvSpPr>
            <a:spLocks xmlns:a="http://schemas.openxmlformats.org/drawingml/2006/main" noGrp="1"/>
          </p:cNvSpPr>
          <p:nvPr/>
        </p:nvSpPr>
        <p:spPr>
          <a:xfrm xmlns:a="http://schemas.openxmlformats.org/drawingml/2006/main">
            <a:off x="63627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Build examples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 target</a:t>
            </a:r>
          </a:p>
        </p:txBody>
      </p:sp>
      <p:sp>
        <p:nvSpPr>
          <p:cNvPr id="14" name="">
            <a:extLst xmlns:a="http://schemas.openxmlformats.org/drawingml/2006/main">
              <a:ext uri="{FF2B5EF4-FFF2-40B4-BE49-F238E27FC236}">
                <a16:creationId xmlns:a16="http://schemas.microsoft.com/office/drawing/2014/main" id="{5881D81E-171E-498B-83CF-E07B8D7EFAFD}"/>
              </a:ext>
            </a:extLst>
          </p:cNvPr>
          <p:cNvSpPr>
            <a:spLocks xmlns:a="http://schemas.openxmlformats.org/drawingml/2006/main" noGrp="1"/>
          </p:cNvSpPr>
          <p:nvPr/>
        </p:nvSpPr>
        <p:spPr>
          <a:xfrm xmlns:a="http://schemas.openxmlformats.org/drawingml/2006/main">
            <a:off x="86677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999A0804-044B-4E8A-9948-52872FE5825E}"/>
              </a:ext>
            </a:extLst>
          </p:cNvPr>
          <p:cNvSpPr>
            <a:spLocks xmlns:a="http://schemas.openxmlformats.org/drawingml/2006/main" noGrp="1"/>
          </p:cNvSpPr>
          <p:nvPr/>
        </p:nvSpPr>
        <p:spPr>
          <a:xfrm xmlns:a="http://schemas.openxmlformats.org/drawingml/2006/main">
            <a:off x="91440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8ED0CFA8-326B-4FFC-BA27-D78C277FADFA}"/>
              </a:ext>
            </a:extLst>
          </p:cNvPr>
          <p:cNvSpPr>
            <a:spLocks xmlns:a="http://schemas.openxmlformats.org/drawingml/2006/main" noGrp="1"/>
          </p:cNvSpPr>
          <p:nvPr/>
        </p:nvSpPr>
        <p:spPr>
          <a:xfrm xmlns:a="http://schemas.openxmlformats.org/drawingml/2006/main">
            <a:off x="92202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4. Train models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Adam, 5 epochs</a:t>
            </a:r>
          </a:p>
        </p:txBody>
      </p:sp>
      <p:sp>
        <p:nvSpPr>
          <p:cNvPr id="17" name="">
            <a:extLst xmlns:a="http://schemas.openxmlformats.org/drawingml/2006/main">
              <a:ext uri="{FF2B5EF4-FFF2-40B4-BE49-F238E27FC236}">
                <a16:creationId xmlns:a16="http://schemas.microsoft.com/office/drawing/2014/main" id="{6A697E1E-120B-4F29-812C-D6889C152C9B}"/>
              </a:ext>
            </a:extLst>
          </p:cNvPr>
          <p:cNvSpPr>
            <a:spLocks xmlns:a="http://schemas.openxmlformats.org/drawingml/2006/main" noGrp="1"/>
          </p:cNvSpPr>
          <p:nvPr/>
        </p:nvSpPr>
        <p:spPr>
          <a:xfrm xmlns:a="http://schemas.openxmlformats.org/drawingml/2006/main">
            <a:off x="571500" y="32385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44E41"/>
                </a:solidFill>
                <a:latin typeface="Arial"/>
                <a:ea typeface="Arial"/>
                <a:cs typeface="Arial"/>
              </a:defRPr>
            </a:defPPr>
          </a:lstStyle>
          <a:p xmlns:a="http://schemas.openxmlformats.org/drawingml/2006/main">
            <a:pPr>
              <a:defRPr sz="2025" b="1">
                <a:solidFill>
                  <a:srgbClr val="344E41"/>
                </a:solidFill>
                <a:latin typeface="Arial"/>
                <a:ea typeface="Arial"/>
                <a:cs typeface="Arial"/>
              </a:defRPr>
            </a:pPr>
            <a:r>
              <a:rPr sz="2025" b="1">
                <a:solidFill>
                  <a:srgbClr val="344E41"/>
                </a:solidFill>
                <a:latin typeface="Arial"/>
                <a:ea typeface="Arial"/>
                <a:cs typeface="Arial"/>
              </a:rPr>
              <a:t>Training text alone defines the vocabulary. Validation selects checkpoints.</a:t>
            </a:r>
          </a:p>
        </p:txBody>
      </p:sp>
      <p:sp>
        <p:nvSpPr>
          <p:cNvPr id="18" name="">
            <a:extLst xmlns:a="http://schemas.openxmlformats.org/drawingml/2006/main">
              <a:ext uri="{FF2B5EF4-FFF2-40B4-BE49-F238E27FC236}">
                <a16:creationId xmlns:a16="http://schemas.microsoft.com/office/drawing/2014/main" id="{EE03C6F1-1078-4A45-8AEB-24C985439760}"/>
              </a:ext>
            </a:extLst>
          </p:cNvPr>
          <p:cNvSpPr>
            <a:spLocks xmlns:a="http://schemas.openxmlformats.org/drawingml/2006/main" noGrp="1"/>
          </p:cNvSpPr>
          <p:nvPr/>
        </p:nvSpPr>
        <p:spPr>
          <a:xfrm xmlns:a="http://schemas.openxmlformats.org/drawingml/2006/main">
            <a:off x="5715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9" name="">
            <a:extLst xmlns:a="http://schemas.openxmlformats.org/drawingml/2006/main">
              <a:ext uri="{FF2B5EF4-FFF2-40B4-BE49-F238E27FC236}">
                <a16:creationId xmlns:a16="http://schemas.microsoft.com/office/drawing/2014/main" id="{045D3CD9-19EC-4322-8583-E74F8BEF6208}"/>
              </a:ext>
            </a:extLst>
          </p:cNvPr>
          <p:cNvSpPr>
            <a:spLocks xmlns:a="http://schemas.openxmlformats.org/drawingml/2006/main" noGrp="1"/>
          </p:cNvSpPr>
          <p:nvPr/>
        </p:nvSpPr>
        <p:spPr>
          <a:xfrm xmlns:a="http://schemas.openxmlformats.org/drawingml/2006/main">
            <a:off x="6477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Validation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Lowest loss wins</a:t>
            </a:r>
          </a:p>
        </p:txBody>
      </p:sp>
      <p:sp>
        <p:nvSpPr>
          <p:cNvPr id="20" name="">
            <a:extLst xmlns:a="http://schemas.openxmlformats.org/drawingml/2006/main">
              <a:ext uri="{FF2B5EF4-FFF2-40B4-BE49-F238E27FC236}">
                <a16:creationId xmlns:a16="http://schemas.microsoft.com/office/drawing/2014/main" id="{47760205-3099-4F07-AAAC-BD8CEAD97619}"/>
              </a:ext>
            </a:extLst>
          </p:cNvPr>
          <p:cNvSpPr>
            <a:spLocks xmlns:a="http://schemas.openxmlformats.org/drawingml/2006/main" noGrp="1"/>
          </p:cNvSpPr>
          <p:nvPr/>
        </p:nvSpPr>
        <p:spPr>
          <a:xfrm xmlns:a="http://schemas.openxmlformats.org/drawingml/2006/main">
            <a:off x="29527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1" name="">
            <a:extLst xmlns:a="http://schemas.openxmlformats.org/drawingml/2006/main">
              <a:ext uri="{FF2B5EF4-FFF2-40B4-BE49-F238E27FC236}">
                <a16:creationId xmlns:a16="http://schemas.microsoft.com/office/drawing/2014/main" id="{F45433D4-A900-49C6-A429-B63135D118FA}"/>
              </a:ext>
            </a:extLst>
          </p:cNvPr>
          <p:cNvSpPr>
            <a:spLocks xmlns:a="http://schemas.openxmlformats.org/drawingml/2006/main" noGrp="1"/>
          </p:cNvSpPr>
          <p:nvPr/>
        </p:nvSpPr>
        <p:spPr>
          <a:xfrm xmlns:a="http://schemas.openxmlformats.org/drawingml/2006/main">
            <a:off x="34290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2" name="">
            <a:extLst xmlns:a="http://schemas.openxmlformats.org/drawingml/2006/main">
              <a:ext uri="{FF2B5EF4-FFF2-40B4-BE49-F238E27FC236}">
                <a16:creationId xmlns:a16="http://schemas.microsoft.com/office/drawing/2014/main" id="{A8AF0436-C433-4918-9472-89E5F06BF163}"/>
              </a:ext>
            </a:extLst>
          </p:cNvPr>
          <p:cNvSpPr>
            <a:spLocks xmlns:a="http://schemas.openxmlformats.org/drawingml/2006/main" noGrp="1"/>
          </p:cNvSpPr>
          <p:nvPr/>
        </p:nvSpPr>
        <p:spPr>
          <a:xfrm xmlns:a="http://schemas.openxmlformats.org/drawingml/2006/main">
            <a:off x="35052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 Held-out test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Accuracy + loss</a:t>
            </a:r>
          </a:p>
        </p:txBody>
      </p:sp>
      <p:sp>
        <p:nvSpPr>
          <p:cNvPr id="23" name="">
            <a:extLst xmlns:a="http://schemas.openxmlformats.org/drawingml/2006/main">
              <a:ext uri="{FF2B5EF4-FFF2-40B4-BE49-F238E27FC236}">
                <a16:creationId xmlns:a16="http://schemas.microsoft.com/office/drawing/2014/main" id="{60AB5048-7ABC-4A20-8AE7-CB0180F62828}"/>
              </a:ext>
            </a:extLst>
          </p:cNvPr>
          <p:cNvSpPr>
            <a:spLocks xmlns:a="http://schemas.openxmlformats.org/drawingml/2006/main" noGrp="1"/>
          </p:cNvSpPr>
          <p:nvPr/>
        </p:nvSpPr>
        <p:spPr>
          <a:xfrm xmlns:a="http://schemas.openxmlformats.org/drawingml/2006/main">
            <a:off x="58102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4" name="">
            <a:extLst xmlns:a="http://schemas.openxmlformats.org/drawingml/2006/main">
              <a:ext uri="{FF2B5EF4-FFF2-40B4-BE49-F238E27FC236}">
                <a16:creationId xmlns:a16="http://schemas.microsoft.com/office/drawing/2014/main" id="{9699FEDF-C265-4728-8CC9-6F57801B60E7}"/>
              </a:ext>
            </a:extLst>
          </p:cNvPr>
          <p:cNvSpPr>
            <a:spLocks xmlns:a="http://schemas.openxmlformats.org/drawingml/2006/main" noGrp="1"/>
          </p:cNvSpPr>
          <p:nvPr/>
        </p:nvSpPr>
        <p:spPr>
          <a:xfrm xmlns:a="http://schemas.openxmlformats.org/drawingml/2006/main">
            <a:off x="62865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5" name="">
            <a:extLst xmlns:a="http://schemas.openxmlformats.org/drawingml/2006/main">
              <a:ext uri="{FF2B5EF4-FFF2-40B4-BE49-F238E27FC236}">
                <a16:creationId xmlns:a16="http://schemas.microsoft.com/office/drawing/2014/main" id="{F23FC02C-10BC-4CA7-9C05-166EC0274630}"/>
              </a:ext>
            </a:extLst>
          </p:cNvPr>
          <p:cNvSpPr>
            <a:spLocks xmlns:a="http://schemas.openxmlformats.org/drawingml/2006/main" noGrp="1"/>
          </p:cNvSpPr>
          <p:nvPr/>
        </p:nvSpPr>
        <p:spPr>
          <a:xfrm xmlns:a="http://schemas.openxmlformats.org/drawingml/2006/main">
            <a:off x="63627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7. Verify artifacts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Load + inference</a:t>
            </a:r>
          </a:p>
        </p:txBody>
      </p:sp>
      <p:sp>
        <p:nvSpPr>
          <p:cNvPr id="26" name="">
            <a:extLst xmlns:a="http://schemas.openxmlformats.org/drawingml/2006/main">
              <a:ext uri="{FF2B5EF4-FFF2-40B4-BE49-F238E27FC236}">
                <a16:creationId xmlns:a16="http://schemas.microsoft.com/office/drawing/2014/main" id="{39068942-9852-4C56-B4EC-DFB7C6F62032}"/>
              </a:ext>
            </a:extLst>
          </p:cNvPr>
          <p:cNvSpPr>
            <a:spLocks xmlns:a="http://schemas.openxmlformats.org/drawingml/2006/main" noGrp="1"/>
          </p:cNvSpPr>
          <p:nvPr/>
        </p:nvSpPr>
        <p:spPr>
          <a:xfrm xmlns:a="http://schemas.openxmlformats.org/drawingml/2006/main">
            <a:off x="86677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7" name="">
            <a:extLst xmlns:a="http://schemas.openxmlformats.org/drawingml/2006/main">
              <a:ext uri="{FF2B5EF4-FFF2-40B4-BE49-F238E27FC236}">
                <a16:creationId xmlns:a16="http://schemas.microsoft.com/office/drawing/2014/main" id="{D3FDD2D5-33F0-41D5-B108-11E62F2EEFD2}"/>
              </a:ext>
            </a:extLst>
          </p:cNvPr>
          <p:cNvSpPr>
            <a:spLocks xmlns:a="http://schemas.openxmlformats.org/drawingml/2006/main" noGrp="1"/>
          </p:cNvSpPr>
          <p:nvPr/>
        </p:nvSpPr>
        <p:spPr>
          <a:xfrm xmlns:a="http://schemas.openxmlformats.org/drawingml/2006/main">
            <a:off x="91440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8" name="">
            <a:extLst xmlns:a="http://schemas.openxmlformats.org/drawingml/2006/main">
              <a:ext uri="{FF2B5EF4-FFF2-40B4-BE49-F238E27FC236}">
                <a16:creationId xmlns:a16="http://schemas.microsoft.com/office/drawing/2014/main" id="{4CD9BA3C-A31D-4C06-90DF-26423514E742}"/>
              </a:ext>
            </a:extLst>
          </p:cNvPr>
          <p:cNvSpPr>
            <a:spLocks xmlns:a="http://schemas.openxmlformats.org/drawingml/2006/main" noGrp="1"/>
          </p:cNvSpPr>
          <p:nvPr/>
        </p:nvSpPr>
        <p:spPr>
          <a:xfrm xmlns:a="http://schemas.openxmlformats.org/drawingml/2006/main">
            <a:off x="92202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Deploy LSTM</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Streamlit demo</a:t>
            </a:r>
          </a:p>
        </p:txBody>
      </p:sp>
      <p:sp>
        <p:nvSpPr>
          <p:cNvPr id="29" name="">
            <a:extLst xmlns:a="http://schemas.openxmlformats.org/drawingml/2006/main">
              <a:ext uri="{FF2B5EF4-FFF2-40B4-BE49-F238E27FC236}">
                <a16:creationId xmlns:a16="http://schemas.microsoft.com/office/drawing/2014/main" id="{52DF3D0F-B91B-4034-ABE5-B26AABF659E9}"/>
              </a:ext>
            </a:extLst>
          </p:cNvPr>
          <p:cNvSpPr>
            <a:spLocks xmlns:a="http://schemas.openxmlformats.org/drawingml/2006/main" noGrp="1"/>
          </p:cNvSpPr>
          <p:nvPr/>
        </p:nvSpPr>
        <p:spPr>
          <a:xfrm xmlns:a="http://schemas.openxmlformats.org/drawingml/2006/main">
            <a:off x="571500" y="55054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The test set is used for final evaluation, not gradient updates or checkpoint selection.</a:t>
            </a:r>
          </a:p>
        </p:txBody>
      </p:sp>
    </p:spTree>
    <p:extLst>
      <p:ext uri="{BB962C8B-B14F-4D97-AF65-F5344CB8AC3E}">
        <p14:creationId xmlns:p14="http://schemas.microsoft.com/office/powerpoint/2010/main" val="765465800"/>
      </p:ext>
    </p:extLst>
  </p:cSld>
</p:sld>
</file>

<file path=ppt/slides/slide1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352A70F-D239-4FA4-A4A9-36903DF6902F}"/>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9265F2-10E6-4212-A4F2-F56893C64990}"/>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WHOLE PROJECT FLOW</a:t>
            </a:r>
          </a:p>
        </p:txBody>
      </p:sp>
      <p:sp>
        <p:nvSpPr>
          <p:cNvPr id="3" name="">
            <a:extLst xmlns:a="http://schemas.openxmlformats.org/drawingml/2006/main">
              <a:ext uri="{FF2B5EF4-FFF2-40B4-BE49-F238E27FC236}">
                <a16:creationId xmlns:a16="http://schemas.microsoft.com/office/drawing/2014/main" id="{8555F14B-C7F8-4F13-BBF9-0BE05E66FED9}"/>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Offline learning supplies saved weights to the live prediction application</a:t>
            </a:r>
          </a:p>
        </p:txBody>
      </p:sp>
      <p:sp>
        <p:nvSpPr>
          <p:cNvPr id="4" name="">
            <a:extLst xmlns:a="http://schemas.openxmlformats.org/drawingml/2006/main">
              <a:ext uri="{FF2B5EF4-FFF2-40B4-BE49-F238E27FC236}">
                <a16:creationId xmlns:a16="http://schemas.microsoft.com/office/drawing/2014/main" id="{4D0EC518-E84A-4BFC-B501-D29BD4278208}"/>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326EB258-62CF-4A6D-BD19-4F62CCB65ACD}"/>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144E68AA-1E03-4DD1-9A2B-B185677A3549}"/>
              </a:ext>
            </a:extLst>
          </p:cNvPr>
          <p:cNvSpPr>
            <a:spLocks xmlns:a="http://schemas.openxmlformats.org/drawingml/2006/main" noGrp="1"/>
          </p:cNvSpPr>
          <p:nvPr/>
        </p:nvSpPr>
        <p:spPr>
          <a:xfrm xmlns:a="http://schemas.openxmlformats.org/drawingml/2006/main">
            <a:off x="5715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6F4B13EC-953A-49AC-BB17-1370463CD542}"/>
              </a:ext>
            </a:extLst>
          </p:cNvPr>
          <p:cNvSpPr>
            <a:spLocks xmlns:a="http://schemas.openxmlformats.org/drawingml/2006/main" noGrp="1"/>
          </p:cNvSpPr>
          <p:nvPr/>
        </p:nvSpPr>
        <p:spPr>
          <a:xfrm xmlns:a="http://schemas.openxmlformats.org/drawingml/2006/main">
            <a:off x="6667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Telugu datasets</a:t>
            </a:r>
          </a:p>
        </p:txBody>
      </p:sp>
      <p:sp>
        <p:nvSpPr>
          <p:cNvPr id="8" name="">
            <a:extLst xmlns:a="http://schemas.openxmlformats.org/drawingml/2006/main">
              <a:ext uri="{FF2B5EF4-FFF2-40B4-BE49-F238E27FC236}">
                <a16:creationId xmlns:a16="http://schemas.microsoft.com/office/drawing/2014/main" id="{C7BD0F75-8F61-4401-BB2D-31287CFA7446}"/>
              </a:ext>
            </a:extLst>
          </p:cNvPr>
          <p:cNvSpPr>
            <a:spLocks xmlns:a="http://schemas.openxmlformats.org/drawingml/2006/main" noGrp="1"/>
          </p:cNvSpPr>
          <p:nvPr/>
        </p:nvSpPr>
        <p:spPr>
          <a:xfrm xmlns:a="http://schemas.openxmlformats.org/drawingml/2006/main">
            <a:off x="2952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FFECD990-7228-4A84-BEA9-8BBD5F8E4272}"/>
              </a:ext>
            </a:extLst>
          </p:cNvPr>
          <p:cNvSpPr>
            <a:spLocks xmlns:a="http://schemas.openxmlformats.org/drawingml/2006/main" noGrp="1"/>
          </p:cNvSpPr>
          <p:nvPr/>
        </p:nvSpPr>
        <p:spPr>
          <a:xfrm xmlns:a="http://schemas.openxmlformats.org/drawingml/2006/main">
            <a:off x="34290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2D13CD36-3080-4A5B-B9DA-0C8F476565D6}"/>
              </a:ext>
            </a:extLst>
          </p:cNvPr>
          <p:cNvSpPr>
            <a:spLocks xmlns:a="http://schemas.openxmlformats.org/drawingml/2006/main" noGrp="1"/>
          </p:cNvSpPr>
          <p:nvPr/>
        </p:nvSpPr>
        <p:spPr>
          <a:xfrm xmlns:a="http://schemas.openxmlformats.org/drawingml/2006/main">
            <a:off x="35242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Clean text + split</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Train / validation / test</a:t>
            </a:r>
          </a:p>
        </p:txBody>
      </p:sp>
      <p:sp>
        <p:nvSpPr>
          <p:cNvPr id="11" name="">
            <a:extLst xmlns:a="http://schemas.openxmlformats.org/drawingml/2006/main">
              <a:ext uri="{FF2B5EF4-FFF2-40B4-BE49-F238E27FC236}">
                <a16:creationId xmlns:a16="http://schemas.microsoft.com/office/drawing/2014/main" id="{5C7A1C48-9412-41A1-8B26-AFBDDF53EADE}"/>
              </a:ext>
            </a:extLst>
          </p:cNvPr>
          <p:cNvSpPr>
            <a:spLocks xmlns:a="http://schemas.openxmlformats.org/drawingml/2006/main" noGrp="1"/>
          </p:cNvSpPr>
          <p:nvPr/>
        </p:nvSpPr>
        <p:spPr>
          <a:xfrm xmlns:a="http://schemas.openxmlformats.org/drawingml/2006/main">
            <a:off x="58102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4716F90E-B438-4A4A-A96D-3DA45D2DA68F}"/>
              </a:ext>
            </a:extLst>
          </p:cNvPr>
          <p:cNvSpPr>
            <a:spLocks xmlns:a="http://schemas.openxmlformats.org/drawingml/2006/main" noGrp="1"/>
          </p:cNvSpPr>
          <p:nvPr/>
        </p:nvSpPr>
        <p:spPr>
          <a:xfrm xmlns:a="http://schemas.openxmlformats.org/drawingml/2006/main">
            <a:off x="62865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A629EA96-6714-47DF-9CF4-8CF59C7B5760}"/>
              </a:ext>
            </a:extLst>
          </p:cNvPr>
          <p:cNvSpPr>
            <a:spLocks xmlns:a="http://schemas.openxmlformats.org/drawingml/2006/main" noGrp="1"/>
          </p:cNvSpPr>
          <p:nvPr/>
        </p:nvSpPr>
        <p:spPr>
          <a:xfrm xmlns:a="http://schemas.openxmlformats.org/drawingml/2006/main">
            <a:off x="63817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Build vocabulary</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Prefix + next-word pairs</a:t>
            </a:r>
          </a:p>
        </p:txBody>
      </p:sp>
      <p:sp>
        <p:nvSpPr>
          <p:cNvPr id="14" name="">
            <a:extLst xmlns:a="http://schemas.openxmlformats.org/drawingml/2006/main">
              <a:ext uri="{FF2B5EF4-FFF2-40B4-BE49-F238E27FC236}">
                <a16:creationId xmlns:a16="http://schemas.microsoft.com/office/drawing/2014/main" id="{82D40A8E-6693-4A4E-9F01-FFCD73745F94}"/>
              </a:ext>
            </a:extLst>
          </p:cNvPr>
          <p:cNvSpPr>
            <a:spLocks xmlns:a="http://schemas.openxmlformats.org/drawingml/2006/main" noGrp="1"/>
          </p:cNvSpPr>
          <p:nvPr/>
        </p:nvSpPr>
        <p:spPr>
          <a:xfrm xmlns:a="http://schemas.openxmlformats.org/drawingml/2006/main">
            <a:off x="8667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FCF5809C-3BF0-440D-BD1A-E2F04B8A19F5}"/>
              </a:ext>
            </a:extLst>
          </p:cNvPr>
          <p:cNvSpPr>
            <a:spLocks xmlns:a="http://schemas.openxmlformats.org/drawingml/2006/main" noGrp="1"/>
          </p:cNvSpPr>
          <p:nvPr/>
        </p:nvSpPr>
        <p:spPr>
          <a:xfrm xmlns:a="http://schemas.openxmlformats.org/drawingml/2006/main">
            <a:off x="91440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E5BA71B9-BAA8-4530-8C63-673DDD28A3FD}"/>
              </a:ext>
            </a:extLst>
          </p:cNvPr>
          <p:cNvSpPr>
            <a:spLocks xmlns:a="http://schemas.openxmlformats.org/drawingml/2006/main" noGrp="1"/>
          </p:cNvSpPr>
          <p:nvPr/>
        </p:nvSpPr>
        <p:spPr>
          <a:xfrm xmlns:a="http://schemas.openxmlformats.org/drawingml/2006/main">
            <a:off x="92392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Train 4 models</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Evaluate + verify</a:t>
            </a:r>
          </a:p>
        </p:txBody>
      </p:sp>
      <p:sp>
        <p:nvSpPr>
          <p:cNvPr id="17" name="">
            <a:extLst xmlns:a="http://schemas.openxmlformats.org/drawingml/2006/main">
              <a:ext uri="{FF2B5EF4-FFF2-40B4-BE49-F238E27FC236}">
                <a16:creationId xmlns:a16="http://schemas.microsoft.com/office/drawing/2014/main" id="{456DCD3C-CA64-41B6-9089-3E8CBBADBF1D}"/>
              </a:ext>
            </a:extLst>
          </p:cNvPr>
          <p:cNvSpPr>
            <a:spLocks xmlns:a="http://schemas.openxmlformats.org/drawingml/2006/main" noGrp="1"/>
          </p:cNvSpPr>
          <p:nvPr/>
        </p:nvSpPr>
        <p:spPr>
          <a:xfrm xmlns:a="http://schemas.openxmlformats.org/drawingml/2006/main">
            <a:off x="10096500" y="2762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8" name="">
            <a:extLst xmlns:a="http://schemas.openxmlformats.org/drawingml/2006/main">
              <a:ext uri="{FF2B5EF4-FFF2-40B4-BE49-F238E27FC236}">
                <a16:creationId xmlns:a16="http://schemas.microsoft.com/office/drawing/2014/main" id="{2791FF8A-3B04-43BA-B152-77A522050B88}"/>
              </a:ext>
            </a:extLst>
          </p:cNvPr>
          <p:cNvSpPr>
            <a:spLocks xmlns:a="http://schemas.openxmlformats.org/drawingml/2006/main" noGrp="1"/>
          </p:cNvSpPr>
          <p:nvPr/>
        </p:nvSpPr>
        <p:spPr>
          <a:xfrm xmlns:a="http://schemas.openxmlformats.org/drawingml/2006/main">
            <a:off x="9144000" y="3333750"/>
            <a:ext cx="2286000" cy="7810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9" name="">
            <a:extLst xmlns:a="http://schemas.openxmlformats.org/drawingml/2006/main">
              <a:ext uri="{FF2B5EF4-FFF2-40B4-BE49-F238E27FC236}">
                <a16:creationId xmlns:a16="http://schemas.microsoft.com/office/drawing/2014/main" id="{C9964AB5-77DC-4C3C-B0E3-E8F41AA5375D}"/>
              </a:ext>
            </a:extLst>
          </p:cNvPr>
          <p:cNvSpPr>
            <a:spLocks xmlns:a="http://schemas.openxmlformats.org/drawingml/2006/main" noGrp="1"/>
          </p:cNvSpPr>
          <p:nvPr/>
        </p:nvSpPr>
        <p:spPr>
          <a:xfrm xmlns:a="http://schemas.openxmlformats.org/drawingml/2006/main">
            <a:off x="9239250" y="3448050"/>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Saved LSTM weights</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Vocabulary + settings</a:t>
            </a:r>
          </a:p>
        </p:txBody>
      </p:sp>
      <p:sp>
        <p:nvSpPr>
          <p:cNvPr id="20" name="">
            <a:extLst xmlns:a="http://schemas.openxmlformats.org/drawingml/2006/main">
              <a:ext uri="{FF2B5EF4-FFF2-40B4-BE49-F238E27FC236}">
                <a16:creationId xmlns:a16="http://schemas.microsoft.com/office/drawing/2014/main" id="{EBC90C55-34E0-46FF-B0E0-8A570D4A406C}"/>
              </a:ext>
            </a:extLst>
          </p:cNvPr>
          <p:cNvSpPr>
            <a:spLocks xmlns:a="http://schemas.openxmlformats.org/drawingml/2006/main" noGrp="1"/>
          </p:cNvSpPr>
          <p:nvPr/>
        </p:nvSpPr>
        <p:spPr>
          <a:xfrm xmlns:a="http://schemas.openxmlformats.org/drawingml/2006/main">
            <a:off x="571500" y="33337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81AA3EE8-106E-4314-9C81-EA4C95745F57}"/>
              </a:ext>
            </a:extLst>
          </p:cNvPr>
          <p:cNvSpPr>
            <a:spLocks xmlns:a="http://schemas.openxmlformats.org/drawingml/2006/main" noGrp="1"/>
          </p:cNvSpPr>
          <p:nvPr/>
        </p:nvSpPr>
        <p:spPr>
          <a:xfrm xmlns:a="http://schemas.openxmlformats.org/drawingml/2006/main">
            <a:off x="666750" y="3448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User enters Telugu</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Clicks Predict</a:t>
            </a:r>
          </a:p>
        </p:txBody>
      </p:sp>
      <p:sp>
        <p:nvSpPr>
          <p:cNvPr id="22" name="">
            <a:extLst xmlns:a="http://schemas.openxmlformats.org/drawingml/2006/main">
              <a:ext uri="{FF2B5EF4-FFF2-40B4-BE49-F238E27FC236}">
                <a16:creationId xmlns:a16="http://schemas.microsoft.com/office/drawing/2014/main" id="{329CE068-5542-407B-B378-C42E9E53745E}"/>
              </a:ext>
            </a:extLst>
          </p:cNvPr>
          <p:cNvSpPr>
            <a:spLocks xmlns:a="http://schemas.openxmlformats.org/drawingml/2006/main" noGrp="1"/>
          </p:cNvSpPr>
          <p:nvPr/>
        </p:nvSpPr>
        <p:spPr>
          <a:xfrm xmlns:a="http://schemas.openxmlformats.org/drawingml/2006/main">
            <a:off x="2952750" y="34766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3" name="">
            <a:extLst xmlns:a="http://schemas.openxmlformats.org/drawingml/2006/main">
              <a:ext uri="{FF2B5EF4-FFF2-40B4-BE49-F238E27FC236}">
                <a16:creationId xmlns:a16="http://schemas.microsoft.com/office/drawing/2014/main" id="{883BD49A-5B59-4C4A-8B04-3DC1E64618BC}"/>
              </a:ext>
            </a:extLst>
          </p:cNvPr>
          <p:cNvSpPr>
            <a:spLocks xmlns:a="http://schemas.openxmlformats.org/drawingml/2006/main" noGrp="1"/>
          </p:cNvSpPr>
          <p:nvPr/>
        </p:nvSpPr>
        <p:spPr>
          <a:xfrm xmlns:a="http://schemas.openxmlformats.org/drawingml/2006/main">
            <a:off x="3429000" y="33337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8485AA32-BA14-4C5D-B070-6CED3D552148}"/>
              </a:ext>
            </a:extLst>
          </p:cNvPr>
          <p:cNvSpPr>
            <a:spLocks xmlns:a="http://schemas.openxmlformats.org/drawingml/2006/main" noGrp="1"/>
          </p:cNvSpPr>
          <p:nvPr/>
        </p:nvSpPr>
        <p:spPr>
          <a:xfrm xmlns:a="http://schemas.openxmlformats.org/drawingml/2006/main">
            <a:off x="3524250" y="3448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Check + tokenize</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Keep last 8 words</a:t>
            </a:r>
          </a:p>
        </p:txBody>
      </p:sp>
      <p:sp>
        <p:nvSpPr>
          <p:cNvPr id="25" name="">
            <a:extLst xmlns:a="http://schemas.openxmlformats.org/drawingml/2006/main">
              <a:ext uri="{FF2B5EF4-FFF2-40B4-BE49-F238E27FC236}">
                <a16:creationId xmlns:a16="http://schemas.microsoft.com/office/drawing/2014/main" id="{A51590A0-773C-4D70-ABF1-0FE63C5602CF}"/>
              </a:ext>
            </a:extLst>
          </p:cNvPr>
          <p:cNvSpPr>
            <a:spLocks xmlns:a="http://schemas.openxmlformats.org/drawingml/2006/main" noGrp="1"/>
          </p:cNvSpPr>
          <p:nvPr/>
        </p:nvSpPr>
        <p:spPr>
          <a:xfrm xmlns:a="http://schemas.openxmlformats.org/drawingml/2006/main">
            <a:off x="5810250" y="34766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6" name="">
            <a:extLst xmlns:a="http://schemas.openxmlformats.org/drawingml/2006/main">
              <a:ext uri="{FF2B5EF4-FFF2-40B4-BE49-F238E27FC236}">
                <a16:creationId xmlns:a16="http://schemas.microsoft.com/office/drawing/2014/main" id="{442F70CB-1CDB-4C75-976D-DBFED292429A}"/>
              </a:ext>
            </a:extLst>
          </p:cNvPr>
          <p:cNvSpPr>
            <a:spLocks xmlns:a="http://schemas.openxmlformats.org/drawingml/2006/main" noGrp="1"/>
          </p:cNvSpPr>
          <p:nvPr/>
        </p:nvSpPr>
        <p:spPr>
          <a:xfrm xmlns:a="http://schemas.openxmlformats.org/drawingml/2006/main">
            <a:off x="6286500" y="33337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7" name="">
            <a:extLst xmlns:a="http://schemas.openxmlformats.org/drawingml/2006/main">
              <a:ext uri="{FF2B5EF4-FFF2-40B4-BE49-F238E27FC236}">
                <a16:creationId xmlns:a16="http://schemas.microsoft.com/office/drawing/2014/main" id="{6710235A-9504-49E9-8B01-582611F8550C}"/>
              </a:ext>
            </a:extLst>
          </p:cNvPr>
          <p:cNvSpPr>
            <a:spLocks xmlns:a="http://schemas.openxmlformats.org/drawingml/2006/main" noGrp="1"/>
          </p:cNvSpPr>
          <p:nvPr/>
        </p:nvSpPr>
        <p:spPr>
          <a:xfrm xmlns:a="http://schemas.openxmlformats.org/drawingml/2006/main">
            <a:off x="6381750" y="3448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Map IDs + left-pad</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Run saved LSTM</a:t>
            </a:r>
          </a:p>
        </p:txBody>
      </p:sp>
      <p:sp>
        <p:nvSpPr>
          <p:cNvPr id="28" name="">
            <a:extLst xmlns:a="http://schemas.openxmlformats.org/drawingml/2006/main">
              <a:ext uri="{FF2B5EF4-FFF2-40B4-BE49-F238E27FC236}">
                <a16:creationId xmlns:a16="http://schemas.microsoft.com/office/drawing/2014/main" id="{EAEF87F2-C1BC-4960-8B46-9E1C97EC9ECC}"/>
              </a:ext>
            </a:extLst>
          </p:cNvPr>
          <p:cNvSpPr>
            <a:spLocks xmlns:a="http://schemas.openxmlformats.org/drawingml/2006/main" noGrp="1"/>
          </p:cNvSpPr>
          <p:nvPr/>
        </p:nvSpPr>
        <p:spPr>
          <a:xfrm xmlns:a="http://schemas.openxmlformats.org/drawingml/2006/main">
            <a:off x="8572500" y="3714750"/>
            <a:ext cx="5715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E75C36A-A73E-49C3-A54B-895E2EFF54BC}"/>
              </a:ext>
            </a:extLst>
          </p:cNvPr>
          <p:cNvSpPr>
            <a:spLocks xmlns:a="http://schemas.openxmlformats.org/drawingml/2006/main" noGrp="1"/>
          </p:cNvSpPr>
          <p:nvPr/>
        </p:nvSpPr>
        <p:spPr>
          <a:xfrm xmlns:a="http://schemas.openxmlformats.org/drawingml/2006/main">
            <a:off x="8620125" y="3400425"/>
            <a:ext cx="41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0" name="">
            <a:extLst xmlns:a="http://schemas.openxmlformats.org/drawingml/2006/main">
              <a:ext uri="{FF2B5EF4-FFF2-40B4-BE49-F238E27FC236}">
                <a16:creationId xmlns:a16="http://schemas.microsoft.com/office/drawing/2014/main" id="{DEB8EFD8-739D-418C-B5DD-CA8CE9F954E1}"/>
              </a:ext>
            </a:extLst>
          </p:cNvPr>
          <p:cNvSpPr>
            <a:spLocks xmlns:a="http://schemas.openxmlformats.org/drawingml/2006/main" noGrp="1"/>
          </p:cNvSpPr>
          <p:nvPr/>
        </p:nvSpPr>
        <p:spPr>
          <a:xfrm xmlns:a="http://schemas.openxmlformats.org/drawingml/2006/main">
            <a:off x="7239000" y="41433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1" name="">
            <a:extLst xmlns:a="http://schemas.openxmlformats.org/drawingml/2006/main">
              <a:ext uri="{FF2B5EF4-FFF2-40B4-BE49-F238E27FC236}">
                <a16:creationId xmlns:a16="http://schemas.microsoft.com/office/drawing/2014/main" id="{8B324564-F518-467E-A47F-D1C1693569EF}"/>
              </a:ext>
            </a:extLst>
          </p:cNvPr>
          <p:cNvSpPr>
            <a:spLocks xmlns:a="http://schemas.openxmlformats.org/drawingml/2006/main" noGrp="1"/>
          </p:cNvSpPr>
          <p:nvPr/>
        </p:nvSpPr>
        <p:spPr>
          <a:xfrm xmlns:a="http://schemas.openxmlformats.org/drawingml/2006/main">
            <a:off x="6286500" y="4810125"/>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32" name="">
            <a:extLst xmlns:a="http://schemas.openxmlformats.org/drawingml/2006/main">
              <a:ext uri="{FF2B5EF4-FFF2-40B4-BE49-F238E27FC236}">
                <a16:creationId xmlns:a16="http://schemas.microsoft.com/office/drawing/2014/main" id="{3B9FBBEC-3078-4DA3-A3C3-07E5EFD1DCAC}"/>
              </a:ext>
            </a:extLst>
          </p:cNvPr>
          <p:cNvSpPr>
            <a:spLocks xmlns:a="http://schemas.openxmlformats.org/drawingml/2006/main" noGrp="1"/>
          </p:cNvSpPr>
          <p:nvPr/>
        </p:nvSpPr>
        <p:spPr>
          <a:xfrm xmlns:a="http://schemas.openxmlformats.org/drawingml/2006/main">
            <a:off x="6381750" y="49244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Score vocabulary</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Filter PAD / UNK</a:t>
            </a:r>
          </a:p>
        </p:txBody>
      </p:sp>
      <p:sp>
        <p:nvSpPr>
          <p:cNvPr id="33" name="">
            <a:extLst xmlns:a="http://schemas.openxmlformats.org/drawingml/2006/main">
              <a:ext uri="{FF2B5EF4-FFF2-40B4-BE49-F238E27FC236}">
                <a16:creationId xmlns:a16="http://schemas.microsoft.com/office/drawing/2014/main" id="{572F0C75-147D-441A-9B04-0C7C2051453D}"/>
              </a:ext>
            </a:extLst>
          </p:cNvPr>
          <p:cNvSpPr>
            <a:spLocks xmlns:a="http://schemas.openxmlformats.org/drawingml/2006/main" noGrp="1"/>
          </p:cNvSpPr>
          <p:nvPr/>
        </p:nvSpPr>
        <p:spPr>
          <a:xfrm xmlns:a="http://schemas.openxmlformats.org/drawingml/2006/main">
            <a:off x="8667750" y="4953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4" name="">
            <a:extLst xmlns:a="http://schemas.openxmlformats.org/drawingml/2006/main">
              <a:ext uri="{FF2B5EF4-FFF2-40B4-BE49-F238E27FC236}">
                <a16:creationId xmlns:a16="http://schemas.microsoft.com/office/drawing/2014/main" id="{CD6674EC-1D11-4DD3-96F9-F0AB938E9AE2}"/>
              </a:ext>
            </a:extLst>
          </p:cNvPr>
          <p:cNvSpPr>
            <a:spLocks xmlns:a="http://schemas.openxmlformats.org/drawingml/2006/main" noGrp="1"/>
          </p:cNvSpPr>
          <p:nvPr/>
        </p:nvSpPr>
        <p:spPr>
          <a:xfrm xmlns:a="http://schemas.openxmlformats.org/drawingml/2006/main">
            <a:off x="9144000" y="4810125"/>
            <a:ext cx="2286000" cy="7239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35" name="">
            <a:extLst xmlns:a="http://schemas.openxmlformats.org/drawingml/2006/main">
              <a:ext uri="{FF2B5EF4-FFF2-40B4-BE49-F238E27FC236}">
                <a16:creationId xmlns:a16="http://schemas.microsoft.com/office/drawing/2014/main" id="{205F5C43-1097-4638-9178-9D4B86D58CA0}"/>
              </a:ext>
            </a:extLst>
          </p:cNvPr>
          <p:cNvSpPr>
            <a:spLocks xmlns:a="http://schemas.openxmlformats.org/drawingml/2006/main" noGrp="1"/>
          </p:cNvSpPr>
          <p:nvPr/>
        </p:nvSpPr>
        <p:spPr>
          <a:xfrm xmlns:a="http://schemas.openxmlformats.org/drawingml/2006/main">
            <a:off x="9239250" y="49244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Rank + decode</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Show 5 suggestions</a:t>
            </a:r>
          </a:p>
        </p:txBody>
      </p:sp>
      <p:sp>
        <p:nvSpPr>
          <p:cNvPr id="36" name="">
            <a:extLst xmlns:a="http://schemas.openxmlformats.org/drawingml/2006/main">
              <a:ext uri="{FF2B5EF4-FFF2-40B4-BE49-F238E27FC236}">
                <a16:creationId xmlns:a16="http://schemas.microsoft.com/office/drawing/2014/main" id="{5CA715CE-87CC-4D15-BFE6-BB50BA2CBD15}"/>
              </a:ext>
            </a:extLst>
          </p:cNvPr>
          <p:cNvSpPr>
            <a:spLocks xmlns:a="http://schemas.openxmlformats.org/drawingml/2006/main" noGrp="1"/>
          </p:cNvSpPr>
          <p:nvPr/>
        </p:nvSpPr>
        <p:spPr>
          <a:xfrm xmlns:a="http://schemas.openxmlformats.org/drawingml/2006/main">
            <a:off x="571500" y="57150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Training runs offline. Each click follows the lower path using the saved checkpoint.</a:t>
            </a:r>
          </a:p>
        </p:txBody>
      </p:sp>
    </p:spTree>
    <p:extLst>
      <p:ext uri="{BB962C8B-B14F-4D97-AF65-F5344CB8AC3E}">
        <p14:creationId xmlns:p14="http://schemas.microsoft.com/office/powerpoint/2010/main" val="77220085"/>
      </p:ext>
    </p:extLst>
  </p:cSld>
</p:sld>
</file>

<file path=ppt/slides/slide1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E3E2F2C-3101-40BA-8485-5C0B1C526588}"/>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7718DE-6311-45B7-B673-A32FDEC909F9}"/>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CHECKS AND DECISION BRANCHES</a:t>
            </a:r>
          </a:p>
        </p:txBody>
      </p:sp>
      <p:sp>
        <p:nvSpPr>
          <p:cNvPr id="3" name="">
            <a:extLst xmlns:a="http://schemas.openxmlformats.org/drawingml/2006/main">
              <a:ext uri="{FF2B5EF4-FFF2-40B4-BE49-F238E27FC236}">
                <a16:creationId xmlns:a16="http://schemas.microsoft.com/office/drawing/2014/main" id="{CD1A9A6E-E99A-45DF-A3B1-E035AE7A0FE5}"/>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What happens immediately after you click Predict next word</a:t>
            </a:r>
          </a:p>
        </p:txBody>
      </p:sp>
      <p:sp>
        <p:nvSpPr>
          <p:cNvPr id="4" name="">
            <a:extLst xmlns:a="http://schemas.openxmlformats.org/drawingml/2006/main">
              <a:ext uri="{FF2B5EF4-FFF2-40B4-BE49-F238E27FC236}">
                <a16:creationId xmlns:a16="http://schemas.microsoft.com/office/drawing/2014/main" id="{6652C8D5-20BD-4F70-85B9-BEDE0C2E5E90}"/>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DC10021A-F3F4-4078-8E2E-5556F0FFA45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DB61B82C-BD16-45E6-B8E8-803BE8F22726}"/>
              </a:ext>
            </a:extLst>
          </p:cNvPr>
          <p:cNvSpPr>
            <a:spLocks xmlns:a="http://schemas.openxmlformats.org/drawingml/2006/main" noGrp="1"/>
          </p:cNvSpPr>
          <p:nvPr/>
        </p:nvSpPr>
        <p:spPr>
          <a:xfrm xmlns:a="http://schemas.openxmlformats.org/drawingml/2006/main">
            <a:off x="571500" y="1857375"/>
            <a:ext cx="33337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17FA3F0E-75E0-4AD7-A920-F493F1F759F0}"/>
              </a:ext>
            </a:extLst>
          </p:cNvPr>
          <p:cNvSpPr>
            <a:spLocks xmlns:a="http://schemas.openxmlformats.org/drawingml/2006/main" noGrp="1"/>
          </p:cNvSpPr>
          <p:nvPr/>
        </p:nvSpPr>
        <p:spPr>
          <a:xfrm xmlns:a="http://schemas.openxmlformats.org/drawingml/2006/main">
            <a:off x="666750" y="19716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1. Read the typed phrase</a:t>
            </a:r>
          </a:p>
        </p:txBody>
      </p:sp>
      <p:sp>
        <p:nvSpPr>
          <p:cNvPr id="8" name="">
            <a:extLst xmlns:a="http://schemas.openxmlformats.org/drawingml/2006/main">
              <a:ext uri="{FF2B5EF4-FFF2-40B4-BE49-F238E27FC236}">
                <a16:creationId xmlns:a16="http://schemas.microsoft.com/office/drawing/2014/main" id="{7BD5ED68-8EA2-4B12-87D6-43EC8170C869}"/>
              </a:ext>
            </a:extLst>
          </p:cNvPr>
          <p:cNvSpPr>
            <a:spLocks xmlns:a="http://schemas.openxmlformats.org/drawingml/2006/main" noGrp="1"/>
          </p:cNvSpPr>
          <p:nvPr/>
        </p:nvSpPr>
        <p:spPr>
          <a:xfrm xmlns:a="http://schemas.openxmlformats.org/drawingml/2006/main">
            <a:off x="2000250" y="26098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7E86845B-1B51-4A87-982E-3B77E8A58600}"/>
              </a:ext>
            </a:extLst>
          </p:cNvPr>
          <p:cNvSpPr>
            <a:spLocks xmlns:a="http://schemas.openxmlformats.org/drawingml/2006/main" noGrp="1"/>
          </p:cNvSpPr>
          <p:nvPr/>
        </p:nvSpPr>
        <p:spPr>
          <a:xfrm xmlns:a="http://schemas.openxmlformats.org/drawingml/2006/main">
            <a:off x="571500" y="3095625"/>
            <a:ext cx="3333750" cy="7810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A8D35427-4B3D-45AF-955B-52279FD7314C}"/>
              </a:ext>
            </a:extLst>
          </p:cNvPr>
          <p:cNvSpPr>
            <a:spLocks xmlns:a="http://schemas.openxmlformats.org/drawingml/2006/main" noGrp="1"/>
          </p:cNvSpPr>
          <p:nvPr/>
        </p:nvSpPr>
        <p:spPr>
          <a:xfrm xmlns:a="http://schemas.openxmlformats.org/drawingml/2006/main">
            <a:off x="666750" y="32099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2. Normalize + extract Telugu</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Keep the last 8 tokens</a:t>
            </a:r>
          </a:p>
        </p:txBody>
      </p:sp>
      <p:sp>
        <p:nvSpPr>
          <p:cNvPr id="11" name="">
            <a:extLst xmlns:a="http://schemas.openxmlformats.org/drawingml/2006/main">
              <a:ext uri="{FF2B5EF4-FFF2-40B4-BE49-F238E27FC236}">
                <a16:creationId xmlns:a16="http://schemas.microsoft.com/office/drawing/2014/main" id="{41CA4A91-0669-4136-95E4-047FA06A7BCE}"/>
              </a:ext>
            </a:extLst>
          </p:cNvPr>
          <p:cNvSpPr>
            <a:spLocks xmlns:a="http://schemas.openxmlformats.org/drawingml/2006/main" noGrp="1"/>
          </p:cNvSpPr>
          <p:nvPr/>
        </p:nvSpPr>
        <p:spPr>
          <a:xfrm xmlns:a="http://schemas.openxmlformats.org/drawingml/2006/main">
            <a:off x="2000250" y="38862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0A5D7769-D612-4B05-AD10-7DA7B2C811D0}"/>
              </a:ext>
            </a:extLst>
          </p:cNvPr>
          <p:cNvSpPr>
            <a:spLocks xmlns:a="http://schemas.openxmlformats.org/drawingml/2006/main" noGrp="1"/>
          </p:cNvSpPr>
          <p:nvPr/>
        </p:nvSpPr>
        <p:spPr>
          <a:xfrm xmlns:a="http://schemas.openxmlformats.org/drawingml/2006/main">
            <a:off x="571500" y="4381500"/>
            <a:ext cx="3333750" cy="7239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87472FF0-CB8D-4C48-8580-CA55FF057285}"/>
              </a:ext>
            </a:extLst>
          </p:cNvPr>
          <p:cNvSpPr>
            <a:spLocks xmlns:a="http://schemas.openxmlformats.org/drawingml/2006/main" noGrp="1"/>
          </p:cNvSpPr>
          <p:nvPr/>
        </p:nvSpPr>
        <p:spPr>
          <a:xfrm xmlns:a="http://schemas.openxmlformats.org/drawingml/2006/main">
            <a:off x="666750" y="44958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3. Any Telugu tokens?</a:t>
            </a:r>
          </a:p>
        </p:txBody>
      </p:sp>
      <p:sp>
        <p:nvSpPr>
          <p:cNvPr id="14" name="">
            <a:extLst xmlns:a="http://schemas.openxmlformats.org/drawingml/2006/main">
              <a:ext uri="{FF2B5EF4-FFF2-40B4-BE49-F238E27FC236}">
                <a16:creationId xmlns:a16="http://schemas.microsoft.com/office/drawing/2014/main" id="{9AA5A57F-B1A5-4152-8C73-443FECB640B8}"/>
              </a:ext>
            </a:extLst>
          </p:cNvPr>
          <p:cNvSpPr>
            <a:spLocks xmlns:a="http://schemas.openxmlformats.org/drawingml/2006/main" noGrp="1"/>
          </p:cNvSpPr>
          <p:nvPr/>
        </p:nvSpPr>
        <p:spPr>
          <a:xfrm xmlns:a="http://schemas.openxmlformats.org/drawingml/2006/main">
            <a:off x="4000500" y="45243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FD5CF669-6086-4ADF-AC8E-2A1DD5BB06BF}"/>
              </a:ext>
            </a:extLst>
          </p:cNvPr>
          <p:cNvSpPr>
            <a:spLocks xmlns:a="http://schemas.openxmlformats.org/drawingml/2006/main" noGrp="1"/>
          </p:cNvSpPr>
          <p:nvPr/>
        </p:nvSpPr>
        <p:spPr>
          <a:xfrm xmlns:a="http://schemas.openxmlformats.org/drawingml/2006/main">
            <a:off x="4524375" y="42195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456052"/>
                </a:solidFill>
                <a:latin typeface="Arial"/>
                <a:ea typeface="Arial"/>
                <a:cs typeface="Arial"/>
              </a:defRPr>
            </a:defPPr>
          </a:lstStyle>
          <a:p xmlns:a="http://schemas.openxmlformats.org/drawingml/2006/main">
            <a:pPr>
              <a:defRPr sz="1500" b="1">
                <a:solidFill>
                  <a:srgbClr val="456052"/>
                </a:solidFill>
                <a:latin typeface="Arial"/>
                <a:ea typeface="Arial"/>
                <a:cs typeface="Arial"/>
              </a:defRPr>
            </a:pPr>
            <a:r>
              <a:rPr sz="1500" b="1">
                <a:solidFill>
                  <a:srgbClr val="456052"/>
                </a:solidFill>
                <a:latin typeface="Arial"/>
                <a:ea typeface="Arial"/>
                <a:cs typeface="Arial"/>
              </a:rPr>
              <a:t>NO</a:t>
            </a:r>
          </a:p>
        </p:txBody>
      </p:sp>
      <p:sp>
        <p:nvSpPr>
          <p:cNvPr id="16" name="">
            <a:extLst xmlns:a="http://schemas.openxmlformats.org/drawingml/2006/main">
              <a:ext uri="{FF2B5EF4-FFF2-40B4-BE49-F238E27FC236}">
                <a16:creationId xmlns:a16="http://schemas.microsoft.com/office/drawing/2014/main" id="{481A9512-5E66-42E4-9E72-607AB76DB7E1}"/>
              </a:ext>
            </a:extLst>
          </p:cNvPr>
          <p:cNvSpPr>
            <a:spLocks xmlns:a="http://schemas.openxmlformats.org/drawingml/2006/main" noGrp="1"/>
          </p:cNvSpPr>
          <p:nvPr/>
        </p:nvSpPr>
        <p:spPr>
          <a:xfrm xmlns:a="http://schemas.openxmlformats.org/drawingml/2006/main">
            <a:off x="5429250" y="4381500"/>
            <a:ext cx="58102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7" name="">
            <a:extLst xmlns:a="http://schemas.openxmlformats.org/drawingml/2006/main">
              <a:ext uri="{FF2B5EF4-FFF2-40B4-BE49-F238E27FC236}">
                <a16:creationId xmlns:a16="http://schemas.microsoft.com/office/drawing/2014/main" id="{04A5C808-91C6-42A9-9822-F8E3EEB6D0DA}"/>
              </a:ext>
            </a:extLst>
          </p:cNvPr>
          <p:cNvSpPr>
            <a:spLocks xmlns:a="http://schemas.openxmlformats.org/drawingml/2006/main" noGrp="1"/>
          </p:cNvSpPr>
          <p:nvPr/>
        </p:nvSpPr>
        <p:spPr>
          <a:xfrm xmlns:a="http://schemas.openxmlformats.org/drawingml/2006/main">
            <a:off x="5524500" y="4495800"/>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Show: enter Telugu words</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User edits and retries</a:t>
            </a:r>
          </a:p>
        </p:txBody>
      </p:sp>
      <p:sp>
        <p:nvSpPr>
          <p:cNvPr id="18" name="">
            <a:extLst xmlns:a="http://schemas.openxmlformats.org/drawingml/2006/main">
              <a:ext uri="{FF2B5EF4-FFF2-40B4-BE49-F238E27FC236}">
                <a16:creationId xmlns:a16="http://schemas.microsoft.com/office/drawing/2014/main" id="{D21F10B3-5CE7-4679-8805-06CA6F385F6D}"/>
              </a:ext>
            </a:extLst>
          </p:cNvPr>
          <p:cNvSpPr>
            <a:spLocks xmlns:a="http://schemas.openxmlformats.org/drawingml/2006/main" noGrp="1"/>
          </p:cNvSpPr>
          <p:nvPr/>
        </p:nvSpPr>
        <p:spPr>
          <a:xfrm xmlns:a="http://schemas.openxmlformats.org/drawingml/2006/main">
            <a:off x="2238375" y="5105400"/>
            <a:ext cx="19050" cy="447675"/>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5AB00DC-6779-4ADF-A155-C6F7815A7CF1}"/>
              </a:ext>
            </a:extLst>
          </p:cNvPr>
          <p:cNvSpPr>
            <a:spLocks xmlns:a="http://schemas.openxmlformats.org/drawingml/2006/main" noGrp="1"/>
          </p:cNvSpPr>
          <p:nvPr/>
        </p:nvSpPr>
        <p:spPr>
          <a:xfrm xmlns:a="http://schemas.openxmlformats.org/drawingml/2006/main">
            <a:off x="2381250" y="53816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0" name="">
            <a:extLst xmlns:a="http://schemas.openxmlformats.org/drawingml/2006/main">
              <a:ext uri="{FF2B5EF4-FFF2-40B4-BE49-F238E27FC236}">
                <a16:creationId xmlns:a16="http://schemas.microsoft.com/office/drawing/2014/main" id="{E2403240-C6DB-4D9F-A4C7-C8F1D1A93FC8}"/>
              </a:ext>
            </a:extLst>
          </p:cNvPr>
          <p:cNvSpPr>
            <a:spLocks xmlns:a="http://schemas.openxmlformats.org/drawingml/2006/main" noGrp="1"/>
          </p:cNvSpPr>
          <p:nvPr/>
        </p:nvSpPr>
        <p:spPr>
          <a:xfrm xmlns:a="http://schemas.openxmlformats.org/drawingml/2006/main">
            <a:off x="2924175" y="53911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456052"/>
                </a:solidFill>
                <a:latin typeface="Arial"/>
                <a:ea typeface="Arial"/>
                <a:cs typeface="Arial"/>
              </a:defRPr>
            </a:defPPr>
          </a:lstStyle>
          <a:p xmlns:a="http://schemas.openxmlformats.org/drawingml/2006/main">
            <a:pPr>
              <a:defRPr sz="1500" b="1">
                <a:solidFill>
                  <a:srgbClr val="456052"/>
                </a:solidFill>
                <a:latin typeface="Arial"/>
                <a:ea typeface="Arial"/>
                <a:cs typeface="Arial"/>
              </a:defRPr>
            </a:pPr>
            <a:r>
              <a:rPr sz="1500" b="1">
                <a:solidFill>
                  <a:srgbClr val="456052"/>
                </a:solidFill>
                <a:latin typeface="Arial"/>
                <a:ea typeface="Arial"/>
                <a:cs typeface="Arial"/>
              </a:rPr>
              <a:t>YES</a:t>
            </a:r>
          </a:p>
        </p:txBody>
      </p:sp>
      <p:sp>
        <p:nvSpPr>
          <p:cNvPr id="21" name="">
            <a:extLst xmlns:a="http://schemas.openxmlformats.org/drawingml/2006/main">
              <a:ext uri="{FF2B5EF4-FFF2-40B4-BE49-F238E27FC236}">
                <a16:creationId xmlns:a16="http://schemas.microsoft.com/office/drawing/2014/main" id="{4B66412E-6FD0-4AB9-967E-FD758FA5C39A}"/>
              </a:ext>
            </a:extLst>
          </p:cNvPr>
          <p:cNvSpPr>
            <a:spLocks xmlns:a="http://schemas.openxmlformats.org/drawingml/2006/main" noGrp="1"/>
          </p:cNvSpPr>
          <p:nvPr/>
        </p:nvSpPr>
        <p:spPr>
          <a:xfrm xmlns:a="http://schemas.openxmlformats.org/drawingml/2006/main">
            <a:off x="4000500" y="5334000"/>
            <a:ext cx="7239000" cy="619125"/>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2" name="">
            <a:extLst xmlns:a="http://schemas.openxmlformats.org/drawingml/2006/main">
              <a:ext uri="{FF2B5EF4-FFF2-40B4-BE49-F238E27FC236}">
                <a16:creationId xmlns:a16="http://schemas.microsoft.com/office/drawing/2014/main" id="{A07832B1-11E3-485C-8E82-16806CFFC1C1}"/>
              </a:ext>
            </a:extLst>
          </p:cNvPr>
          <p:cNvSpPr>
            <a:spLocks xmlns:a="http://schemas.openxmlformats.org/drawingml/2006/main" noGrp="1"/>
          </p:cNvSpPr>
          <p:nvPr/>
        </p:nvSpPr>
        <p:spPr>
          <a:xfrm xmlns:a="http://schemas.openxmlformats.org/drawingml/2006/main">
            <a:off x="4095750" y="544830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4. Compare each token with the saved vocabulary</a:t>
            </a:r>
          </a:p>
        </p:txBody>
      </p:sp>
      <p:sp>
        <p:nvSpPr>
          <p:cNvPr id="23" name="">
            <a:extLst xmlns:a="http://schemas.openxmlformats.org/drawingml/2006/main">
              <a:ext uri="{FF2B5EF4-FFF2-40B4-BE49-F238E27FC236}">
                <a16:creationId xmlns:a16="http://schemas.microsoft.com/office/drawing/2014/main" id="{06E1979F-12F8-4C20-8123-76C84B7AC98F}"/>
              </a:ext>
            </a:extLst>
          </p:cNvPr>
          <p:cNvSpPr>
            <a:spLocks xmlns:a="http://schemas.openxmlformats.org/drawingml/2006/main" noGrp="1"/>
          </p:cNvSpPr>
          <p:nvPr/>
        </p:nvSpPr>
        <p:spPr>
          <a:xfrm xmlns:a="http://schemas.openxmlformats.org/drawingml/2006/main">
            <a:off x="5429250" y="1857375"/>
            <a:ext cx="58102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73F85E99-3BE1-4071-8F9A-63358608C75E}"/>
              </a:ext>
            </a:extLst>
          </p:cNvPr>
          <p:cNvSpPr>
            <a:spLocks xmlns:a="http://schemas.openxmlformats.org/drawingml/2006/main" noGrp="1"/>
          </p:cNvSpPr>
          <p:nvPr/>
        </p:nvSpPr>
        <p:spPr>
          <a:xfrm xmlns:a="http://schemas.openxmlformats.org/drawingml/2006/main">
            <a:off x="5524500" y="1971675"/>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Checkpoint available?</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No: Predict stays disabled</a:t>
            </a:r>
          </a:p>
        </p:txBody>
      </p:sp>
      <p:sp>
        <p:nvSpPr>
          <p:cNvPr id="25" name="">
            <a:extLst xmlns:a="http://schemas.openxmlformats.org/drawingml/2006/main">
              <a:ext uri="{FF2B5EF4-FFF2-40B4-BE49-F238E27FC236}">
                <a16:creationId xmlns:a16="http://schemas.microsoft.com/office/drawing/2014/main" id="{8027D6F5-EAB0-4F76-AD0D-70E59930D768}"/>
              </a:ext>
            </a:extLst>
          </p:cNvPr>
          <p:cNvSpPr>
            <a:spLocks xmlns:a="http://schemas.openxmlformats.org/drawingml/2006/main" noGrp="1"/>
          </p:cNvSpPr>
          <p:nvPr/>
        </p:nvSpPr>
        <p:spPr>
          <a:xfrm xmlns:a="http://schemas.openxmlformats.org/drawingml/2006/main">
            <a:off x="5429250" y="3095625"/>
            <a:ext cx="5810250" cy="7810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6" name="">
            <a:extLst xmlns:a="http://schemas.openxmlformats.org/drawingml/2006/main">
              <a:ext uri="{FF2B5EF4-FFF2-40B4-BE49-F238E27FC236}">
                <a16:creationId xmlns:a16="http://schemas.microsoft.com/office/drawing/2014/main" id="{560522BA-F0CF-4F28-941E-394DCD803F9F}"/>
              </a:ext>
            </a:extLst>
          </p:cNvPr>
          <p:cNvSpPr>
            <a:spLocks xmlns:a="http://schemas.openxmlformats.org/drawingml/2006/main" noGrp="1"/>
          </p:cNvSpPr>
          <p:nvPr/>
        </p:nvSpPr>
        <p:spPr>
          <a:xfrm xmlns:a="http://schemas.openxmlformats.org/drawingml/2006/main">
            <a:off x="5524500" y="3209925"/>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Load failure?</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Show an error and allow retry</a:t>
            </a:r>
          </a:p>
        </p:txBody>
      </p:sp>
    </p:spTree>
    <p:extLst>
      <p:ext uri="{BB962C8B-B14F-4D97-AF65-F5344CB8AC3E}">
        <p14:creationId xmlns:p14="http://schemas.microsoft.com/office/powerpoint/2010/main" val="893753144"/>
      </p:ext>
    </p:extLst>
  </p:cSld>
</p:sld>
</file>

<file path=ppt/slides/slide1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AD3EE83-8CFE-43EA-BEFC-EA7720E7611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DB33C3-D410-418D-806C-8321D730593C}"/>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VOCABULARY BRANCHES AND PREDICTION</a:t>
            </a:r>
          </a:p>
        </p:txBody>
      </p:sp>
      <p:sp>
        <p:nvSpPr>
          <p:cNvPr id="3" name="">
            <a:extLst xmlns:a="http://schemas.openxmlformats.org/drawingml/2006/main">
              <a:ext uri="{FF2B5EF4-FFF2-40B4-BE49-F238E27FC236}">
                <a16:creationId xmlns:a16="http://schemas.microsoft.com/office/drawing/2014/main" id="{FAEBE206-6AD4-40B8-9F04-69F87C539389}"/>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The retained words become a fixed-size numeric input</a:t>
            </a:r>
          </a:p>
        </p:txBody>
      </p:sp>
      <p:sp>
        <p:nvSpPr>
          <p:cNvPr id="4" name="">
            <a:extLst xmlns:a="http://schemas.openxmlformats.org/drawingml/2006/main">
              <a:ext uri="{FF2B5EF4-FFF2-40B4-BE49-F238E27FC236}">
                <a16:creationId xmlns:a16="http://schemas.microsoft.com/office/drawing/2014/main" id="{A130BFFC-7E36-48B8-AF5C-9367463C5191}"/>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5AB27B59-DED0-4767-B196-9C997B8F2FB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F5DBF825-389C-4D3B-8C63-472DA0FBDAB5}"/>
              </a:ext>
            </a:extLst>
          </p:cNvPr>
          <p:cNvSpPr>
            <a:spLocks xmlns:a="http://schemas.openxmlformats.org/drawingml/2006/main" noGrp="1"/>
          </p:cNvSpPr>
          <p:nvPr/>
        </p:nvSpPr>
        <p:spPr>
          <a:xfrm xmlns:a="http://schemas.openxmlformats.org/drawingml/2006/main">
            <a:off x="571500" y="1857375"/>
            <a:ext cx="2571750" cy="7620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DB157851-FF8D-4926-AC6B-683C9D2368E6}"/>
              </a:ext>
            </a:extLst>
          </p:cNvPr>
          <p:cNvSpPr>
            <a:spLocks xmlns:a="http://schemas.openxmlformats.org/drawingml/2006/main" noGrp="1"/>
          </p:cNvSpPr>
          <p:nvPr/>
        </p:nvSpPr>
        <p:spPr>
          <a:xfrm xmlns:a="http://schemas.openxmlformats.org/drawingml/2006/main">
            <a:off x="666750" y="197167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Any known word</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in the context?</a:t>
            </a:r>
          </a:p>
        </p:txBody>
      </p:sp>
      <p:sp>
        <p:nvSpPr>
          <p:cNvPr id="8" name="">
            <a:extLst xmlns:a="http://schemas.openxmlformats.org/drawingml/2006/main">
              <a:ext uri="{FF2B5EF4-FFF2-40B4-BE49-F238E27FC236}">
                <a16:creationId xmlns:a16="http://schemas.microsoft.com/office/drawing/2014/main" id="{47F37201-4234-4006-BD52-E32BD8A9DC35}"/>
              </a:ext>
            </a:extLst>
          </p:cNvPr>
          <p:cNvSpPr>
            <a:spLocks xmlns:a="http://schemas.openxmlformats.org/drawingml/2006/main" noGrp="1"/>
          </p:cNvSpPr>
          <p:nvPr/>
        </p:nvSpPr>
        <p:spPr>
          <a:xfrm xmlns:a="http://schemas.openxmlformats.org/drawingml/2006/main">
            <a:off x="3238500" y="2000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5136D9A0-33B4-4F55-B8F8-208A1CDE1579}"/>
              </a:ext>
            </a:extLst>
          </p:cNvPr>
          <p:cNvSpPr>
            <a:spLocks xmlns:a="http://schemas.openxmlformats.org/drawingml/2006/main" noGrp="1"/>
          </p:cNvSpPr>
          <p:nvPr/>
        </p:nvSpPr>
        <p:spPr>
          <a:xfrm xmlns:a="http://schemas.openxmlformats.org/drawingml/2006/main">
            <a:off x="3762375" y="168592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456052"/>
                </a:solidFill>
                <a:latin typeface="Arial"/>
                <a:ea typeface="Arial"/>
                <a:cs typeface="Arial"/>
              </a:defRPr>
            </a:defPPr>
          </a:lstStyle>
          <a:p xmlns:a="http://schemas.openxmlformats.org/drawingml/2006/main">
            <a:pPr>
              <a:defRPr sz="1425" b="1">
                <a:solidFill>
                  <a:srgbClr val="456052"/>
                </a:solidFill>
                <a:latin typeface="Arial"/>
                <a:ea typeface="Arial"/>
                <a:cs typeface="Arial"/>
              </a:defRPr>
            </a:pPr>
            <a:r>
              <a:rPr sz="1425" b="1">
                <a:solidFill>
                  <a:srgbClr val="456052"/>
                </a:solidFill>
                <a:latin typeface="Arial"/>
                <a:ea typeface="Arial"/>
                <a:cs typeface="Arial"/>
              </a:rPr>
              <a:t>NO</a:t>
            </a:r>
          </a:p>
        </p:txBody>
      </p:sp>
      <p:sp>
        <p:nvSpPr>
          <p:cNvPr id="10" name="">
            <a:extLst xmlns:a="http://schemas.openxmlformats.org/drawingml/2006/main">
              <a:ext uri="{FF2B5EF4-FFF2-40B4-BE49-F238E27FC236}">
                <a16:creationId xmlns:a16="http://schemas.microsoft.com/office/drawing/2014/main" id="{79D3CDB6-9413-4B1C-8A48-582D73BF1E06}"/>
              </a:ext>
            </a:extLst>
          </p:cNvPr>
          <p:cNvSpPr>
            <a:spLocks xmlns:a="http://schemas.openxmlformats.org/drawingml/2006/main" noGrp="1"/>
          </p:cNvSpPr>
          <p:nvPr/>
        </p:nvSpPr>
        <p:spPr>
          <a:xfrm xmlns:a="http://schemas.openxmlformats.org/drawingml/2006/main">
            <a:off x="4572000" y="1857375"/>
            <a:ext cx="6858000" cy="7620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1" name="">
            <a:extLst xmlns:a="http://schemas.openxmlformats.org/drawingml/2006/main">
              <a:ext uri="{FF2B5EF4-FFF2-40B4-BE49-F238E27FC236}">
                <a16:creationId xmlns:a16="http://schemas.microsoft.com/office/drawing/2014/main" id="{EE70B3BD-F7E0-4796-916D-5D2D5D9E96ED}"/>
              </a:ext>
            </a:extLst>
          </p:cNvPr>
          <p:cNvSpPr>
            <a:spLocks xmlns:a="http://schemas.openxmlformats.org/drawingml/2006/main" noGrp="1"/>
          </p:cNvSpPr>
          <p:nvPr/>
        </p:nvSpPr>
        <p:spPr>
          <a:xfrm xmlns:a="http://schemas.openxmlformats.org/drawingml/2006/main">
            <a:off x="4667250" y="1971675"/>
            <a:ext cx="666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All words unknown: show warning</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Ask for a familiar Telugu word</a:t>
            </a:r>
          </a:p>
        </p:txBody>
      </p:sp>
      <p:sp>
        <p:nvSpPr>
          <p:cNvPr id="12" name="">
            <a:extLst xmlns:a="http://schemas.openxmlformats.org/drawingml/2006/main">
              <a:ext uri="{FF2B5EF4-FFF2-40B4-BE49-F238E27FC236}">
                <a16:creationId xmlns:a16="http://schemas.microsoft.com/office/drawing/2014/main" id="{A2B28A72-A303-424E-BCA7-440435E4AB43}"/>
              </a:ext>
            </a:extLst>
          </p:cNvPr>
          <p:cNvSpPr>
            <a:spLocks xmlns:a="http://schemas.openxmlformats.org/drawingml/2006/main" noGrp="1"/>
          </p:cNvSpPr>
          <p:nvPr/>
        </p:nvSpPr>
        <p:spPr>
          <a:xfrm xmlns:a="http://schemas.openxmlformats.org/drawingml/2006/main">
            <a:off x="1666875" y="26479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3" name="">
            <a:extLst xmlns:a="http://schemas.openxmlformats.org/drawingml/2006/main">
              <a:ext uri="{FF2B5EF4-FFF2-40B4-BE49-F238E27FC236}">
                <a16:creationId xmlns:a16="http://schemas.microsoft.com/office/drawing/2014/main" id="{DD12F630-5030-40D8-9F3E-64F67AE96C39}"/>
              </a:ext>
            </a:extLst>
          </p:cNvPr>
          <p:cNvSpPr>
            <a:spLocks xmlns:a="http://schemas.openxmlformats.org/drawingml/2006/main" noGrp="1"/>
          </p:cNvSpPr>
          <p:nvPr/>
        </p:nvSpPr>
        <p:spPr>
          <a:xfrm xmlns:a="http://schemas.openxmlformats.org/drawingml/2006/main">
            <a:off x="2143125" y="27336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456052"/>
                </a:solidFill>
                <a:latin typeface="Arial"/>
                <a:ea typeface="Arial"/>
                <a:cs typeface="Arial"/>
              </a:defRPr>
            </a:defPPr>
          </a:lstStyle>
          <a:p xmlns:a="http://schemas.openxmlformats.org/drawingml/2006/main">
            <a:pPr>
              <a:defRPr sz="1425" b="1">
                <a:solidFill>
                  <a:srgbClr val="456052"/>
                </a:solidFill>
                <a:latin typeface="Arial"/>
                <a:ea typeface="Arial"/>
                <a:cs typeface="Arial"/>
              </a:defRPr>
            </a:pPr>
            <a:r>
              <a:rPr sz="1425" b="1">
                <a:solidFill>
                  <a:srgbClr val="456052"/>
                </a:solidFill>
                <a:latin typeface="Arial"/>
                <a:ea typeface="Arial"/>
                <a:cs typeface="Arial"/>
              </a:rPr>
              <a:t>YES</a:t>
            </a:r>
          </a:p>
        </p:txBody>
      </p:sp>
      <p:sp>
        <p:nvSpPr>
          <p:cNvPr id="14" name="">
            <a:extLst xmlns:a="http://schemas.openxmlformats.org/drawingml/2006/main">
              <a:ext uri="{FF2B5EF4-FFF2-40B4-BE49-F238E27FC236}">
                <a16:creationId xmlns:a16="http://schemas.microsoft.com/office/drawing/2014/main" id="{924C946D-0349-44E7-B84C-F62AEEF2550B}"/>
              </a:ext>
            </a:extLst>
          </p:cNvPr>
          <p:cNvSpPr>
            <a:spLocks xmlns:a="http://schemas.openxmlformats.org/drawingml/2006/main" noGrp="1"/>
          </p:cNvSpPr>
          <p:nvPr/>
        </p:nvSpPr>
        <p:spPr>
          <a:xfrm xmlns:a="http://schemas.openxmlformats.org/drawingml/2006/main">
            <a:off x="571500" y="3286125"/>
            <a:ext cx="25717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4491A9BD-0ACB-4C90-B914-44BD713108A8}"/>
              </a:ext>
            </a:extLst>
          </p:cNvPr>
          <p:cNvSpPr>
            <a:spLocks xmlns:a="http://schemas.openxmlformats.org/drawingml/2006/main" noGrp="1"/>
          </p:cNvSpPr>
          <p:nvPr/>
        </p:nvSpPr>
        <p:spPr>
          <a:xfrm xmlns:a="http://schemas.openxmlformats.org/drawingml/2006/main">
            <a:off x="666750" y="34004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Known word</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 vocabulary ID</a:t>
            </a:r>
          </a:p>
        </p:txBody>
      </p:sp>
      <p:sp>
        <p:nvSpPr>
          <p:cNvPr id="16" name="">
            <a:extLst xmlns:a="http://schemas.openxmlformats.org/drawingml/2006/main">
              <a:ext uri="{FF2B5EF4-FFF2-40B4-BE49-F238E27FC236}">
                <a16:creationId xmlns:a16="http://schemas.microsoft.com/office/drawing/2014/main" id="{EB466FCE-5CAE-49F3-9965-6B5D72EB7E5C}"/>
              </a:ext>
            </a:extLst>
          </p:cNvPr>
          <p:cNvSpPr>
            <a:spLocks xmlns:a="http://schemas.openxmlformats.org/drawingml/2006/main" noGrp="1"/>
          </p:cNvSpPr>
          <p:nvPr/>
        </p:nvSpPr>
        <p:spPr>
          <a:xfrm xmlns:a="http://schemas.openxmlformats.org/drawingml/2006/main">
            <a:off x="3714750" y="3286125"/>
            <a:ext cx="25717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7" name="">
            <a:extLst xmlns:a="http://schemas.openxmlformats.org/drawingml/2006/main">
              <a:ext uri="{FF2B5EF4-FFF2-40B4-BE49-F238E27FC236}">
                <a16:creationId xmlns:a16="http://schemas.microsoft.com/office/drawing/2014/main" id="{01A94119-3048-4385-943E-D2E57280B5D8}"/>
              </a:ext>
            </a:extLst>
          </p:cNvPr>
          <p:cNvSpPr>
            <a:spLocks xmlns:a="http://schemas.openxmlformats.org/drawingml/2006/main" noGrp="1"/>
          </p:cNvSpPr>
          <p:nvPr/>
        </p:nvSpPr>
        <p:spPr>
          <a:xfrm xmlns:a="http://schemas.openxmlformats.org/drawingml/2006/main">
            <a:off x="3810000" y="34004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Unknown word</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 UNK ID = 1</a:t>
            </a:r>
          </a:p>
        </p:txBody>
      </p:sp>
      <p:sp>
        <p:nvSpPr>
          <p:cNvPr id="18" name="">
            <a:extLst xmlns:a="http://schemas.openxmlformats.org/drawingml/2006/main">
              <a:ext uri="{FF2B5EF4-FFF2-40B4-BE49-F238E27FC236}">
                <a16:creationId xmlns:a16="http://schemas.microsoft.com/office/drawing/2014/main" id="{0910CC03-AE66-4152-927F-5E87F71786A0}"/>
              </a:ext>
            </a:extLst>
          </p:cNvPr>
          <p:cNvSpPr>
            <a:spLocks xmlns:a="http://schemas.openxmlformats.org/drawingml/2006/main" noGrp="1"/>
          </p:cNvSpPr>
          <p:nvPr/>
        </p:nvSpPr>
        <p:spPr>
          <a:xfrm xmlns:a="http://schemas.openxmlformats.org/drawingml/2006/main">
            <a:off x="1857375" y="3095625"/>
            <a:ext cx="31432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CD672DF-29FE-4747-916E-CE48F8748460}"/>
              </a:ext>
            </a:extLst>
          </p:cNvPr>
          <p:cNvSpPr>
            <a:spLocks xmlns:a="http://schemas.openxmlformats.org/drawingml/2006/main" noGrp="1"/>
          </p:cNvSpPr>
          <p:nvPr/>
        </p:nvSpPr>
        <p:spPr>
          <a:xfrm xmlns:a="http://schemas.openxmlformats.org/drawingml/2006/main">
            <a:off x="1857375" y="3095625"/>
            <a:ext cx="19050" cy="1905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3867A7D-A84E-4734-A59A-8F0935B4E256}"/>
              </a:ext>
            </a:extLst>
          </p:cNvPr>
          <p:cNvSpPr>
            <a:spLocks xmlns:a="http://schemas.openxmlformats.org/drawingml/2006/main" noGrp="1"/>
          </p:cNvSpPr>
          <p:nvPr/>
        </p:nvSpPr>
        <p:spPr>
          <a:xfrm xmlns:a="http://schemas.openxmlformats.org/drawingml/2006/main">
            <a:off x="5000625" y="3095625"/>
            <a:ext cx="19050" cy="1905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90B2047-B772-459F-AE11-17DE49CD6682}"/>
              </a:ext>
            </a:extLst>
          </p:cNvPr>
          <p:cNvSpPr>
            <a:spLocks xmlns:a="http://schemas.openxmlformats.org/drawingml/2006/main" noGrp="1"/>
          </p:cNvSpPr>
          <p:nvPr/>
        </p:nvSpPr>
        <p:spPr>
          <a:xfrm xmlns:a="http://schemas.openxmlformats.org/drawingml/2006/main">
            <a:off x="1857375" y="4010025"/>
            <a:ext cx="19050" cy="3429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9DB712D-8279-4678-844A-5B77FD0E330E}"/>
              </a:ext>
            </a:extLst>
          </p:cNvPr>
          <p:cNvSpPr>
            <a:spLocks xmlns:a="http://schemas.openxmlformats.org/drawingml/2006/main" noGrp="1"/>
          </p:cNvSpPr>
          <p:nvPr/>
        </p:nvSpPr>
        <p:spPr>
          <a:xfrm xmlns:a="http://schemas.openxmlformats.org/drawingml/2006/main">
            <a:off x="5000625" y="4010025"/>
            <a:ext cx="19050" cy="3429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1327EA4-3E5F-47BE-AC91-4FC33423A2E1}"/>
              </a:ext>
            </a:extLst>
          </p:cNvPr>
          <p:cNvSpPr>
            <a:spLocks xmlns:a="http://schemas.openxmlformats.org/drawingml/2006/main" noGrp="1"/>
          </p:cNvSpPr>
          <p:nvPr/>
        </p:nvSpPr>
        <p:spPr>
          <a:xfrm xmlns:a="http://schemas.openxmlformats.org/drawingml/2006/main">
            <a:off x="1857375" y="4333875"/>
            <a:ext cx="31432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BF7893E-23C8-4CD1-BB69-048116795F19}"/>
              </a:ext>
            </a:extLst>
          </p:cNvPr>
          <p:cNvSpPr>
            <a:spLocks xmlns:a="http://schemas.openxmlformats.org/drawingml/2006/main" noGrp="1"/>
          </p:cNvSpPr>
          <p:nvPr/>
        </p:nvSpPr>
        <p:spPr>
          <a:xfrm xmlns:a="http://schemas.openxmlformats.org/drawingml/2006/main">
            <a:off x="5095875" y="41052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5" name="">
            <a:extLst xmlns:a="http://schemas.openxmlformats.org/drawingml/2006/main">
              <a:ext uri="{FF2B5EF4-FFF2-40B4-BE49-F238E27FC236}">
                <a16:creationId xmlns:a16="http://schemas.microsoft.com/office/drawing/2014/main" id="{FD9AD8EA-367D-419D-90E6-0BFFC7B9FFD8}"/>
              </a:ext>
            </a:extLst>
          </p:cNvPr>
          <p:cNvSpPr>
            <a:spLocks xmlns:a="http://schemas.openxmlformats.org/drawingml/2006/main" noGrp="1"/>
          </p:cNvSpPr>
          <p:nvPr/>
        </p:nvSpPr>
        <p:spPr>
          <a:xfrm xmlns:a="http://schemas.openxmlformats.org/drawingml/2006/main">
            <a:off x="6286500" y="4000500"/>
            <a:ext cx="2381250" cy="7810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6" name="">
            <a:extLst xmlns:a="http://schemas.openxmlformats.org/drawingml/2006/main">
              <a:ext uri="{FF2B5EF4-FFF2-40B4-BE49-F238E27FC236}">
                <a16:creationId xmlns:a16="http://schemas.microsoft.com/office/drawing/2014/main" id="{A3F45A57-B07E-4246-9625-9570C0B4630C}"/>
              </a:ext>
            </a:extLst>
          </p:cNvPr>
          <p:cNvSpPr>
            <a:spLocks xmlns:a="http://schemas.openxmlformats.org/drawingml/2006/main" noGrp="1"/>
          </p:cNvSpPr>
          <p:nvPr/>
        </p:nvSpPr>
        <p:spPr>
          <a:xfrm xmlns:a="http://schemas.openxmlformats.org/drawingml/2006/main">
            <a:off x="6381750" y="4114800"/>
            <a:ext cx="219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Left-pad with 0</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Tensor shape: 1 × 8</a:t>
            </a:r>
          </a:p>
        </p:txBody>
      </p:sp>
      <p:sp>
        <p:nvSpPr>
          <p:cNvPr id="27" name="">
            <a:extLst xmlns:a="http://schemas.openxmlformats.org/drawingml/2006/main">
              <a:ext uri="{FF2B5EF4-FFF2-40B4-BE49-F238E27FC236}">
                <a16:creationId xmlns:a16="http://schemas.microsoft.com/office/drawing/2014/main" id="{91173E3E-5EAF-46BE-88B2-F68D214499C3}"/>
              </a:ext>
            </a:extLst>
          </p:cNvPr>
          <p:cNvSpPr>
            <a:spLocks xmlns:a="http://schemas.openxmlformats.org/drawingml/2006/main" noGrp="1"/>
          </p:cNvSpPr>
          <p:nvPr/>
        </p:nvSpPr>
        <p:spPr>
          <a:xfrm xmlns:a="http://schemas.openxmlformats.org/drawingml/2006/main">
            <a:off x="8743950" y="41624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8" name="">
            <a:extLst xmlns:a="http://schemas.openxmlformats.org/drawingml/2006/main">
              <a:ext uri="{FF2B5EF4-FFF2-40B4-BE49-F238E27FC236}">
                <a16:creationId xmlns:a16="http://schemas.microsoft.com/office/drawing/2014/main" id="{9C60B3DA-D2A5-43CB-956C-219569B898AE}"/>
              </a:ext>
            </a:extLst>
          </p:cNvPr>
          <p:cNvSpPr>
            <a:spLocks xmlns:a="http://schemas.openxmlformats.org/drawingml/2006/main" noGrp="1"/>
          </p:cNvSpPr>
          <p:nvPr/>
        </p:nvSpPr>
        <p:spPr>
          <a:xfrm xmlns:a="http://schemas.openxmlformats.org/drawingml/2006/main">
            <a:off x="9334500" y="4000500"/>
            <a:ext cx="2190750" cy="7810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29" name="">
            <a:extLst xmlns:a="http://schemas.openxmlformats.org/drawingml/2006/main">
              <a:ext uri="{FF2B5EF4-FFF2-40B4-BE49-F238E27FC236}">
                <a16:creationId xmlns:a16="http://schemas.microsoft.com/office/drawing/2014/main" id="{3039EE89-8030-49B2-8765-7A6E56566B13}"/>
              </a:ext>
            </a:extLst>
          </p:cNvPr>
          <p:cNvSpPr>
            <a:spLocks xmlns:a="http://schemas.openxmlformats.org/drawingml/2006/main" noGrp="1"/>
          </p:cNvSpPr>
          <p:nvPr/>
        </p:nvSpPr>
        <p:spPr>
          <a:xfrm xmlns:a="http://schemas.openxmlformats.org/drawingml/2006/main">
            <a:off x="9429750" y="4114800"/>
            <a:ext cx="200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Embedding + LSTM</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20,000 scores</a:t>
            </a:r>
          </a:p>
        </p:txBody>
      </p:sp>
      <p:sp>
        <p:nvSpPr>
          <p:cNvPr id="30" name="">
            <a:extLst xmlns:a="http://schemas.openxmlformats.org/drawingml/2006/main">
              <a:ext uri="{FF2B5EF4-FFF2-40B4-BE49-F238E27FC236}">
                <a16:creationId xmlns:a16="http://schemas.microsoft.com/office/drawing/2014/main" id="{A853A93A-9DE8-4741-A373-2FC5B8AD3A90}"/>
              </a:ext>
            </a:extLst>
          </p:cNvPr>
          <p:cNvSpPr>
            <a:spLocks xmlns:a="http://schemas.openxmlformats.org/drawingml/2006/main" noGrp="1"/>
          </p:cNvSpPr>
          <p:nvPr/>
        </p:nvSpPr>
        <p:spPr>
          <a:xfrm xmlns:a="http://schemas.openxmlformats.org/drawingml/2006/main">
            <a:off x="10191750" y="4810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1" name="">
            <a:extLst xmlns:a="http://schemas.openxmlformats.org/drawingml/2006/main">
              <a:ext uri="{FF2B5EF4-FFF2-40B4-BE49-F238E27FC236}">
                <a16:creationId xmlns:a16="http://schemas.microsoft.com/office/drawing/2014/main" id="{F385C2D8-6599-46F9-AD3F-09D1AAA90FCF}"/>
              </a:ext>
            </a:extLst>
          </p:cNvPr>
          <p:cNvSpPr>
            <a:spLocks xmlns:a="http://schemas.openxmlformats.org/drawingml/2006/main" noGrp="1"/>
          </p:cNvSpPr>
          <p:nvPr/>
        </p:nvSpPr>
        <p:spPr>
          <a:xfrm xmlns:a="http://schemas.openxmlformats.org/drawingml/2006/main">
            <a:off x="571500" y="5334000"/>
            <a:ext cx="10953750" cy="619125"/>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32" name="">
            <a:extLst xmlns:a="http://schemas.openxmlformats.org/drawingml/2006/main">
              <a:ext uri="{FF2B5EF4-FFF2-40B4-BE49-F238E27FC236}">
                <a16:creationId xmlns:a16="http://schemas.microsoft.com/office/drawing/2014/main" id="{AE49E76B-CDF6-4A67-A16C-3E2F846924F7}"/>
              </a:ext>
            </a:extLst>
          </p:cNvPr>
          <p:cNvSpPr>
            <a:spLocks xmlns:a="http://schemas.openxmlformats.org/drawingml/2006/main" noGrp="1"/>
          </p:cNvSpPr>
          <p:nvPr/>
        </p:nvSpPr>
        <p:spPr>
          <a:xfrm xmlns:a="http://schemas.openxmlformats.org/drawingml/2006/main">
            <a:off x="666750" y="5448300"/>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Softmax → exclude PAD / UNK → top 5 IDs → Telugu words + probabilities</a:t>
            </a:r>
          </a:p>
        </p:txBody>
      </p:sp>
    </p:spTree>
    <p:extLst>
      <p:ext uri="{BB962C8B-B14F-4D97-AF65-F5344CB8AC3E}">
        <p14:creationId xmlns:p14="http://schemas.microsoft.com/office/powerpoint/2010/main" val="1281374970"/>
      </p:ext>
    </p:extLst>
  </p:cSld>
</p:sld>
</file>

<file path=ppt/slides/slide1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5EEDCA5-5C38-49BA-97E5-92FC76465AA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296020-CC4A-4C4D-AF65-69996D17F978}"/>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PREPARATION</a:t>
            </a:r>
          </a:p>
        </p:txBody>
      </p:sp>
      <p:sp>
        <p:nvSpPr>
          <p:cNvPr id="3" name="">
            <a:extLst xmlns:a="http://schemas.openxmlformats.org/drawingml/2006/main">
              <a:ext uri="{FF2B5EF4-FFF2-40B4-BE49-F238E27FC236}">
                <a16:creationId xmlns:a16="http://schemas.microsoft.com/office/drawing/2014/main" id="{C55D7BDA-3404-45A4-BA0A-9E4FDDD9DF21}"/>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1–4 in the live Telugu application</a:t>
            </a:r>
          </a:p>
        </p:txBody>
      </p:sp>
      <p:sp>
        <p:nvSpPr>
          <p:cNvPr id="4" name="">
            <a:extLst xmlns:a="http://schemas.openxmlformats.org/drawingml/2006/main">
              <a:ext uri="{FF2B5EF4-FFF2-40B4-BE49-F238E27FC236}">
                <a16:creationId xmlns:a16="http://schemas.microsoft.com/office/drawing/2014/main" id="{792FB5E8-06A8-4254-83C9-3226BE5C319B}"/>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879D4B54-8534-4A60-8821-DD2225E07F5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51036EE5-3C27-4B56-BBCD-F9DEED5BD7EA}"/>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462FA017-D390-4253-AC29-0CD324999D8D}"/>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 Telugu phrase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User types text</a:t>
            </a:r>
          </a:p>
        </p:txBody>
      </p:sp>
      <p:sp>
        <p:nvSpPr>
          <p:cNvPr id="8" name="">
            <a:extLst xmlns:a="http://schemas.openxmlformats.org/drawingml/2006/main">
              <a:ext uri="{FF2B5EF4-FFF2-40B4-BE49-F238E27FC236}">
                <a16:creationId xmlns:a16="http://schemas.microsoft.com/office/drawing/2014/main" id="{C53A5F49-7E3D-4B74-A674-C5451FF426E0}"/>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B1ACD708-86AE-49CF-ADB6-2D56E7626454}"/>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1621AA3C-1D06-4E0B-909F-5447A6EEC600}"/>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 Tokenize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Normalize text</a:t>
            </a:r>
          </a:p>
        </p:txBody>
      </p:sp>
      <p:sp>
        <p:nvSpPr>
          <p:cNvPr id="11" name="">
            <a:extLst xmlns:a="http://schemas.openxmlformats.org/drawingml/2006/main">
              <a:ext uri="{FF2B5EF4-FFF2-40B4-BE49-F238E27FC236}">
                <a16:creationId xmlns:a16="http://schemas.microsoft.com/office/drawing/2014/main" id="{B30BA57A-36E7-4C07-B464-A2E6A9B37532}"/>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05D055A8-1173-4B05-8799-F808C6C5F212}"/>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68C10606-1168-463C-99F9-65C431B80A32}"/>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Keep context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Last 8 words</a:t>
            </a:r>
          </a:p>
        </p:txBody>
      </p:sp>
      <p:sp>
        <p:nvSpPr>
          <p:cNvPr id="14" name="">
            <a:extLst xmlns:a="http://schemas.openxmlformats.org/drawingml/2006/main">
              <a:ext uri="{FF2B5EF4-FFF2-40B4-BE49-F238E27FC236}">
                <a16:creationId xmlns:a16="http://schemas.microsoft.com/office/drawing/2014/main" id="{70D84744-5450-489C-8AC3-74C35FBE3AE9}"/>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188B9634-8028-4CC1-B9A8-805A0BD35644}"/>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44825712-9B09-4B9D-9338-8B587570FC63}"/>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4. Encode + pad</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integer IDs</a:t>
            </a:r>
          </a:p>
        </p:txBody>
      </p:sp>
      <p:sp>
        <p:nvSpPr>
          <p:cNvPr id="17" name="">
            <a:extLst xmlns:a="http://schemas.openxmlformats.org/drawingml/2006/main">
              <a:ext uri="{FF2B5EF4-FFF2-40B4-BE49-F238E27FC236}">
                <a16:creationId xmlns:a16="http://schemas.microsoft.com/office/drawing/2014/main" id="{30228289-4E19-4C8C-9724-E8E84C5584CA}"/>
              </a:ext>
            </a:extLst>
          </p:cNvPr>
          <p:cNvSpPr>
            <a:spLocks xmlns:a="http://schemas.openxmlformats.org/drawingml/2006/main" noGrp="1"/>
          </p:cNvSpPr>
          <p:nvPr/>
        </p:nvSpPr>
        <p:spPr>
          <a:xfrm xmlns:a="http://schemas.openxmlformats.org/drawingml/2006/main">
            <a:off x="571500" y="36195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Arial"/>
                <a:ea typeface="Arial"/>
                <a:cs typeface="Arial"/>
              </a:defRPr>
            </a:defPPr>
          </a:lstStyle>
          <a:p xmlns:a="http://schemas.openxmlformats.org/drawingml/2006/main">
            <a:pPr>
              <a:defRPr sz="2250" b="0">
                <a:solidFill>
                  <a:srgbClr val="344E41"/>
                </a:solidFill>
                <a:latin typeface="Arial"/>
                <a:ea typeface="Arial"/>
                <a:cs typeface="Arial"/>
              </a:defRPr>
            </a:pPr>
            <a:r>
              <a:rPr sz="2250" b="0">
                <a:solidFill>
                  <a:srgbClr val="344E41"/>
                </a:solidFill>
                <a:latin typeface="Arial"/>
                <a:ea typeface="Arial"/>
                <a:cs typeface="Arial"/>
              </a:rPr>
              <a:t>Input example: ఆరోగ్యంగా ఉండటానికి</a:t>
            </a:r>
          </a:p>
        </p:txBody>
      </p:sp>
      <p:sp>
        <p:nvSpPr>
          <p:cNvPr id="18" name="">
            <a:extLst xmlns:a="http://schemas.openxmlformats.org/drawingml/2006/main">
              <a:ext uri="{FF2B5EF4-FFF2-40B4-BE49-F238E27FC236}">
                <a16:creationId xmlns:a16="http://schemas.microsoft.com/office/drawing/2014/main" id="{D980D8CB-118E-45CD-86C7-EC4BAC0F0354}"/>
              </a:ext>
            </a:extLst>
          </p:cNvPr>
          <p:cNvSpPr>
            <a:spLocks xmlns:a="http://schemas.openxmlformats.org/drawingml/2006/main" noGrp="1"/>
          </p:cNvSpPr>
          <p:nvPr/>
        </p:nvSpPr>
        <p:spPr>
          <a:xfrm xmlns:a="http://schemas.openxmlformats.org/drawingml/2006/main">
            <a:off x="571500" y="4429125"/>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Known words use vocabulary IDs. Unknown words use ID 1.</a:t>
            </a:r>
          </a:p>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Short inputs receive padding ID 0 on the left.</a:t>
            </a:r>
          </a:p>
        </p:txBody>
      </p:sp>
      <p:sp>
        <p:nvSpPr>
          <p:cNvPr id="19" name="">
            <a:extLst xmlns:a="http://schemas.openxmlformats.org/drawingml/2006/main">
              <a:ext uri="{FF2B5EF4-FFF2-40B4-BE49-F238E27FC236}">
                <a16:creationId xmlns:a16="http://schemas.microsoft.com/office/drawing/2014/main" id="{7184E059-B68F-4CDB-A22F-78D0BA85D1E0}"/>
              </a:ext>
            </a:extLst>
          </p:cNvPr>
          <p:cNvSpPr>
            <a:spLocks xmlns:a="http://schemas.openxmlformats.org/drawingml/2006/main" noGrp="1"/>
          </p:cNvSpPr>
          <p:nvPr/>
        </p:nvSpPr>
        <p:spPr>
          <a:xfrm xmlns:a="http://schemas.openxmlformats.org/drawingml/2006/main">
            <a:off x="571500" y="55721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Empty, non-Telugu or entirely unknown input produces a warning.</a:t>
            </a:r>
          </a:p>
        </p:txBody>
      </p:sp>
    </p:spTree>
    <p:extLst>
      <p:ext uri="{BB962C8B-B14F-4D97-AF65-F5344CB8AC3E}">
        <p14:creationId xmlns:p14="http://schemas.microsoft.com/office/powerpoint/2010/main" val="2032914209"/>
      </p:ext>
    </p:extLst>
  </p:cSld>
</p:sld>
</file>

<file path=ppt/slides/slide1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C0EE132-2A93-4AF2-9A9A-43603C6A1DE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DE22D2-16D3-4E31-B814-B11E3DE157F6}"/>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PREDICTION</a:t>
            </a:r>
          </a:p>
        </p:txBody>
      </p:sp>
      <p:sp>
        <p:nvSpPr>
          <p:cNvPr id="3" name="">
            <a:extLst xmlns:a="http://schemas.openxmlformats.org/drawingml/2006/main">
              <a:ext uri="{FF2B5EF4-FFF2-40B4-BE49-F238E27FC236}">
                <a16:creationId xmlns:a16="http://schemas.microsoft.com/office/drawing/2014/main" id="{7FD8FD0E-2BA4-4F58-9EBF-BAE397874245}"/>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5–8 after the input becomes eight token IDs</a:t>
            </a:r>
          </a:p>
        </p:txBody>
      </p:sp>
      <p:sp>
        <p:nvSpPr>
          <p:cNvPr id="4" name="">
            <a:extLst xmlns:a="http://schemas.openxmlformats.org/drawingml/2006/main">
              <a:ext uri="{FF2B5EF4-FFF2-40B4-BE49-F238E27FC236}">
                <a16:creationId xmlns:a16="http://schemas.microsoft.com/office/drawing/2014/main" id="{8CE6E3EF-8FE4-462B-8306-0DED30FBCABA}"/>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59D11C4C-4C32-4EB6-865B-78F1D3B3FEE5}"/>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8DE1F4DA-C0F2-4B2F-AFEF-F3616DA8C801}"/>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F4FB91EB-5F50-4908-A601-09FE250FB03F}"/>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Embed words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 64 features</a:t>
            </a:r>
          </a:p>
        </p:txBody>
      </p:sp>
      <p:sp>
        <p:nvSpPr>
          <p:cNvPr id="8" name="">
            <a:extLst xmlns:a="http://schemas.openxmlformats.org/drawingml/2006/main">
              <a:ext uri="{FF2B5EF4-FFF2-40B4-BE49-F238E27FC236}">
                <a16:creationId xmlns:a16="http://schemas.microsoft.com/office/drawing/2014/main" id="{BD9D6C7D-1FE6-466A-A7D8-2ADFD4C481DB}"/>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F2F1FC8A-2BBB-4072-8348-3D588407A87D}"/>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121B0EB4-F2F2-474C-A962-31206FEF075C}"/>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6. Saved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128-d final state</a:t>
            </a:r>
          </a:p>
        </p:txBody>
      </p:sp>
      <p:sp>
        <p:nvSpPr>
          <p:cNvPr id="11" name="">
            <a:extLst xmlns:a="http://schemas.openxmlformats.org/drawingml/2006/main">
              <a:ext uri="{FF2B5EF4-FFF2-40B4-BE49-F238E27FC236}">
                <a16:creationId xmlns:a16="http://schemas.microsoft.com/office/drawing/2014/main" id="{6B481835-3461-4F70-8FE4-C682FC5E9856}"/>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A3DBD47D-BB3F-4293-908A-F50BF98281AF}"/>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5815DD98-0AC9-4E7C-BFA0-50600A2A71F2}"/>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7. Output layer</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scores</a:t>
            </a:r>
          </a:p>
        </p:txBody>
      </p:sp>
      <p:sp>
        <p:nvSpPr>
          <p:cNvPr id="14" name="">
            <a:extLst xmlns:a="http://schemas.openxmlformats.org/drawingml/2006/main">
              <a:ext uri="{FF2B5EF4-FFF2-40B4-BE49-F238E27FC236}">
                <a16:creationId xmlns:a16="http://schemas.microsoft.com/office/drawing/2014/main" id="{44401002-7774-4468-8F7E-FF5EA4018F47}"/>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57DF5077-725C-4432-9E1D-2D062AF8CD5A}"/>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0CD91B44-3BD2-4693-BFD9-0AC78202FDB3}"/>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Rank + display</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Top 5 words</a:t>
            </a:r>
          </a:p>
        </p:txBody>
      </p:sp>
      <p:sp>
        <p:nvSpPr>
          <p:cNvPr id="17" name="">
            <a:extLst xmlns:a="http://schemas.openxmlformats.org/drawingml/2006/main">
              <a:ext uri="{FF2B5EF4-FFF2-40B4-BE49-F238E27FC236}">
                <a16:creationId xmlns:a16="http://schemas.microsoft.com/office/drawing/2014/main" id="{4F599A50-B6B2-4DC4-B4C5-C4714D482CAA}"/>
              </a:ext>
            </a:extLst>
          </p:cNvPr>
          <p:cNvSpPr>
            <a:spLocks xmlns:a="http://schemas.openxmlformats.org/drawingml/2006/main" noGrp="1"/>
          </p:cNvSpPr>
          <p:nvPr/>
        </p:nvSpPr>
        <p:spPr>
          <a:xfrm xmlns:a="http://schemas.openxmlformats.org/drawingml/2006/main">
            <a:off x="619125" y="3762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344E41"/>
                </a:solidFill>
                <a:latin typeface="Cambria"/>
                <a:ea typeface="Cambria"/>
                <a:cs typeface="Cambria"/>
              </a:defRPr>
            </a:defPPr>
          </a:lstStyle>
          <a:p xmlns:a="http://schemas.openxmlformats.org/drawingml/2006/main">
            <a:pPr>
              <a:defRPr sz="2475" b="0">
                <a:solidFill>
                  <a:srgbClr val="344E41"/>
                </a:solidFill>
                <a:latin typeface="Cambria"/>
                <a:ea typeface="Cambria"/>
                <a:cs typeface="Cambria"/>
              </a:defRPr>
            </a:pPr>
            <a:r>
              <a:rPr sz="2475" b="0">
                <a:solidFill>
                  <a:srgbClr val="344E41"/>
                </a:solidFill>
                <a:latin typeface="Cambria"/>
                <a:ea typeface="Cambria"/>
                <a:cs typeface="Cambria"/>
              </a:rPr>
              <a:t>z = Wout h + bout      pⱼ = exp(zⱼ) / Σₖ exp(zₖ)</a:t>
            </a:r>
          </a:p>
        </p:txBody>
      </p:sp>
      <p:sp>
        <p:nvSpPr>
          <p:cNvPr id="18" name="">
            <a:extLst xmlns:a="http://schemas.openxmlformats.org/drawingml/2006/main">
              <a:ext uri="{FF2B5EF4-FFF2-40B4-BE49-F238E27FC236}">
                <a16:creationId xmlns:a16="http://schemas.microsoft.com/office/drawing/2014/main" id="{4FF82BD7-A8D0-47B9-A003-26F0B6D82190}"/>
              </a:ext>
            </a:extLst>
          </p:cNvPr>
          <p:cNvSpPr>
            <a:spLocks xmlns:a="http://schemas.openxmlformats.org/drawingml/2006/main" noGrp="1"/>
          </p:cNvSpPr>
          <p:nvPr/>
        </p:nvSpPr>
        <p:spPr>
          <a:xfrm xmlns:a="http://schemas.openxmlformats.org/drawingml/2006/main">
            <a:off x="571500" y="4714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Exclude PAD and UNK from suggestions. Convert the highest-ranked</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word IDs back to Telugu words and show their probabilities.</a:t>
            </a:r>
          </a:p>
        </p:txBody>
      </p:sp>
      <p:sp>
        <p:nvSpPr>
          <p:cNvPr id="19" name="">
            <a:extLst xmlns:a="http://schemas.openxmlformats.org/drawingml/2006/main">
              <a:ext uri="{FF2B5EF4-FFF2-40B4-BE49-F238E27FC236}">
                <a16:creationId xmlns:a16="http://schemas.microsoft.com/office/drawing/2014/main" id="{3EBDD25F-816C-499F-A049-376D134ABFE8}"/>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Inference uses saved weights. Clicking Predict does not retrain the model.</a:t>
            </a:r>
          </a:p>
        </p:txBody>
      </p:sp>
    </p:spTree>
    <p:extLst>
      <p:ext uri="{BB962C8B-B14F-4D97-AF65-F5344CB8AC3E}">
        <p14:creationId xmlns:p14="http://schemas.microsoft.com/office/powerpoint/2010/main" val="183493195"/>
      </p:ext>
    </p:extLst>
  </p:cSld>
</p:sld>
</file>

<file path=ppt/slides/slide1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8E62C3-D493-4D9A-9239-B66290580CED}"/>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01F33F-C928-49A3-909D-853E6A8F0514}"/>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RESULTS AND CONTRIBUTION</a:t>
            </a:r>
          </a:p>
        </p:txBody>
      </p:sp>
      <p:sp>
        <p:nvSpPr>
          <p:cNvPr id="3" name="">
            <a:extLst xmlns:a="http://schemas.openxmlformats.org/drawingml/2006/main">
              <a:ext uri="{FF2B5EF4-FFF2-40B4-BE49-F238E27FC236}">
                <a16:creationId xmlns:a16="http://schemas.microsoft.com/office/drawing/2014/main" id="{F644867D-A2FF-4D1D-BC63-0C775A120895}"/>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All four models completed five epochs and checkpoint verification</a:t>
            </a:r>
          </a:p>
        </p:txBody>
      </p:sp>
      <p:sp>
        <p:nvSpPr>
          <p:cNvPr id="4" name="">
            <a:extLst xmlns:a="http://schemas.openxmlformats.org/drawingml/2006/main">
              <a:ext uri="{FF2B5EF4-FFF2-40B4-BE49-F238E27FC236}">
                <a16:creationId xmlns:a16="http://schemas.microsoft.com/office/drawing/2014/main" id="{2D266EB6-C54F-40AC-9C5E-CA58D6533AC8}"/>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56A61892-2BAD-4664-AD3A-71818DE5B81F}"/>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18</a:t>
            </a:r>
          </a:p>
        </p:txBody>
      </p:sp>
      <p:graphicFrame>
        <p:nvGraphicFramePr>
          <p:cNvPr id="6" name="">
            <a:extLst xmlns:a="http://schemas.openxmlformats.org/drawingml/2006/main">
              <a:ext uri="{FF2B5EF4-FFF2-40B4-BE49-F238E27FC236}">
                <a16:creationId xmlns:a16="http://schemas.microsoft.com/office/drawing/2014/main" id="{89A732C0-C777-448A-B991-1E6E47A92AF7}"/>
              </a:ext>
            </a:extLst>
          </p:cNvPr>
          <p:cNvGraphicFramePr/>
          <p:nvPr/>
        </p:nvGraphicFramePr>
        <p:xfrm>
          <a:off xmlns:a="http://schemas.openxmlformats.org/drawingml/2006/main" x="571500" y="1809750"/>
          <a:ext xmlns:a="http://schemas.openxmlformats.org/drawingml/2006/main" cx="11049000" cy="2857500"/>
        </p:xfrm>
        <a:graphic xmlns:a="http://schemas.openxmlformats.org/drawingml/2006/main">
          <a:graphicData uri="http://schemas.openxmlformats.org/drawingml/2006/table">
            <a:tbl>
              <a:tblPr firstRow="1" bandRow="0"/>
              <a:tblGrid>
                <a:gridCol w="4476750"/>
                <a:gridCol w="2190750"/>
                <a:gridCol w="2190750"/>
                <a:gridCol w="2190750"/>
              </a:tblGrid>
              <a:tr h="571500">
                <a:tc>
                  <a:txBody>
                    <a:bodyPr/>
                    <a:lstStyle/>
                    <a:p>
                      <a:r>
                        <a:rPr sz="1875" b="1">
                          <a:solidFill>
                            <a:srgbClr val="FFFFFF"/>
                          </a:solidFill>
                          <a:latin typeface="Arial"/>
                          <a:ea typeface="Arial"/>
                          <a:cs typeface="Arial"/>
                        </a:rPr>
                        <a:t>Model</a:t>
                      </a:r>
                    </a:p>
                  </a:txBody>
                  <a:tcPr marL="91440" marR="91440" marT="45720" marB="45720">
                    <a:lnL w="9525">
                      <a:solidFill>
                        <a:srgbClr val="A3B18A"/>
                      </a:solidFill>
                      <a:prstDash val="solid"/>
                    </a:lnL>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Top-1</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Top-5</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Perplexity</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r>
              <a:tr h="571500">
                <a:tc>
                  <a:txBody>
                    <a:bodyPr/>
                    <a:lstStyle/>
                    <a:p>
                      <a:r>
                        <a:rPr sz="1875" b="0">
                          <a:solidFill>
                            <a:srgbClr val="344E41"/>
                          </a:solidFill>
                          <a:latin typeface="Arial"/>
                          <a:ea typeface="Arial"/>
                          <a:cs typeface="Arial"/>
                        </a:rPr>
                        <a:t>LSTM</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18.03%</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33.57%</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199.02</a:t>
                      </a:r>
                    </a:p>
                  </a:txBody>
                  <a:tcPr marL="91440" marR="91440" marT="45720" marB="45720">
                    <a:lnR w="9525">
                      <a:solidFill>
                        <a:srgbClr val="A3B18A"/>
                      </a:solidFill>
                      <a:prstDash val="solid"/>
                    </a:lnR>
                    <a:lnB w="9525">
                      <a:solidFill>
                        <a:srgbClr val="A3B18A"/>
                      </a:solidFill>
                      <a:prstDash val="solid"/>
                    </a:lnB>
                    <a:solidFill>
                      <a:srgbClr val="E7E5DD"/>
                    </a:solidFill>
                  </a:tcPr>
                </a:tc>
              </a:tr>
              <a:tr h="571500">
                <a:tc>
                  <a:txBody>
                    <a:bodyPr/>
                    <a:lstStyle/>
                    <a:p>
                      <a:r>
                        <a:rPr sz="1875" b="0">
                          <a:solidFill>
                            <a:srgbClr val="344E41"/>
                          </a:solidFill>
                          <a:latin typeface="Arial"/>
                          <a:ea typeface="Arial"/>
                          <a:cs typeface="Arial"/>
                        </a:rPr>
                        <a:t>Bi-LSTM</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18.82%</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35.00%</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178.60</a:t>
                      </a:r>
                    </a:p>
                  </a:txBody>
                  <a:tcPr marL="91440" marR="91440" marT="45720" marB="45720">
                    <a:lnR w="9525">
                      <a:solidFill>
                        <a:srgbClr val="A3B18A"/>
                      </a:solidFill>
                      <a:prstDash val="solid"/>
                    </a:lnR>
                    <a:lnB w="9525">
                      <a:solidFill>
                        <a:srgbClr val="A3B18A"/>
                      </a:solidFill>
                      <a:prstDash val="solid"/>
                    </a:lnB>
                    <a:solidFill>
                      <a:srgbClr val="DAD7CD"/>
                    </a:solidFill>
                  </a:tcPr>
                </a:tc>
              </a:tr>
              <a:tr h="571500">
                <a:tc>
                  <a:txBody>
                    <a:bodyPr/>
                    <a:lstStyle/>
                    <a:p>
                      <a:r>
                        <a:rPr sz="1875" b="0">
                          <a:solidFill>
                            <a:srgbClr val="344E41"/>
                          </a:solidFill>
                          <a:latin typeface="Arial"/>
                          <a:ea typeface="Arial"/>
                          <a:cs typeface="Arial"/>
                        </a:rPr>
                        <a:t>Word CNN</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17.67%</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33.53%</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193.76</a:t>
                      </a:r>
                    </a:p>
                  </a:txBody>
                  <a:tcPr marL="91440" marR="91440" marT="45720" marB="45720">
                    <a:lnR w="9525">
                      <a:solidFill>
                        <a:srgbClr val="A3B18A"/>
                      </a:solidFill>
                      <a:prstDash val="solid"/>
                    </a:lnR>
                    <a:lnB w="9525">
                      <a:solidFill>
                        <a:srgbClr val="A3B18A"/>
                      </a:solidFill>
                      <a:prstDash val="solid"/>
                    </a:lnB>
                    <a:solidFill>
                      <a:srgbClr val="E7E5DD"/>
                    </a:solidFill>
                  </a:tcPr>
                </a:tc>
              </a:tr>
              <a:tr h="571500">
                <a:tc>
                  <a:txBody>
                    <a:bodyPr/>
                    <a:lstStyle/>
                    <a:p>
                      <a:r>
                        <a:rPr sz="1875" b="0">
                          <a:solidFill>
                            <a:srgbClr val="344E41"/>
                          </a:solidFill>
                          <a:latin typeface="Arial"/>
                          <a:ea typeface="Arial"/>
                          <a:cs typeface="Arial"/>
                        </a:rPr>
                        <a:t>Word–character CNN</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18.55%</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34.68%</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167.13</a:t>
                      </a:r>
                    </a:p>
                  </a:txBody>
                  <a:tcPr marL="91440" marR="91440" marT="45720" marB="45720">
                    <a:lnR w="9525">
                      <a:solidFill>
                        <a:srgbClr val="A3B18A"/>
                      </a:solidFill>
                      <a:prstDash val="solid"/>
                    </a:lnR>
                    <a:lnB w="9525">
                      <a:solidFill>
                        <a:srgbClr val="A3B18A"/>
                      </a:solidFill>
                      <a:prstDash val="solid"/>
                    </a:lnB>
                    <a:solidFill>
                      <a:srgbClr val="DAD7CD"/>
                    </a:solidFill>
                  </a:tcPr>
                </a:tc>
              </a:tr>
            </a:tbl>
          </a:graphicData>
        </a:graphic>
      </p:graphicFrame>
      <p:sp>
        <p:nvSpPr>
          <p:cNvPr id="7" name="">
            <a:extLst xmlns:a="http://schemas.openxmlformats.org/drawingml/2006/main">
              <a:ext uri="{FF2B5EF4-FFF2-40B4-BE49-F238E27FC236}">
                <a16:creationId xmlns:a16="http://schemas.microsoft.com/office/drawing/2014/main" id="{36936BA8-129E-454A-9C31-458DC07B1675}"/>
              </a:ext>
            </a:extLst>
          </p:cNvPr>
          <p:cNvSpPr>
            <a:spLocks xmlns:a="http://schemas.openxmlformats.org/drawingml/2006/main" noGrp="1"/>
          </p:cNvSpPr>
          <p:nvPr/>
        </p:nvSpPr>
        <p:spPr>
          <a:xfrm xmlns:a="http://schemas.openxmlformats.org/drawingml/2006/main">
            <a:off x="571500" y="500062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44E41"/>
                </a:solidFill>
                <a:latin typeface="Arial"/>
                <a:ea typeface="Arial"/>
                <a:cs typeface="Arial"/>
              </a:defRPr>
            </a:defPPr>
          </a:lstStyle>
          <a:p xmlns:a="http://schemas.openxmlformats.org/drawingml/2006/main">
            <a:pPr>
              <a:defRPr sz="1875" b="1">
                <a:solidFill>
                  <a:srgbClr val="344E41"/>
                </a:solidFill>
                <a:latin typeface="Arial"/>
                <a:ea typeface="Arial"/>
                <a:cs typeface="Arial"/>
              </a:defRPr>
            </a:pPr>
            <a:r>
              <a:rPr sz="1875" b="1">
                <a:solidFill>
                  <a:srgbClr val="344E41"/>
                </a:solidFill>
                <a:latin typeface="Arial"/>
                <a:ea typeface="Arial"/>
                <a:cs typeface="Arial"/>
              </a:rPr>
              <a:t>Unknown-input examples: character CNN top-1 14.64%, word CNN 13.13%.</a:t>
            </a:r>
          </a:p>
        </p:txBody>
      </p:sp>
      <p:sp>
        <p:nvSpPr>
          <p:cNvPr id="8" name="">
            <a:extLst xmlns:a="http://schemas.openxmlformats.org/drawingml/2006/main">
              <a:ext uri="{FF2B5EF4-FFF2-40B4-BE49-F238E27FC236}">
                <a16:creationId xmlns:a16="http://schemas.microsoft.com/office/drawing/2014/main" id="{6A12264D-32AA-4379-AEA8-395518D556AC}"/>
              </a:ext>
            </a:extLst>
          </p:cNvPr>
          <p:cNvSpPr>
            <a:spLocks xmlns:a="http://schemas.openxmlformats.org/drawingml/2006/main" noGrp="1"/>
          </p:cNvSpPr>
          <p:nvPr/>
        </p:nvSpPr>
        <p:spPr>
          <a:xfrm xmlns:a="http://schemas.openxmlformats.org/drawingml/2006/main">
            <a:off x="571500" y="56197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Single-seed evidence. Rare-target gains and the gate’s specific benefit remain unproven.</a:t>
            </a:r>
          </a:p>
        </p:txBody>
      </p:sp>
    </p:spTree>
    <p:extLst>
      <p:ext uri="{BB962C8B-B14F-4D97-AF65-F5344CB8AC3E}">
        <p14:creationId xmlns:p14="http://schemas.microsoft.com/office/powerpoint/2010/main" val="3384864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2026-10-15T04:40:34.5240000Z</dcterms:created>
  <dcterms:modified xsi:type="dcterms:W3CDTF">2026-10-15T04:40:34.5240000Z</dcterms:modified>
</coreProperties>
</file>