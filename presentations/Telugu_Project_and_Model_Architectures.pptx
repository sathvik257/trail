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6b3dbb4e3b4b3b" /><Relationship Type="http://schemas.openxmlformats.org/officeDocument/2006/relationships/extended-properties" Target="/docProps/app.xml" Id="Ree38bbfc49aa4306" /><Relationship Type="http://schemas.openxmlformats.org/officeDocument/2006/relationships/officeDocument" Target="/ppt/presentation.xml" Id="Ra424759b66af4b63" /></Relationships>
</file>

<file path=ppt/presentation.xml><?xml version="1.0" encoding="utf-8"?>
<p:presentation xmlns:p="http://schemas.openxmlformats.org/presentationml/2006/main">
  <p:sldMasterIdLst>
    <p:sldMasterId xmlns:r="http://schemas.openxmlformats.org/officeDocument/2006/relationships" id="2147483648" r:id="Rab8da396874640e8"/>
  </p:sldMasterIdLst>
  <p:notesMasterIdLst>
    <p:notesMasterId xmlns:r="http://schemas.openxmlformats.org/officeDocument/2006/relationships" r:id="R86829023509b461a"/>
  </p:notesMasterIdLst>
  <p:sldIdLst>
    <p:sldId xmlns:r="http://schemas.openxmlformats.org/officeDocument/2006/relationships" id="256" r:id="R49e698b72e2a4acc"/>
    <p:sldId xmlns:r="http://schemas.openxmlformats.org/officeDocument/2006/relationships" id="257" r:id="Radc0e6f98c1947e0"/>
    <p:sldId xmlns:r="http://schemas.openxmlformats.org/officeDocument/2006/relationships" id="258" r:id="R6a97d97fb67a4332"/>
    <p:sldId xmlns:r="http://schemas.openxmlformats.org/officeDocument/2006/relationships" id="259" r:id="R73494f4f4c3044d3"/>
    <p:sldId xmlns:r="http://schemas.openxmlformats.org/officeDocument/2006/relationships" id="260" r:id="R6c11f7f2d1404da8"/>
    <p:sldId xmlns:r="http://schemas.openxmlformats.org/officeDocument/2006/relationships" id="261" r:id="R7230de44d8874525"/>
    <p:sldId xmlns:r="http://schemas.openxmlformats.org/officeDocument/2006/relationships" id="262" r:id="R5f4334e608f44938"/>
    <p:sldId xmlns:r="http://schemas.openxmlformats.org/officeDocument/2006/relationships" id="263" r:id="R61e609f1be174f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db6394577a4907" /><Relationship Type="http://schemas.openxmlformats.org/officeDocument/2006/relationships/slideMaster" Target="/ppt/slideMasters/slideMaster1.xml" Id="Rab8da396874640e8" /><Relationship Type="http://schemas.openxmlformats.org/officeDocument/2006/relationships/notesMaster" Target="/ppt/notesMasters/notesMaster1.xml" Id="R86829023509b461a" /><Relationship Type="http://schemas.openxmlformats.org/officeDocument/2006/relationships/presProps" Target="/ppt/presProps.xml" Id="R251824833e2546ab" /><Relationship Type="http://schemas.openxmlformats.org/officeDocument/2006/relationships/tableStyles" Target="/ppt/tableStyles.xml" Id="Reb71d8f746f147af" /><Relationship Type="http://schemas.openxmlformats.org/officeDocument/2006/relationships/slide" Target="/ppt/slides/slide1.xml" Id="R49e698b72e2a4acc" /><Relationship Type="http://schemas.openxmlformats.org/officeDocument/2006/relationships/slide" Target="/ppt/slides/slide2.xml" Id="Radc0e6f98c1947e0" /><Relationship Type="http://schemas.openxmlformats.org/officeDocument/2006/relationships/slide" Target="/ppt/slides/slide3.xml" Id="R6a97d97fb67a4332" /><Relationship Type="http://schemas.openxmlformats.org/officeDocument/2006/relationships/slide" Target="/ppt/slides/slide4.xml" Id="R73494f4f4c3044d3" /><Relationship Type="http://schemas.openxmlformats.org/officeDocument/2006/relationships/slide" Target="/ppt/slides/slide5.xml" Id="R6c11f7f2d1404da8" /><Relationship Type="http://schemas.openxmlformats.org/officeDocument/2006/relationships/slide" Target="/ppt/slides/slide6.xml" Id="R7230de44d8874525" /><Relationship Type="http://schemas.openxmlformats.org/officeDocument/2006/relationships/slide" Target="/ppt/slides/slide7.xml" Id="R5f4334e608f44938" /><Relationship Type="http://schemas.openxmlformats.org/officeDocument/2006/relationships/slide" Target="/ppt/slides/slide8.xml" Id="R61e609f1be174f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835574d46a4d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94e2b1f60141a5" /><Relationship Type="http://schemas.openxmlformats.org/officeDocument/2006/relationships/notesMaster" Target="/ppt/notesMasters/notesMaster1.xml" Id="Re8bb7a0ba6584a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6f096a56d14326" /><Relationship Type="http://schemas.openxmlformats.org/officeDocument/2006/relationships/notesMaster" Target="/ppt/notesMasters/notesMaster1.xml" Id="Rd7277144250b4b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5788f776b048da" /><Relationship Type="http://schemas.openxmlformats.org/officeDocument/2006/relationships/notesMaster" Target="/ppt/notesMasters/notesMaster1.xml" Id="Rf5b77deb87ac41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590d93875e48cc" /><Relationship Type="http://schemas.openxmlformats.org/officeDocument/2006/relationships/notesMaster" Target="/ppt/notesMasters/notesMaster1.xml" Id="R3221c0d4e3d04b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e480f4c819456e" /><Relationship Type="http://schemas.openxmlformats.org/officeDocument/2006/relationships/notesMaster" Target="/ppt/notesMasters/notesMaster1.xml" Id="R474fd9ad95664f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f44204719d4d3f" /><Relationship Type="http://schemas.openxmlformats.org/officeDocument/2006/relationships/notesMaster" Target="/ppt/notesMasters/notesMaster1.xml" Id="Re9487dd3f00941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704afa32b64ef9" /><Relationship Type="http://schemas.openxmlformats.org/officeDocument/2006/relationships/notesMaster" Target="/ppt/notesMasters/notesMaster1.xml" Id="Rb103f947e8d849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855fef6bef484c" /><Relationship Type="http://schemas.openxmlformats.org/officeDocument/2006/relationships/notesMaster" Target="/ppt/notesMasters/notesMaster1.xml" Id="R1a624a8ef9eb4c0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predicts the next word from a short text prefix. The overall scope is multilingual, with Telugu as the current implementation. All four models have completed five epochs, held-out evaluation and verification.</a:t>
            </a:r>
          </a:p>
          <a:p xmlns:a="http://schemas.openxmlformats.org/drawingml/2006/main">
            <a:r>
              <a:t/>
            </a:r>
          </a:p>
          <a:p xmlns:a="http://schemas.openxmlformats.org/drawingml/2006/main">
            <a:r>
              <a:t>Evidence: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implementation supports Telugu. Multilingual expansion remains future scope. The fixed output vocabulary limits which target words can be suggested.</a:t>
            </a:r>
          </a:p>
          <a:p xmlns:a="http://schemas.openxmlformats.org/drawingml/2006/main">
            <a:r>
              <a:t/>
            </a:r>
          </a:p>
          <a:p xmlns:a="http://schemas.openxmlformats.org/drawingml/2006/main">
            <a:r>
              <a:t>Evidence: src/telugu_neural_predictor.py; src/wordchar_model.py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size 200,092. Word CNN top-1 17.67%, gated word-character CNN 18.55%. Results are single seed with different parameter counts. Research originality and the gate-specific benefit remain unestablished.</a:t>
            </a:r>
          </a:p>
          <a:p xmlns:a="http://schemas.openxmlformats.org/drawingml/2006/main">
            <a:r>
              <a:t/>
            </a:r>
          </a:p>
          <a:p xmlns:a="http://schemas.openxmlformats.org/drawingml/2006/main">
            <a:r>
              <a:t>Evidence: FINAL_MODEL_RESULTS.md;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upper row describes training and held-out evaluation. The lower row is the live application, which uses the saved LSTM. The other models are research comparisons, not deployed options. Vocabulary is fitted only on training data.</a:t>
            </a:r>
          </a:p>
          <a:p xmlns:a="http://schemas.openxmlformats.org/drawingml/2006/main">
            <a:r>
              <a:t/>
            </a:r>
          </a:p>
          <a:p xmlns:a="http://schemas.openxmlformats.org/drawingml/2006/main">
            <a:r>
              <a:t>Evidence: src/train_telugu_comparison.py; src/telugu_app.py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recurrent layer. f, i and o are sigmoid forget, input and output gates. g is the tanh candidate state, c is cell memory. The prediction head consumes the final hidden state.</a:t>
            </a:r>
          </a:p>
          <a:p xmlns:a="http://schemas.openxmlformats.org/drawingml/2006/main">
            <a:r>
              <a:t/>
            </a:r>
          </a:p>
          <a:p xmlns:a="http://schemas.openxmlformats.org/drawingml/2006/main">
            <a:r>
              <a:t>Evidence: src/model.py; outputs/telugu_comparison/lstm_test_metrics.json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embedding sequence. Their terminal hidden states concatenate before output projection. Arrows indicate branch flow. More parameters than the LSTM baseline, so the comparison does not isolate directionality alone.</a:t>
            </a:r>
          </a:p>
          <a:p xmlns:a="http://schemas.openxmlformats.org/drawingml/2006/main">
            <a:r>
              <a:t/>
            </a:r>
          </a:p>
          <a:p xmlns:a="http://schemas.openxmlformats.org/drawingml/2006/main">
            <a:r>
              <a:t>Evidence: src/model.py; outputs/telugu_comparison/bilstm_test_metrics.json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convolution outputs value v and gate logits u. The sigmoid gate modulates the residual update. The last position representation feeds a 20,000-class head. This model uses word embeddings only.</a:t>
            </a:r>
          </a:p>
          <a:p xmlns:a="http://schemas.openxmlformats.org/drawingml/2006/main">
            <a:r>
              <a:t/>
            </a:r>
          </a:p>
          <a:p xmlns:a="http://schemas.openxmlformats.org/drawingml/2006/main">
            <a:r>
              <a:t>Evidence: src/model.py; outputs/telugu_cnn/cnn_test_metrics.json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branches receive the same input word. The character branch uses a training-only alphabet, 16-d character embeddings, kernel-3 convolution, ReLU and masked max pooling. It retains the last 32 code points. Word and character features combine through an element-wise sigmoid gate, then a projection and the causal CNN. Unknown-prefix top-1 improves from 13.13% to 14.64% over word CNN; rare-target improvement was not demonstrated. Gate ablation and research originality remain future validation.</a:t>
            </a:r>
          </a:p>
          <a:p xmlns:a="http://schemas.openxmlformats.org/drawingml/2006/main">
            <a:r>
              <a:t/>
            </a:r>
          </a:p>
          <a:p xmlns:a="http://schemas.openxmlformats.org/drawingml/2006/main">
            <a:r>
              <a:t>Evidence: src/wordchar_model.py; outputs/telugu_wordchar/wordchar_cnn_test_metrics.json; TELUGU_FREQUENCY_RESULTS.md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ecd29d899147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2586dde2fef4f4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ed9b1869914b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a87eb8d18a49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3408bf6c71b4c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ffbb020a7c46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030FB6-D42C-461B-B424-871EB8AE8BE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A5FFE47-1806-4307-B8A9-60397FD1DED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2C6A3EA-11D8-4B46-A397-DA49EB5FB80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528093-ABE2-41DC-9C9B-86DB7EB384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4016034-95EC-4D76-B204-AF718C9D592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971F38-47F1-4A88-8DD8-B002F17B45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77773B-D1D1-49C1-848C-8236C077928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CC885B6-F4EB-4186-8062-D6AE6D96D3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3B8205-5810-44E7-BF0F-47F0FFA4EA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C5B468-3F76-4F2C-8C4F-DC7B3F6BB7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09db8acfc748cd" /><Relationship Type="http://schemas.openxmlformats.org/officeDocument/2006/relationships/slideLayout" Target="/ppt/slideLayouts/slideLayout1.xml" Id="R5c1473fba5c94b6c" /><Relationship Type="http://schemas.openxmlformats.org/officeDocument/2006/relationships/slideLayout" Target="/ppt/slideLayouts/slideLayout2.xml" Id="Rd2cddd0a88f84476" /><Relationship Type="http://schemas.openxmlformats.org/officeDocument/2006/relationships/slideLayout" Target="/ppt/slideLayouts/slideLayout3.xml" Id="Rec82f183e6fa4d83" /><Relationship Type="http://schemas.openxmlformats.org/officeDocument/2006/relationships/slideLayout" Target="/ppt/slideLayouts/slideLayout4.xml" Id="Re089151386c14ecd" /><Relationship Type="http://schemas.openxmlformats.org/officeDocument/2006/relationships/slideLayout" Target="/ppt/slideLayouts/slideLayout5.xml" Id="R047a2d1630664073" /><Relationship Type="http://schemas.openxmlformats.org/officeDocument/2006/relationships/slideLayout" Target="/ppt/slideLayouts/slideLayout6.xml" Id="R79e387e5367c41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1473fba5c94b6c"/>
    <p:sldLayoutId xmlns:r="http://schemas.openxmlformats.org/officeDocument/2006/relationships" id="2147483650" r:id="Rd2cddd0a88f84476"/>
    <p:sldLayoutId xmlns:r="http://schemas.openxmlformats.org/officeDocument/2006/relationships" id="2147483651" r:id="Rec82f183e6fa4d83"/>
    <p:sldLayoutId xmlns:r="http://schemas.openxmlformats.org/officeDocument/2006/relationships" id="2147483652" r:id="Re089151386c14ecd"/>
    <p:sldLayoutId xmlns:r="http://schemas.openxmlformats.org/officeDocument/2006/relationships" id="2147483653" r:id="R047a2d1630664073"/>
    <p:sldLayoutId xmlns:r="http://schemas.openxmlformats.org/officeDocument/2006/relationships" id="2147483654" r:id="R79e387e5367c41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0e997b231bb43ab" /><Relationship Type="http://schemas.openxmlformats.org/officeDocument/2006/relationships/notesSlide" Target="/ppt/notesSlides/notesSlide1.xml" Id="R713b14c8deab4c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775b9dcbff4dd8" /><Relationship Type="http://schemas.openxmlformats.org/officeDocument/2006/relationships/notesSlide" Target="/ppt/notesSlides/notesSlide2.xml" Id="Re6402ff8cfc64d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431728e1bf430b" /><Relationship Type="http://schemas.openxmlformats.org/officeDocument/2006/relationships/notesSlide" Target="/ppt/notesSlides/notesSlide3.xml" Id="Rb24e6cfe0a7243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882861e2a9544a3" /><Relationship Type="http://schemas.openxmlformats.org/officeDocument/2006/relationships/notesSlide" Target="/ppt/notesSlides/notesSlide4.xml" Id="R63d8e91b082d42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9dd80b95d4a4bdd" /><Relationship Type="http://schemas.openxmlformats.org/officeDocument/2006/relationships/notesSlide" Target="/ppt/notesSlides/notesSlide5.xml" Id="R09ee0a5f9dd645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fcad110cda4c6c" /><Relationship Type="http://schemas.openxmlformats.org/officeDocument/2006/relationships/notesSlide" Target="/ppt/notesSlides/notesSlide6.xml" Id="R32d26254a9134e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b22b24e73ec4873" /><Relationship Type="http://schemas.openxmlformats.org/officeDocument/2006/relationships/notesSlide" Target="/ppt/notesSlides/notesSlide7.xml" Id="Rd03dce86dd8a46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d575ef6abbc4edd" /><Relationship Type="http://schemas.openxmlformats.org/officeDocument/2006/relationships/notesSlide" Target="/ppt/notesSlides/notesSlide8.xml" Id="Reef284fab26c49fc" /></Relationships>
</file>

<file path=ppt/slides/slide1.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EE966C-52E6-44C0-961F-C03B79549FE1}"/>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45C58F-A4D0-4EB8-ADD5-92FF58F40FFE}"/>
              </a:ext>
            </a:extLst>
          </p:cNvPr>
          <p:cNvSpPr>
            <a:spLocks xmlns:a="http://schemas.openxmlformats.org/drawingml/2006/main" noGrp="1"/>
          </p:cNvSpPr>
          <p:nvPr/>
        </p:nvSpPr>
        <p:spPr>
          <a:xfrm xmlns:a="http://schemas.openxmlformats.org/drawingml/2006/main">
            <a:off x="714375" y="1381125"/>
            <a:ext cx="1076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5700" b="0">
                <a:solidFill>
                  <a:srgbClr val="344E41"/>
                </a:solidFill>
                <a:latin typeface="Georgia"/>
                <a:ea typeface="Georgia"/>
                <a:cs typeface="Georgia"/>
              </a:defRPr>
            </a:defPPr>
          </a:lstStyle>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MULTILINGUAL</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NEXT-WORD</a:t>
            </a:r>
          </a:p>
          <a:p xmlns:a="http://schemas.openxmlformats.org/drawingml/2006/main">
            <a:pPr algn="ctr">
              <a:defRPr sz="5700" b="0">
                <a:solidFill>
                  <a:srgbClr val="344E41"/>
                </a:solidFill>
                <a:latin typeface="Georgia"/>
                <a:ea typeface="Georgia"/>
                <a:cs typeface="Georgia"/>
              </a:defRPr>
            </a:pPr>
            <a:r>
              <a:rPr sz="5700" b="0">
                <a:solidFill>
                  <a:srgbClr val="344E41"/>
                </a:solidFill>
                <a:latin typeface="Georgia"/>
                <a:ea typeface="Georgia"/>
                <a:cs typeface="Georgia"/>
              </a:rPr>
              <a:t>PREDICTION</a:t>
            </a:r>
          </a:p>
        </p:txBody>
      </p:sp>
      <p:sp>
        <p:nvSpPr>
          <p:cNvPr id="3" name="">
            <a:extLst xmlns:a="http://schemas.openxmlformats.org/drawingml/2006/main">
              <a:ext uri="{FF2B5EF4-FFF2-40B4-BE49-F238E27FC236}">
                <a16:creationId xmlns:a16="http://schemas.microsoft.com/office/drawing/2014/main" id="{447C9630-5808-476A-82D4-25BE0CBB5A4A}"/>
              </a:ext>
            </a:extLst>
          </p:cNvPr>
          <p:cNvSpPr>
            <a:spLocks xmlns:a="http://schemas.openxmlformats.org/drawingml/2006/main" noGrp="1"/>
          </p:cNvSpPr>
          <p:nvPr/>
        </p:nvSpPr>
        <p:spPr>
          <a:xfrm xmlns:a="http://schemas.openxmlformats.org/drawingml/2006/main">
            <a:off x="714375" y="7143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TELUGU PHASE</a:t>
            </a:r>
          </a:p>
        </p:txBody>
      </p:sp>
      <p:sp>
        <p:nvSpPr>
          <p:cNvPr id="4" name="">
            <a:extLst xmlns:a="http://schemas.openxmlformats.org/drawingml/2006/main">
              <a:ext uri="{FF2B5EF4-FFF2-40B4-BE49-F238E27FC236}">
                <a16:creationId xmlns:a16="http://schemas.microsoft.com/office/drawing/2014/main" id="{F5E98A60-1E79-4BA3-B866-A7926BCA770C}"/>
              </a:ext>
            </a:extLst>
          </p:cNvPr>
          <p:cNvSpPr>
            <a:spLocks xmlns:a="http://schemas.openxmlformats.org/drawingml/2006/main" noGrp="1"/>
          </p:cNvSpPr>
          <p:nvPr/>
        </p:nvSpPr>
        <p:spPr>
          <a:xfrm xmlns:a="http://schemas.openxmlformats.org/drawingml/2006/main">
            <a:off x="714375" y="48577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2100" b="0">
                <a:solidFill>
                  <a:srgbClr val="344E41"/>
                </a:solidFill>
                <a:latin typeface="Arial"/>
                <a:ea typeface="Arial"/>
                <a:cs typeface="Arial"/>
              </a:defRPr>
            </a:defPPr>
          </a:lstStyle>
          <a:p xmlns:a="http://schemas.openxmlformats.org/drawingml/2006/main">
            <a:pPr algn="ctr">
              <a:defRPr sz="2100" b="0">
                <a:solidFill>
                  <a:srgbClr val="344E41"/>
                </a:solidFill>
                <a:latin typeface="Arial"/>
                <a:ea typeface="Arial"/>
                <a:cs typeface="Arial"/>
              </a:defRPr>
            </a:pPr>
            <a:r>
              <a:rPr sz="2100" b="0">
                <a:solidFill>
                  <a:srgbClr val="344E41"/>
                </a:solidFill>
                <a:latin typeface="Arial"/>
                <a:ea typeface="Arial"/>
                <a:cs typeface="Arial"/>
              </a:rPr>
              <a:t>LSTM, Bi-LSTM and convolutional models</a:t>
            </a:r>
          </a:p>
        </p:txBody>
      </p:sp>
      <p:sp>
        <p:nvSpPr>
          <p:cNvPr id="5" name="">
            <a:extLst xmlns:a="http://schemas.openxmlformats.org/drawingml/2006/main">
              <a:ext uri="{FF2B5EF4-FFF2-40B4-BE49-F238E27FC236}">
                <a16:creationId xmlns:a16="http://schemas.microsoft.com/office/drawing/2014/main" id="{7031ADAC-8BD6-4469-890E-D77DD6297166}"/>
              </a:ext>
            </a:extLst>
          </p:cNvPr>
          <p:cNvSpPr>
            <a:spLocks xmlns:a="http://schemas.openxmlformats.org/drawingml/2006/main" noGrp="1"/>
          </p:cNvSpPr>
          <p:nvPr/>
        </p:nvSpPr>
        <p:spPr>
          <a:xfrm xmlns:a="http://schemas.openxmlformats.org/drawingml/2006/main">
            <a:off x="571500" y="64008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14 October 2026</a:t>
            </a:r>
          </a:p>
        </p:txBody>
      </p:sp>
      <p:sp>
        <p:nvSpPr>
          <p:cNvPr id="6" name="">
            <a:extLst xmlns:a="http://schemas.openxmlformats.org/drawingml/2006/main">
              <a:ext uri="{FF2B5EF4-FFF2-40B4-BE49-F238E27FC236}">
                <a16:creationId xmlns:a16="http://schemas.microsoft.com/office/drawing/2014/main" id="{B318215A-81A9-4890-9339-DF1DEE72B97B}"/>
              </a:ext>
            </a:extLst>
          </p:cNvPr>
          <p:cNvSpPr>
            <a:spLocks xmlns:a="http://schemas.openxmlformats.org/drawingml/2006/main" noGrp="1"/>
          </p:cNvSpPr>
          <p:nvPr/>
        </p:nvSpPr>
        <p:spPr>
          <a:xfrm xmlns:a="http://schemas.openxmlformats.org/drawingml/2006/main">
            <a:off x="8382000" y="64008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344E41"/>
                </a:solidFill>
                <a:latin typeface="Arial"/>
                <a:ea typeface="Arial"/>
                <a:cs typeface="Arial"/>
              </a:defRPr>
            </a:defPPr>
          </a:lstStyle>
          <a:p xmlns:a="http://schemas.openxmlformats.org/drawingml/2006/main">
            <a:pPr>
              <a:defRPr sz="1575" b="0">
                <a:solidFill>
                  <a:srgbClr val="344E41"/>
                </a:solidFill>
                <a:latin typeface="Arial"/>
                <a:ea typeface="Arial"/>
                <a:cs typeface="Arial"/>
              </a:defRPr>
            </a:pPr>
            <a:r>
              <a:rPr sz="1575" b="0">
                <a:solidFill>
                  <a:srgbClr val="344E41"/>
                </a:solidFill>
                <a:latin typeface="Arial"/>
                <a:ea typeface="Arial"/>
                <a:cs typeface="Arial"/>
              </a:rPr>
              <a:t>UROP PROJECT REVIEW</a:t>
            </a:r>
          </a:p>
        </p:txBody>
      </p:sp>
    </p:spTree>
    <p:extLst>
      <p:ext uri="{BB962C8B-B14F-4D97-AF65-F5344CB8AC3E}">
        <p14:creationId xmlns:p14="http://schemas.microsoft.com/office/powerpoint/2010/main" val="1610412118"/>
      </p:ext>
    </p:extLst>
  </p:cSld>
</p:sld>
</file>

<file path=ppt/slides/slide2.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10732E-DE45-483A-9002-AF92993B8BC4}"/>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F6CD15-18C3-4678-BD14-2B1C04DE3234}"/>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PROBLEM STATEMENT</a:t>
            </a:r>
          </a:p>
        </p:txBody>
      </p:sp>
      <p:sp>
        <p:nvSpPr>
          <p:cNvPr id="3" name="">
            <a:extLst xmlns:a="http://schemas.openxmlformats.org/drawingml/2006/main">
              <a:ext uri="{FF2B5EF4-FFF2-40B4-BE49-F238E27FC236}">
                <a16:creationId xmlns:a16="http://schemas.microsoft.com/office/drawing/2014/main" id="{67916741-9213-4D72-A9F5-D68871C22C4D}"/>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C189AE75-7B76-4F49-BFCA-00E04781C31F}"/>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18F547E-A27D-4859-AF87-723A0E973D62}"/>
              </a:ext>
            </a:extLst>
          </p:cNvPr>
          <p:cNvSpPr>
            <a:spLocks xmlns:a="http://schemas.openxmlformats.org/drawingml/2006/main" noGrp="1"/>
          </p:cNvSpPr>
          <p:nvPr/>
        </p:nvSpPr>
        <p:spPr>
          <a:xfrm xmlns:a="http://schemas.openxmlformats.org/drawingml/2006/main">
            <a:off x="571500" y="18573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344E41"/>
                </a:solidFill>
                <a:latin typeface="Arial"/>
                <a:ea typeface="Arial"/>
                <a:cs typeface="Arial"/>
              </a:defRPr>
            </a:defPPr>
          </a:lstStyle>
          <a:p xmlns:a="http://schemas.openxmlformats.org/drawingml/2006/main">
            <a:pPr>
              <a:defRPr sz="2550" b="1">
                <a:solidFill>
                  <a:srgbClr val="344E41"/>
                </a:solidFill>
                <a:latin typeface="Arial"/>
                <a:ea typeface="Arial"/>
                <a:cs typeface="Arial"/>
              </a:defRPr>
            </a:pPr>
            <a:r>
              <a:rPr sz="2550" b="1">
                <a:solidFill>
                  <a:srgbClr val="344E41"/>
                </a:solidFill>
                <a:latin typeface="Arial"/>
                <a:ea typeface="Arial"/>
                <a:cs typeface="Arial"/>
              </a:rPr>
              <a:t>Predict a useful next Telugu word from a short typed phrase.</a:t>
            </a:r>
          </a:p>
        </p:txBody>
      </p:sp>
      <p:sp>
        <p:nvSpPr>
          <p:cNvPr id="6" name="">
            <a:extLst xmlns:a="http://schemas.openxmlformats.org/drawingml/2006/main">
              <a:ext uri="{FF2B5EF4-FFF2-40B4-BE49-F238E27FC236}">
                <a16:creationId xmlns:a16="http://schemas.microsoft.com/office/drawing/2014/main" id="{D10D794C-4426-42FF-B264-B8D5F2402F71}"/>
              </a:ext>
            </a:extLst>
          </p:cNvPr>
          <p:cNvSpPr>
            <a:spLocks xmlns:a="http://schemas.openxmlformats.org/drawingml/2006/main" noGrp="1"/>
          </p:cNvSpPr>
          <p:nvPr/>
        </p:nvSpPr>
        <p:spPr>
          <a:xfrm xmlns:a="http://schemas.openxmlformats.org/drawingml/2006/main">
            <a:off x="571500" y="27146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0D9D2AC-ABF4-448B-A8E8-AF362C0C1B27}"/>
              </a:ext>
            </a:extLst>
          </p:cNvPr>
          <p:cNvSpPr>
            <a:spLocks xmlns:a="http://schemas.openxmlformats.org/drawingml/2006/main" noGrp="1"/>
          </p:cNvSpPr>
          <p:nvPr/>
        </p:nvSpPr>
        <p:spPr>
          <a:xfrm xmlns:a="http://schemas.openxmlformats.org/drawingml/2006/main">
            <a:off x="1428750" y="27146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Word-only models collapse unfamiliar spellings into one unknown token.</a:t>
            </a:r>
          </a:p>
        </p:txBody>
      </p:sp>
      <p:sp>
        <p:nvSpPr>
          <p:cNvPr id="8" name="">
            <a:extLst xmlns:a="http://schemas.openxmlformats.org/drawingml/2006/main">
              <a:ext uri="{FF2B5EF4-FFF2-40B4-BE49-F238E27FC236}">
                <a16:creationId xmlns:a16="http://schemas.microsoft.com/office/drawing/2014/main" id="{B61E2AB8-7619-4929-AA1C-8C35B0E98F5E}"/>
              </a:ext>
            </a:extLst>
          </p:cNvPr>
          <p:cNvSpPr>
            <a:spLocks xmlns:a="http://schemas.openxmlformats.org/drawingml/2006/main" noGrp="1"/>
          </p:cNvSpPr>
          <p:nvPr/>
        </p:nvSpPr>
        <p:spPr>
          <a:xfrm xmlns:a="http://schemas.openxmlformats.org/drawingml/2006/main">
            <a:off x="571500" y="364807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BB5CA6C-21B0-40D4-91F7-0FC64FD9EF16}"/>
              </a:ext>
            </a:extLst>
          </p:cNvPr>
          <p:cNvSpPr>
            <a:spLocks xmlns:a="http://schemas.openxmlformats.org/drawingml/2006/main" noGrp="1"/>
          </p:cNvSpPr>
          <p:nvPr/>
        </p:nvSpPr>
        <p:spPr>
          <a:xfrm xmlns:a="http://schemas.openxmlformats.org/drawingml/2006/main">
            <a:off x="1428750" y="364807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Telugu spelling variations motivate combining word and character features.</a:t>
            </a:r>
          </a:p>
        </p:txBody>
      </p:sp>
      <p:sp>
        <p:nvSpPr>
          <p:cNvPr id="10" name="">
            <a:extLst xmlns:a="http://schemas.openxmlformats.org/drawingml/2006/main">
              <a:ext uri="{FF2B5EF4-FFF2-40B4-BE49-F238E27FC236}">
                <a16:creationId xmlns:a16="http://schemas.microsoft.com/office/drawing/2014/main" id="{53AE93EE-5A88-4C4C-9919-DEC815431849}"/>
              </a:ext>
            </a:extLst>
          </p:cNvPr>
          <p:cNvSpPr>
            <a:spLocks xmlns:a="http://schemas.openxmlformats.org/drawingml/2006/main" noGrp="1"/>
          </p:cNvSpPr>
          <p:nvPr/>
        </p:nvSpPr>
        <p:spPr>
          <a:xfrm xmlns:a="http://schemas.openxmlformats.org/drawingml/2006/main">
            <a:off x="571500" y="4581525"/>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344E41"/>
                </a:solidFill>
                <a:latin typeface="Arial"/>
                <a:ea typeface="Arial"/>
                <a:cs typeface="Arial"/>
              </a:defRPr>
            </a:defPPr>
          </a:lstStyle>
          <a:p xmlns:a="http://schemas.openxmlformats.org/drawingml/2006/main">
            <a:pPr>
              <a:defRPr sz="2250" b="1">
                <a:solidFill>
                  <a:srgbClr val="344E41"/>
                </a:solidFill>
                <a:latin typeface="Arial"/>
                <a:ea typeface="Arial"/>
                <a:cs typeface="Arial"/>
              </a:defRPr>
            </a:pPr>
            <a:r>
              <a:rPr sz="2250" b="1">
                <a:solidFill>
                  <a:srgbClr val="344E41"/>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15222529-7C5C-478A-A660-C2A4E1D30969}"/>
              </a:ext>
            </a:extLst>
          </p:cNvPr>
          <p:cNvSpPr>
            <a:spLocks xmlns:a="http://schemas.openxmlformats.org/drawingml/2006/main" noGrp="1"/>
          </p:cNvSpPr>
          <p:nvPr/>
        </p:nvSpPr>
        <p:spPr>
          <a:xfrm xmlns:a="http://schemas.openxmlformats.org/drawingml/2006/main">
            <a:off x="1428750" y="4581525"/>
            <a:ext cx="10096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Compare four models on the same data and show five suggestions in a web app.</a:t>
            </a:r>
          </a:p>
        </p:txBody>
      </p:sp>
    </p:spTree>
    <p:extLst>
      <p:ext uri="{BB962C8B-B14F-4D97-AF65-F5344CB8AC3E}">
        <p14:creationId xmlns:p14="http://schemas.microsoft.com/office/powerpoint/2010/main" val="1696785371"/>
      </p:ext>
    </p:extLst>
  </p:cSld>
</p:sld>
</file>

<file path=ppt/slides/slide3.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1F607C-D462-4E24-AFE5-FC1FDFF5F19E}"/>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E3382B-8F2B-448C-B144-EE29685E4471}"/>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ABSTRACT</a:t>
            </a:r>
          </a:p>
        </p:txBody>
      </p:sp>
      <p:sp>
        <p:nvSpPr>
          <p:cNvPr id="3" name="">
            <a:extLst xmlns:a="http://schemas.openxmlformats.org/drawingml/2006/main">
              <a:ext uri="{FF2B5EF4-FFF2-40B4-BE49-F238E27FC236}">
                <a16:creationId xmlns:a16="http://schemas.microsoft.com/office/drawing/2014/main" id="{637AD03E-D80C-4AA0-A579-35367CD0703F}"/>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4" name="">
            <a:extLst xmlns:a="http://schemas.openxmlformats.org/drawingml/2006/main">
              <a:ext uri="{FF2B5EF4-FFF2-40B4-BE49-F238E27FC236}">
                <a16:creationId xmlns:a16="http://schemas.microsoft.com/office/drawing/2014/main" id="{1E66FF70-DDE2-4B9F-8C27-F49BFB2E783C}"/>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5EFD0EDF-9AF1-436D-A21C-BD26674A853C}"/>
              </a:ext>
            </a:extLst>
          </p:cNvPr>
          <p:cNvSpPr>
            <a:spLocks xmlns:a="http://schemas.openxmlformats.org/drawingml/2006/main" noGrp="1"/>
          </p:cNvSpPr>
          <p:nvPr/>
        </p:nvSpPr>
        <p:spPr>
          <a:xfrm xmlns:a="http://schemas.openxmlformats.org/drawingml/2006/main">
            <a:off x="571500" y="180975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This project studies multilingual next-word prediction with Telugu as the current language. Native Telugu text from Alpaca and GPTeacher supplies the training data.</a:t>
            </a:r>
          </a:p>
        </p:txBody>
      </p:sp>
      <p:sp>
        <p:nvSpPr>
          <p:cNvPr id="6" name="">
            <a:extLst xmlns:a="http://schemas.openxmlformats.org/drawingml/2006/main">
              <a:ext uri="{FF2B5EF4-FFF2-40B4-BE49-F238E27FC236}">
                <a16:creationId xmlns:a16="http://schemas.microsoft.com/office/drawing/2014/main" id="{2FFB1CF5-A7A4-4B93-9C86-11FDE95DA31C}"/>
              </a:ext>
            </a:extLst>
          </p:cNvPr>
          <p:cNvSpPr>
            <a:spLocks xmlns:a="http://schemas.openxmlformats.org/drawingml/2006/main" noGrp="1"/>
          </p:cNvSpPr>
          <p:nvPr/>
        </p:nvSpPr>
        <p:spPr>
          <a:xfrm xmlns:a="http://schemas.openxmlformats.org/drawingml/2006/main">
            <a:off x="571500" y="2952750"/>
            <a:ext cx="1095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We compare LSTM, Bi-LSTM, a causal word CNN and a gated word–character CNN using eight-word contexts. The character model learns to combine whole-word and spelling features.</a:t>
            </a:r>
          </a:p>
        </p:txBody>
      </p:sp>
      <p:sp>
        <p:nvSpPr>
          <p:cNvPr id="7" name="">
            <a:extLst xmlns:a="http://schemas.openxmlformats.org/drawingml/2006/main">
              <a:ext uri="{FF2B5EF4-FFF2-40B4-BE49-F238E27FC236}">
                <a16:creationId xmlns:a16="http://schemas.microsoft.com/office/drawing/2014/main" id="{60E927B8-E481-4B90-957E-126AAEC91EB5}"/>
              </a:ext>
            </a:extLst>
          </p:cNvPr>
          <p:cNvSpPr>
            <a:spLocks xmlns:a="http://schemas.openxmlformats.org/drawingml/2006/main" noGrp="1"/>
          </p:cNvSpPr>
          <p:nvPr/>
        </p:nvSpPr>
        <p:spPr>
          <a:xfrm xmlns:a="http://schemas.openxmlformats.org/drawingml/2006/main">
            <a:off x="571500" y="4333875"/>
            <a:ext cx="1095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E41"/>
                </a:solidFill>
                <a:latin typeface="Arial"/>
                <a:ea typeface="Arial"/>
                <a:cs typeface="Arial"/>
              </a:defRPr>
            </a:defPPr>
          </a:lstStyle>
          <a:p xmlns:a="http://schemas.openxmlformats.org/drawingml/2006/main">
            <a:pPr>
              <a:defRPr sz="2100" b="0">
                <a:solidFill>
                  <a:srgbClr val="344E41"/>
                </a:solidFill>
                <a:latin typeface="Arial"/>
                <a:ea typeface="Arial"/>
                <a:cs typeface="Arial"/>
              </a:defRPr>
            </a:pPr>
            <a:r>
              <a:rPr sz="2100" b="0">
                <a:solidFill>
                  <a:srgbClr val="344E41"/>
                </a:solidFill>
                <a:latin typeface="Arial"/>
                <a:ea typeface="Arial"/>
                <a:cs typeface="Arial"/>
              </a:rPr>
              <a:t>All models completed five epochs. Bi-LSTM achieved 18.82% top-1 accuracy. Character fusion improved over word CNN, including on inputs containing unknown words. A Streamlit interface provides five suggestions.</a:t>
            </a:r>
          </a:p>
        </p:txBody>
      </p:sp>
    </p:spTree>
    <p:extLst>
      <p:ext uri="{BB962C8B-B14F-4D97-AF65-F5344CB8AC3E}">
        <p14:creationId xmlns:p14="http://schemas.microsoft.com/office/powerpoint/2010/main" val="2055605119"/>
      </p:ext>
    </p:extLst>
  </p:cSld>
</p:sld>
</file>

<file path=ppt/slides/slide4.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3EFD804-B4FA-4225-8AB6-406D1834122C}"/>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C9288B-8752-43C0-9DE4-668FB5CD5D6C}"/>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PROJECT ARCHITECTURE</a:t>
            </a:r>
          </a:p>
        </p:txBody>
      </p:sp>
      <p:sp>
        <p:nvSpPr>
          <p:cNvPr id="3" name="">
            <a:extLst xmlns:a="http://schemas.openxmlformats.org/drawingml/2006/main">
              <a:ext uri="{FF2B5EF4-FFF2-40B4-BE49-F238E27FC236}">
                <a16:creationId xmlns:a16="http://schemas.microsoft.com/office/drawing/2014/main" id="{3E862056-0BD6-4B49-A6DB-BF3F4FDD11C8}"/>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Research pipeline and the deployed prediction path</a:t>
            </a:r>
          </a:p>
        </p:txBody>
      </p:sp>
      <p:sp>
        <p:nvSpPr>
          <p:cNvPr id="4" name="">
            <a:extLst xmlns:a="http://schemas.openxmlformats.org/drawingml/2006/main">
              <a:ext uri="{FF2B5EF4-FFF2-40B4-BE49-F238E27FC236}">
                <a16:creationId xmlns:a16="http://schemas.microsoft.com/office/drawing/2014/main" id="{1DED58FF-4D89-459D-BD25-E6D3EC000404}"/>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E40672C4-F278-4520-8238-6AC26FA3F31E}"/>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F2829BB0-C9D1-4DD0-A28F-1B4A1C0A6DFA}"/>
              </a:ext>
            </a:extLst>
          </p:cNvPr>
          <p:cNvSpPr>
            <a:spLocks xmlns:a="http://schemas.openxmlformats.org/drawingml/2006/main" noGrp="1"/>
          </p:cNvSpPr>
          <p:nvPr/>
        </p:nvSpPr>
        <p:spPr>
          <a:xfrm xmlns:a="http://schemas.openxmlformats.org/drawingml/2006/main">
            <a:off x="571500" y="195262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2A047546-4F19-4BD2-B1D7-5B718D155A7C}"/>
              </a:ext>
            </a:extLst>
          </p:cNvPr>
          <p:cNvSpPr>
            <a:spLocks xmlns:a="http://schemas.openxmlformats.org/drawingml/2006/main" noGrp="1"/>
          </p:cNvSpPr>
          <p:nvPr/>
        </p:nvSpPr>
        <p:spPr>
          <a:xfrm xmlns:a="http://schemas.openxmlformats.org/drawingml/2006/main">
            <a:off x="647700" y="212407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Telugu datasets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Native text</a:t>
            </a:r>
          </a:p>
        </p:txBody>
      </p:sp>
      <p:sp>
        <p:nvSpPr>
          <p:cNvPr id="8" name="">
            <a:extLst xmlns:a="http://schemas.openxmlformats.org/drawingml/2006/main">
              <a:ext uri="{FF2B5EF4-FFF2-40B4-BE49-F238E27FC236}">
                <a16:creationId xmlns:a16="http://schemas.microsoft.com/office/drawing/2014/main" id="{B3523DBE-3682-400A-902C-4E719246A4DA}"/>
              </a:ext>
            </a:extLst>
          </p:cNvPr>
          <p:cNvSpPr>
            <a:spLocks xmlns:a="http://schemas.openxmlformats.org/drawingml/2006/main" noGrp="1"/>
          </p:cNvSpPr>
          <p:nvPr/>
        </p:nvSpPr>
        <p:spPr>
          <a:xfrm xmlns:a="http://schemas.openxmlformats.org/drawingml/2006/main">
            <a:off x="29527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CE28EF0B-FFC6-48FA-B1F5-5FE00A16BBD1}"/>
              </a:ext>
            </a:extLst>
          </p:cNvPr>
          <p:cNvSpPr>
            <a:spLocks xmlns:a="http://schemas.openxmlformats.org/drawingml/2006/main" noGrp="1"/>
          </p:cNvSpPr>
          <p:nvPr/>
        </p:nvSpPr>
        <p:spPr>
          <a:xfrm xmlns:a="http://schemas.openxmlformats.org/drawingml/2006/main">
            <a:off x="3429000" y="195262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0449181F-5BFF-4511-9822-CC5409AFAAE2}"/>
              </a:ext>
            </a:extLst>
          </p:cNvPr>
          <p:cNvSpPr>
            <a:spLocks xmlns:a="http://schemas.openxmlformats.org/drawingml/2006/main" noGrp="1"/>
          </p:cNvSpPr>
          <p:nvPr/>
        </p:nvSpPr>
        <p:spPr>
          <a:xfrm xmlns:a="http://schemas.openxmlformats.org/drawingml/2006/main">
            <a:off x="3505200" y="212407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Prepare splits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8-word contexts</a:t>
            </a:r>
          </a:p>
        </p:txBody>
      </p:sp>
      <p:sp>
        <p:nvSpPr>
          <p:cNvPr id="11" name="">
            <a:extLst xmlns:a="http://schemas.openxmlformats.org/drawingml/2006/main">
              <a:ext uri="{FF2B5EF4-FFF2-40B4-BE49-F238E27FC236}">
                <a16:creationId xmlns:a16="http://schemas.microsoft.com/office/drawing/2014/main" id="{E0F578DC-DAC2-4238-B684-DEDBE5F985AE}"/>
              </a:ext>
            </a:extLst>
          </p:cNvPr>
          <p:cNvSpPr>
            <a:spLocks xmlns:a="http://schemas.openxmlformats.org/drawingml/2006/main" noGrp="1"/>
          </p:cNvSpPr>
          <p:nvPr/>
        </p:nvSpPr>
        <p:spPr>
          <a:xfrm xmlns:a="http://schemas.openxmlformats.org/drawingml/2006/main">
            <a:off x="58102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370C9820-C7EF-4A6A-9EC2-839418207C4F}"/>
              </a:ext>
            </a:extLst>
          </p:cNvPr>
          <p:cNvSpPr>
            <a:spLocks xmlns:a="http://schemas.openxmlformats.org/drawingml/2006/main" noGrp="1"/>
          </p:cNvSpPr>
          <p:nvPr/>
        </p:nvSpPr>
        <p:spPr>
          <a:xfrm xmlns:a="http://schemas.openxmlformats.org/drawingml/2006/main">
            <a:off x="6286500" y="195262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6239A8BB-F0E1-4A26-8828-55869F120988}"/>
              </a:ext>
            </a:extLst>
          </p:cNvPr>
          <p:cNvSpPr>
            <a:spLocks xmlns:a="http://schemas.openxmlformats.org/drawingml/2006/main" noGrp="1"/>
          </p:cNvSpPr>
          <p:nvPr/>
        </p:nvSpPr>
        <p:spPr>
          <a:xfrm xmlns:a="http://schemas.openxmlformats.org/drawingml/2006/main">
            <a:off x="6362700" y="212407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Train 4 models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5 epochs</a:t>
            </a:r>
          </a:p>
        </p:txBody>
      </p:sp>
      <p:sp>
        <p:nvSpPr>
          <p:cNvPr id="14" name="">
            <a:extLst xmlns:a="http://schemas.openxmlformats.org/drawingml/2006/main">
              <a:ext uri="{FF2B5EF4-FFF2-40B4-BE49-F238E27FC236}">
                <a16:creationId xmlns:a16="http://schemas.microsoft.com/office/drawing/2014/main" id="{EEA99C6D-3501-4C06-B17A-F1735E031D4D}"/>
              </a:ext>
            </a:extLst>
          </p:cNvPr>
          <p:cNvSpPr>
            <a:spLocks xmlns:a="http://schemas.openxmlformats.org/drawingml/2006/main" noGrp="1"/>
          </p:cNvSpPr>
          <p:nvPr/>
        </p:nvSpPr>
        <p:spPr>
          <a:xfrm xmlns:a="http://schemas.openxmlformats.org/drawingml/2006/main">
            <a:off x="8667750" y="214312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35A7F9D3-C959-4138-84C1-4786A12E8D77}"/>
              </a:ext>
            </a:extLst>
          </p:cNvPr>
          <p:cNvSpPr>
            <a:spLocks xmlns:a="http://schemas.openxmlformats.org/drawingml/2006/main" noGrp="1"/>
          </p:cNvSpPr>
          <p:nvPr/>
        </p:nvSpPr>
        <p:spPr>
          <a:xfrm xmlns:a="http://schemas.openxmlformats.org/drawingml/2006/main">
            <a:off x="9144000" y="195262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0FED3E4F-CB6D-497A-8FF3-7C688B3E87CC}"/>
              </a:ext>
            </a:extLst>
          </p:cNvPr>
          <p:cNvSpPr>
            <a:spLocks xmlns:a="http://schemas.openxmlformats.org/drawingml/2006/main" noGrp="1"/>
          </p:cNvSpPr>
          <p:nvPr/>
        </p:nvSpPr>
        <p:spPr>
          <a:xfrm xmlns:a="http://schemas.openxmlformats.org/drawingml/2006/main">
            <a:off x="9220200" y="212407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Select by validation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Evaluate on test</a:t>
            </a:r>
          </a:p>
        </p:txBody>
      </p:sp>
      <p:sp>
        <p:nvSpPr>
          <p:cNvPr id="17" name="">
            <a:extLst xmlns:a="http://schemas.openxmlformats.org/drawingml/2006/main">
              <a:ext uri="{FF2B5EF4-FFF2-40B4-BE49-F238E27FC236}">
                <a16:creationId xmlns:a16="http://schemas.microsoft.com/office/drawing/2014/main" id="{82C6DD5D-1F24-461C-8BBA-266D96754F4D}"/>
              </a:ext>
            </a:extLst>
          </p:cNvPr>
          <p:cNvSpPr>
            <a:spLocks xmlns:a="http://schemas.openxmlformats.org/drawingml/2006/main" noGrp="1"/>
          </p:cNvSpPr>
          <p:nvPr/>
        </p:nvSpPr>
        <p:spPr>
          <a:xfrm xmlns:a="http://schemas.openxmlformats.org/drawingml/2006/main">
            <a:off x="571500" y="3143250"/>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344E41"/>
                </a:solidFill>
                <a:latin typeface="Arial"/>
                <a:ea typeface="Arial"/>
                <a:cs typeface="Arial"/>
              </a:defRPr>
            </a:defPPr>
          </a:lstStyle>
          <a:p xmlns:a="http://schemas.openxmlformats.org/drawingml/2006/main">
            <a:pPr>
              <a:defRPr sz="1725" b="1">
                <a:solidFill>
                  <a:srgbClr val="344E41"/>
                </a:solidFill>
                <a:latin typeface="Arial"/>
                <a:ea typeface="Arial"/>
                <a:cs typeface="Arial"/>
              </a:defRPr>
            </a:pPr>
            <a:r>
              <a:rPr sz="1725" b="1">
                <a:solidFill>
                  <a:srgbClr val="344E41"/>
                </a:solidFill>
                <a:latin typeface="Arial"/>
                <a:ea typeface="Arial"/>
                <a:cs typeface="Arial"/>
              </a:rPr>
              <a:t>RESEARCH MODELS</a:t>
            </a:r>
          </a:p>
        </p:txBody>
      </p:sp>
      <p:sp>
        <p:nvSpPr>
          <p:cNvPr id="18" name="">
            <a:extLst xmlns:a="http://schemas.openxmlformats.org/drawingml/2006/main">
              <a:ext uri="{FF2B5EF4-FFF2-40B4-BE49-F238E27FC236}">
                <a16:creationId xmlns:a16="http://schemas.microsoft.com/office/drawing/2014/main" id="{021C25F5-0CC7-4E38-B821-F8963926C719}"/>
              </a:ext>
            </a:extLst>
          </p:cNvPr>
          <p:cNvSpPr>
            <a:spLocks xmlns:a="http://schemas.openxmlformats.org/drawingml/2006/main" noGrp="1"/>
          </p:cNvSpPr>
          <p:nvPr/>
        </p:nvSpPr>
        <p:spPr>
          <a:xfrm xmlns:a="http://schemas.openxmlformats.org/drawingml/2006/main">
            <a:off x="571500" y="357187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344E41"/>
                </a:solidFill>
                <a:latin typeface="Arial"/>
                <a:ea typeface="Arial"/>
                <a:cs typeface="Arial"/>
              </a:defRPr>
            </a:defPPr>
          </a:lstStyle>
          <a:p xmlns:a="http://schemas.openxmlformats.org/drawingml/2006/main">
            <a:pPr>
              <a:defRPr sz="1950" b="0">
                <a:solidFill>
                  <a:srgbClr val="344E41"/>
                </a:solidFill>
                <a:latin typeface="Arial"/>
                <a:ea typeface="Arial"/>
                <a:cs typeface="Arial"/>
              </a:defRPr>
            </a:pPr>
            <a:r>
              <a:rPr sz="1950" b="0">
                <a:solidFill>
                  <a:srgbClr val="344E41"/>
                </a:solidFill>
                <a:latin typeface="Arial"/>
                <a:ea typeface="Arial"/>
                <a:cs typeface="Arial"/>
              </a:rPr>
              <a:t>LSTM     /     Bi-LSTM     /     Word CNN     /     Gated word–character CNN</a:t>
            </a:r>
          </a:p>
        </p:txBody>
      </p:sp>
      <p:sp>
        <p:nvSpPr>
          <p:cNvPr id="19" name="">
            <a:extLst xmlns:a="http://schemas.openxmlformats.org/drawingml/2006/main">
              <a:ext uri="{FF2B5EF4-FFF2-40B4-BE49-F238E27FC236}">
                <a16:creationId xmlns:a16="http://schemas.microsoft.com/office/drawing/2014/main" id="{C9E73085-BC95-4185-86EA-9F8D0F4CB61B}"/>
              </a:ext>
            </a:extLst>
          </p:cNvPr>
          <p:cNvSpPr>
            <a:spLocks xmlns:a="http://schemas.openxmlformats.org/drawingml/2006/main" noGrp="1"/>
          </p:cNvSpPr>
          <p:nvPr/>
        </p:nvSpPr>
        <p:spPr>
          <a:xfrm xmlns:a="http://schemas.openxmlformats.org/drawingml/2006/main">
            <a:off x="571500" y="457200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0" name="">
            <a:extLst xmlns:a="http://schemas.openxmlformats.org/drawingml/2006/main">
              <a:ext uri="{FF2B5EF4-FFF2-40B4-BE49-F238E27FC236}">
                <a16:creationId xmlns:a16="http://schemas.microsoft.com/office/drawing/2014/main" id="{748F68D2-F691-441E-943B-2E9B0EE4294C}"/>
              </a:ext>
            </a:extLst>
          </p:cNvPr>
          <p:cNvSpPr>
            <a:spLocks xmlns:a="http://schemas.openxmlformats.org/drawingml/2006/main" noGrp="1"/>
          </p:cNvSpPr>
          <p:nvPr/>
        </p:nvSpPr>
        <p:spPr>
          <a:xfrm xmlns:a="http://schemas.openxmlformats.org/drawingml/2006/main">
            <a:off x="647700" y="47434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User enters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Telugu phrase</a:t>
            </a:r>
          </a:p>
        </p:txBody>
      </p:sp>
      <p:sp>
        <p:nvSpPr>
          <p:cNvPr id="21" name="">
            <a:extLst xmlns:a="http://schemas.openxmlformats.org/drawingml/2006/main">
              <a:ext uri="{FF2B5EF4-FFF2-40B4-BE49-F238E27FC236}">
                <a16:creationId xmlns:a16="http://schemas.microsoft.com/office/drawing/2014/main" id="{031AED88-8B2C-4EC6-BA1D-5AB29132D54E}"/>
              </a:ext>
            </a:extLst>
          </p:cNvPr>
          <p:cNvSpPr>
            <a:spLocks xmlns:a="http://schemas.openxmlformats.org/drawingml/2006/main" noGrp="1"/>
          </p:cNvSpPr>
          <p:nvPr/>
        </p:nvSpPr>
        <p:spPr>
          <a:xfrm xmlns:a="http://schemas.openxmlformats.org/drawingml/2006/main">
            <a:off x="2952750" y="47625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2" name="">
            <a:extLst xmlns:a="http://schemas.openxmlformats.org/drawingml/2006/main">
              <a:ext uri="{FF2B5EF4-FFF2-40B4-BE49-F238E27FC236}">
                <a16:creationId xmlns:a16="http://schemas.microsoft.com/office/drawing/2014/main" id="{C4D19451-960D-44B3-8719-FDE05B56CFD9}"/>
              </a:ext>
            </a:extLst>
          </p:cNvPr>
          <p:cNvSpPr>
            <a:spLocks xmlns:a="http://schemas.openxmlformats.org/drawingml/2006/main" noGrp="1"/>
          </p:cNvSpPr>
          <p:nvPr/>
        </p:nvSpPr>
        <p:spPr>
          <a:xfrm xmlns:a="http://schemas.openxmlformats.org/drawingml/2006/main">
            <a:off x="3429000" y="457200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3" name="">
            <a:extLst xmlns:a="http://schemas.openxmlformats.org/drawingml/2006/main">
              <a:ext uri="{FF2B5EF4-FFF2-40B4-BE49-F238E27FC236}">
                <a16:creationId xmlns:a16="http://schemas.microsoft.com/office/drawing/2014/main" id="{F9357102-7B13-48D2-B7B2-D73A01EB4D94}"/>
              </a:ext>
            </a:extLst>
          </p:cNvPr>
          <p:cNvSpPr>
            <a:spLocks xmlns:a="http://schemas.openxmlformats.org/drawingml/2006/main" noGrp="1"/>
          </p:cNvSpPr>
          <p:nvPr/>
        </p:nvSpPr>
        <p:spPr>
          <a:xfrm xmlns:a="http://schemas.openxmlformats.org/drawingml/2006/main">
            <a:off x="3505200" y="47434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Encode input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Last 8 words</a:t>
            </a:r>
          </a:p>
        </p:txBody>
      </p:sp>
      <p:sp>
        <p:nvSpPr>
          <p:cNvPr id="24" name="">
            <a:extLst xmlns:a="http://schemas.openxmlformats.org/drawingml/2006/main">
              <a:ext uri="{FF2B5EF4-FFF2-40B4-BE49-F238E27FC236}">
                <a16:creationId xmlns:a16="http://schemas.microsoft.com/office/drawing/2014/main" id="{97F5F5EB-5297-4490-9CC5-AA9766C4C7BD}"/>
              </a:ext>
            </a:extLst>
          </p:cNvPr>
          <p:cNvSpPr>
            <a:spLocks xmlns:a="http://schemas.openxmlformats.org/drawingml/2006/main" noGrp="1"/>
          </p:cNvSpPr>
          <p:nvPr/>
        </p:nvSpPr>
        <p:spPr>
          <a:xfrm xmlns:a="http://schemas.openxmlformats.org/drawingml/2006/main">
            <a:off x="5810250" y="47625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5" name="">
            <a:extLst xmlns:a="http://schemas.openxmlformats.org/drawingml/2006/main">
              <a:ext uri="{FF2B5EF4-FFF2-40B4-BE49-F238E27FC236}">
                <a16:creationId xmlns:a16="http://schemas.microsoft.com/office/drawing/2014/main" id="{ECF0F559-5A31-45D8-B536-4AEBA526BCF6}"/>
              </a:ext>
            </a:extLst>
          </p:cNvPr>
          <p:cNvSpPr>
            <a:spLocks xmlns:a="http://schemas.openxmlformats.org/drawingml/2006/main" noGrp="1"/>
          </p:cNvSpPr>
          <p:nvPr/>
        </p:nvSpPr>
        <p:spPr>
          <a:xfrm xmlns:a="http://schemas.openxmlformats.org/drawingml/2006/main">
            <a:off x="6286500" y="457200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26" name="">
            <a:extLst xmlns:a="http://schemas.openxmlformats.org/drawingml/2006/main">
              <a:ext uri="{FF2B5EF4-FFF2-40B4-BE49-F238E27FC236}">
                <a16:creationId xmlns:a16="http://schemas.microsoft.com/office/drawing/2014/main" id="{C5369572-3601-457B-9F53-5EB268290240}"/>
              </a:ext>
            </a:extLst>
          </p:cNvPr>
          <p:cNvSpPr>
            <a:spLocks xmlns:a="http://schemas.openxmlformats.org/drawingml/2006/main" noGrp="1"/>
          </p:cNvSpPr>
          <p:nvPr/>
        </p:nvSpPr>
        <p:spPr>
          <a:xfrm xmlns:a="http://schemas.openxmlformats.org/drawingml/2006/main">
            <a:off x="6362700" y="47434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Saved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Probabilities</a:t>
            </a:r>
          </a:p>
        </p:txBody>
      </p:sp>
      <p:sp>
        <p:nvSpPr>
          <p:cNvPr id="27" name="">
            <a:extLst xmlns:a="http://schemas.openxmlformats.org/drawingml/2006/main">
              <a:ext uri="{FF2B5EF4-FFF2-40B4-BE49-F238E27FC236}">
                <a16:creationId xmlns:a16="http://schemas.microsoft.com/office/drawing/2014/main" id="{3EBF8805-8FF5-4CE0-8ECD-D71423976701}"/>
              </a:ext>
            </a:extLst>
          </p:cNvPr>
          <p:cNvSpPr>
            <a:spLocks xmlns:a="http://schemas.openxmlformats.org/drawingml/2006/main" noGrp="1"/>
          </p:cNvSpPr>
          <p:nvPr/>
        </p:nvSpPr>
        <p:spPr>
          <a:xfrm xmlns:a="http://schemas.openxmlformats.org/drawingml/2006/main">
            <a:off x="8667750" y="47625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28" name="">
            <a:extLst xmlns:a="http://schemas.openxmlformats.org/drawingml/2006/main">
              <a:ext uri="{FF2B5EF4-FFF2-40B4-BE49-F238E27FC236}">
                <a16:creationId xmlns:a16="http://schemas.microsoft.com/office/drawing/2014/main" id="{AEC862D5-798B-4294-8A47-AC3167A99E3D}"/>
              </a:ext>
            </a:extLst>
          </p:cNvPr>
          <p:cNvSpPr>
            <a:spLocks xmlns:a="http://schemas.openxmlformats.org/drawingml/2006/main" noGrp="1"/>
          </p:cNvSpPr>
          <p:nvPr/>
        </p:nvSpPr>
        <p:spPr>
          <a:xfrm xmlns:a="http://schemas.openxmlformats.org/drawingml/2006/main">
            <a:off x="9144000" y="457200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29" name="">
            <a:extLst xmlns:a="http://schemas.openxmlformats.org/drawingml/2006/main">
              <a:ext uri="{FF2B5EF4-FFF2-40B4-BE49-F238E27FC236}">
                <a16:creationId xmlns:a16="http://schemas.microsoft.com/office/drawing/2014/main" id="{04CD6DC7-04BD-49F7-B534-CF13C202C53F}"/>
              </a:ext>
            </a:extLst>
          </p:cNvPr>
          <p:cNvSpPr>
            <a:spLocks xmlns:a="http://schemas.openxmlformats.org/drawingml/2006/main" noGrp="1"/>
          </p:cNvSpPr>
          <p:nvPr/>
        </p:nvSpPr>
        <p:spPr>
          <a:xfrm xmlns:a="http://schemas.openxmlformats.org/drawingml/2006/main">
            <a:off x="9220200" y="47434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Streamlit</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Top 5 suggestions</a:t>
            </a:r>
          </a:p>
        </p:txBody>
      </p:sp>
    </p:spTree>
    <p:extLst>
      <p:ext uri="{BB962C8B-B14F-4D97-AF65-F5344CB8AC3E}">
        <p14:creationId xmlns:p14="http://schemas.microsoft.com/office/powerpoint/2010/main" val="1931682520"/>
      </p:ext>
    </p:extLst>
  </p:cSld>
</p:sld>
</file>

<file path=ppt/slides/slide5.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D507BBB-1F16-4628-AC60-86BBE0303955}"/>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4C196A-B353-42D9-AFDA-68BDCCDE4DE5}"/>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LSTM ARCHITECTURE</a:t>
            </a:r>
          </a:p>
        </p:txBody>
      </p:sp>
      <p:sp>
        <p:nvSpPr>
          <p:cNvPr id="3" name="">
            <a:extLst xmlns:a="http://schemas.openxmlformats.org/drawingml/2006/main">
              <a:ext uri="{FF2B5EF4-FFF2-40B4-BE49-F238E27FC236}">
                <a16:creationId xmlns:a16="http://schemas.microsoft.com/office/drawing/2014/main" id="{75FC2827-794F-4B23-9E6D-3E929853B1BB}"/>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Sequential memory over the observed input words</a:t>
            </a:r>
          </a:p>
        </p:txBody>
      </p:sp>
      <p:sp>
        <p:nvSpPr>
          <p:cNvPr id="4" name="">
            <a:extLst xmlns:a="http://schemas.openxmlformats.org/drawingml/2006/main">
              <a:ext uri="{FF2B5EF4-FFF2-40B4-BE49-F238E27FC236}">
                <a16:creationId xmlns:a16="http://schemas.microsoft.com/office/drawing/2014/main" id="{7BCD98E3-0E54-4CE8-A0A7-BC8CB69C8D33}"/>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4CD386BD-40F5-4FCB-B8BB-27D451E5CD31}"/>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20FABF31-C578-4159-B9F5-A3594E651943}"/>
              </a:ext>
            </a:extLst>
          </p:cNvPr>
          <p:cNvSpPr>
            <a:spLocks xmlns:a="http://schemas.openxmlformats.org/drawingml/2006/main" noGrp="1"/>
          </p:cNvSpPr>
          <p:nvPr/>
        </p:nvSpPr>
        <p:spPr>
          <a:xfrm xmlns:a="http://schemas.openxmlformats.org/drawingml/2006/main">
            <a:off x="5715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06D6D5E9-C193-45FB-88BE-080D825D04C8}"/>
              </a:ext>
            </a:extLst>
          </p:cNvPr>
          <p:cNvSpPr>
            <a:spLocks xmlns:a="http://schemas.openxmlformats.org/drawingml/2006/main" noGrp="1"/>
          </p:cNvSpPr>
          <p:nvPr/>
        </p:nvSpPr>
        <p:spPr>
          <a:xfrm xmlns:a="http://schemas.openxmlformats.org/drawingml/2006/main">
            <a:off x="647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8-word prefix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Token IDs</a:t>
            </a:r>
          </a:p>
        </p:txBody>
      </p:sp>
      <p:sp>
        <p:nvSpPr>
          <p:cNvPr id="8" name="">
            <a:extLst xmlns:a="http://schemas.openxmlformats.org/drawingml/2006/main">
              <a:ext uri="{FF2B5EF4-FFF2-40B4-BE49-F238E27FC236}">
                <a16:creationId xmlns:a16="http://schemas.microsoft.com/office/drawing/2014/main" id="{2E2AA5CF-18A4-4F05-94E3-F1D4B1FDE388}"/>
              </a:ext>
            </a:extLst>
          </p:cNvPr>
          <p:cNvSpPr>
            <a:spLocks xmlns:a="http://schemas.openxmlformats.org/drawingml/2006/main" noGrp="1"/>
          </p:cNvSpPr>
          <p:nvPr/>
        </p:nvSpPr>
        <p:spPr>
          <a:xfrm xmlns:a="http://schemas.openxmlformats.org/drawingml/2006/main">
            <a:off x="2952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DD5681A1-7107-473C-AFCF-E288630E5383}"/>
              </a:ext>
            </a:extLst>
          </p:cNvPr>
          <p:cNvSpPr>
            <a:spLocks xmlns:a="http://schemas.openxmlformats.org/drawingml/2006/main" noGrp="1"/>
          </p:cNvSpPr>
          <p:nvPr/>
        </p:nvSpPr>
        <p:spPr>
          <a:xfrm xmlns:a="http://schemas.openxmlformats.org/drawingml/2006/main">
            <a:off x="3429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1F0D676E-B6F6-4859-B191-BBB71808C391}"/>
              </a:ext>
            </a:extLst>
          </p:cNvPr>
          <p:cNvSpPr>
            <a:spLocks xmlns:a="http://schemas.openxmlformats.org/drawingml/2006/main" noGrp="1"/>
          </p:cNvSpPr>
          <p:nvPr/>
        </p:nvSpPr>
        <p:spPr>
          <a:xfrm xmlns:a="http://schemas.openxmlformats.org/drawingml/2006/main">
            <a:off x="3505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11" name="">
            <a:extLst xmlns:a="http://schemas.openxmlformats.org/drawingml/2006/main">
              <a:ext uri="{FF2B5EF4-FFF2-40B4-BE49-F238E27FC236}">
                <a16:creationId xmlns:a16="http://schemas.microsoft.com/office/drawing/2014/main" id="{78F8C904-2F9B-4B23-95A2-42B170C9B0F9}"/>
              </a:ext>
            </a:extLst>
          </p:cNvPr>
          <p:cNvSpPr>
            <a:spLocks xmlns:a="http://schemas.openxmlformats.org/drawingml/2006/main" noGrp="1"/>
          </p:cNvSpPr>
          <p:nvPr/>
        </p:nvSpPr>
        <p:spPr>
          <a:xfrm xmlns:a="http://schemas.openxmlformats.org/drawingml/2006/main">
            <a:off x="58102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0CF842F9-CBAA-49C8-9C1B-FA8F0C7A2E42}"/>
              </a:ext>
            </a:extLst>
          </p:cNvPr>
          <p:cNvSpPr>
            <a:spLocks xmlns:a="http://schemas.openxmlformats.org/drawingml/2006/main" noGrp="1"/>
          </p:cNvSpPr>
          <p:nvPr/>
        </p:nvSpPr>
        <p:spPr>
          <a:xfrm xmlns:a="http://schemas.openxmlformats.org/drawingml/2006/main">
            <a:off x="6286500" y="23812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1E0CBF8A-6CDF-4169-88F7-9E07B750DCFC}"/>
              </a:ext>
            </a:extLst>
          </p:cNvPr>
          <p:cNvSpPr>
            <a:spLocks xmlns:a="http://schemas.openxmlformats.org/drawingml/2006/main" noGrp="1"/>
          </p:cNvSpPr>
          <p:nvPr/>
        </p:nvSpPr>
        <p:spPr>
          <a:xfrm xmlns:a="http://schemas.openxmlformats.org/drawingml/2006/main">
            <a:off x="63627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LSTM layer</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hidden units</a:t>
            </a:r>
          </a:p>
        </p:txBody>
      </p:sp>
      <p:sp>
        <p:nvSpPr>
          <p:cNvPr id="14" name="">
            <a:extLst xmlns:a="http://schemas.openxmlformats.org/drawingml/2006/main">
              <a:ext uri="{FF2B5EF4-FFF2-40B4-BE49-F238E27FC236}">
                <a16:creationId xmlns:a16="http://schemas.microsoft.com/office/drawing/2014/main" id="{0CB93592-F2DB-4E9E-9809-000E8A66E46E}"/>
              </a:ext>
            </a:extLst>
          </p:cNvPr>
          <p:cNvSpPr>
            <a:spLocks xmlns:a="http://schemas.openxmlformats.org/drawingml/2006/main" noGrp="1"/>
          </p:cNvSpPr>
          <p:nvPr/>
        </p:nvSpPr>
        <p:spPr>
          <a:xfrm xmlns:a="http://schemas.openxmlformats.org/drawingml/2006/main">
            <a:off x="8667750" y="25717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375B4D14-CAAB-42AF-BF98-E7EDF2330D97}"/>
              </a:ext>
            </a:extLst>
          </p:cNvPr>
          <p:cNvSpPr>
            <a:spLocks xmlns:a="http://schemas.openxmlformats.org/drawingml/2006/main" noGrp="1"/>
          </p:cNvSpPr>
          <p:nvPr/>
        </p:nvSpPr>
        <p:spPr>
          <a:xfrm xmlns:a="http://schemas.openxmlformats.org/drawingml/2006/main">
            <a:off x="9144000" y="2381250"/>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26C057C7-8300-4D3F-8BB1-8A784E550C2E}"/>
              </a:ext>
            </a:extLst>
          </p:cNvPr>
          <p:cNvSpPr>
            <a:spLocks xmlns:a="http://schemas.openxmlformats.org/drawingml/2006/main" noGrp="1"/>
          </p:cNvSpPr>
          <p:nvPr/>
        </p:nvSpPr>
        <p:spPr>
          <a:xfrm xmlns:a="http://schemas.openxmlformats.org/drawingml/2006/main">
            <a:off x="9220200" y="25527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17" name="">
            <a:extLst xmlns:a="http://schemas.openxmlformats.org/drawingml/2006/main">
              <a:ext uri="{FF2B5EF4-FFF2-40B4-BE49-F238E27FC236}">
                <a16:creationId xmlns:a16="http://schemas.microsoft.com/office/drawing/2014/main" id="{9DA0F2C2-B630-4AC5-83DB-1D3EEEE61E90}"/>
              </a:ext>
            </a:extLst>
          </p:cNvPr>
          <p:cNvSpPr>
            <a:spLocks xmlns:a="http://schemas.openxmlformats.org/drawingml/2006/main" noGrp="1"/>
          </p:cNvSpPr>
          <p:nvPr/>
        </p:nvSpPr>
        <p:spPr>
          <a:xfrm xmlns:a="http://schemas.openxmlformats.org/drawingml/2006/main">
            <a:off x="619125" y="3905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cₜ = fₜ ⊙ cₜ₋₁ + iₜ ⊙ gₜ</a:t>
            </a:r>
          </a:p>
        </p:txBody>
      </p:sp>
      <p:sp>
        <p:nvSpPr>
          <p:cNvPr id="18" name="">
            <a:extLst xmlns:a="http://schemas.openxmlformats.org/drawingml/2006/main">
              <a:ext uri="{FF2B5EF4-FFF2-40B4-BE49-F238E27FC236}">
                <a16:creationId xmlns:a16="http://schemas.microsoft.com/office/drawing/2014/main" id="{778442E2-EBA6-4043-B153-C0143262AE90}"/>
              </a:ext>
            </a:extLst>
          </p:cNvPr>
          <p:cNvSpPr>
            <a:spLocks xmlns:a="http://schemas.openxmlformats.org/drawingml/2006/main" noGrp="1"/>
          </p:cNvSpPr>
          <p:nvPr/>
        </p:nvSpPr>
        <p:spPr>
          <a:xfrm xmlns:a="http://schemas.openxmlformats.org/drawingml/2006/main">
            <a:off x="619125" y="46196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hₜ = oₜ ⊙ tanh(cₜ)</a:t>
            </a:r>
          </a:p>
        </p:txBody>
      </p:sp>
      <p:sp>
        <p:nvSpPr>
          <p:cNvPr id="19" name="">
            <a:extLst xmlns:a="http://schemas.openxmlformats.org/drawingml/2006/main">
              <a:ext uri="{FF2B5EF4-FFF2-40B4-BE49-F238E27FC236}">
                <a16:creationId xmlns:a16="http://schemas.microsoft.com/office/drawing/2014/main" id="{17D34F89-D278-4311-8380-2BEBA8F87917}"/>
              </a:ext>
            </a:extLst>
          </p:cNvPr>
          <p:cNvSpPr>
            <a:spLocks xmlns:a="http://schemas.openxmlformats.org/drawingml/2006/main" noGrp="1"/>
          </p:cNvSpPr>
          <p:nvPr/>
        </p:nvSpPr>
        <p:spPr>
          <a:xfrm xmlns:a="http://schemas.openxmlformats.org/drawingml/2006/main">
            <a:off x="619125" y="55626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final hidden state predicts the next word. Test top-1 accuracy: 18.03%.</a:t>
            </a:r>
          </a:p>
        </p:txBody>
      </p:sp>
    </p:spTree>
    <p:extLst>
      <p:ext uri="{BB962C8B-B14F-4D97-AF65-F5344CB8AC3E}">
        <p14:creationId xmlns:p14="http://schemas.microsoft.com/office/powerpoint/2010/main" val="159927296"/>
      </p:ext>
    </p:extLst>
  </p:cSld>
</p:sld>
</file>

<file path=ppt/slides/slide6.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9D99209-7E02-40BC-8220-896DB9A53A8D}"/>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3E6E22-30C8-4E3C-8C33-491BBA72817D}"/>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BI-LSTM ARCHITECTURE</a:t>
            </a:r>
          </a:p>
        </p:txBody>
      </p:sp>
      <p:sp>
        <p:nvSpPr>
          <p:cNvPr id="3" name="">
            <a:extLst xmlns:a="http://schemas.openxmlformats.org/drawingml/2006/main">
              <a:ext uri="{FF2B5EF4-FFF2-40B4-BE49-F238E27FC236}">
                <a16:creationId xmlns:a16="http://schemas.microsoft.com/office/drawing/2014/main" id="{67D7B300-255F-452B-B8AD-BF09F49E89AC}"/>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Two directions process the same observed prefix</a:t>
            </a:r>
          </a:p>
        </p:txBody>
      </p:sp>
      <p:sp>
        <p:nvSpPr>
          <p:cNvPr id="4" name="">
            <a:extLst xmlns:a="http://schemas.openxmlformats.org/drawingml/2006/main">
              <a:ext uri="{FF2B5EF4-FFF2-40B4-BE49-F238E27FC236}">
                <a16:creationId xmlns:a16="http://schemas.microsoft.com/office/drawing/2014/main" id="{CD38BE45-BB57-4CF2-AC46-2C5755C542C3}"/>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F323302B-68EF-4D93-A503-1759BB164143}"/>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329A670F-728F-4B9B-BB6D-C1509E589F6F}"/>
              </a:ext>
            </a:extLst>
          </p:cNvPr>
          <p:cNvSpPr>
            <a:spLocks xmlns:a="http://schemas.openxmlformats.org/drawingml/2006/main" noGrp="1"/>
          </p:cNvSpPr>
          <p:nvPr/>
        </p:nvSpPr>
        <p:spPr>
          <a:xfrm xmlns:a="http://schemas.openxmlformats.org/drawingml/2006/main">
            <a:off x="571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C8FE2865-A5F3-4C76-A076-81ADD5DE2096}"/>
              </a:ext>
            </a:extLst>
          </p:cNvPr>
          <p:cNvSpPr>
            <a:spLocks xmlns:a="http://schemas.openxmlformats.org/drawingml/2006/main" noGrp="1"/>
          </p:cNvSpPr>
          <p:nvPr/>
        </p:nvSpPr>
        <p:spPr>
          <a:xfrm xmlns:a="http://schemas.openxmlformats.org/drawingml/2006/main">
            <a:off x="647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Prefix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43838E44-6B0D-4934-B688-671AC1E62EDE}"/>
              </a:ext>
            </a:extLst>
          </p:cNvPr>
          <p:cNvSpPr>
            <a:spLocks xmlns:a="http://schemas.openxmlformats.org/drawingml/2006/main" noGrp="1"/>
          </p:cNvSpPr>
          <p:nvPr/>
        </p:nvSpPr>
        <p:spPr>
          <a:xfrm xmlns:a="http://schemas.openxmlformats.org/drawingml/2006/main">
            <a:off x="295275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463FFE5B-B1C6-4B25-A701-C01FF5B7E364}"/>
              </a:ext>
            </a:extLst>
          </p:cNvPr>
          <p:cNvSpPr>
            <a:spLocks xmlns:a="http://schemas.openxmlformats.org/drawingml/2006/main" noGrp="1"/>
          </p:cNvSpPr>
          <p:nvPr/>
        </p:nvSpPr>
        <p:spPr>
          <a:xfrm xmlns:a="http://schemas.openxmlformats.org/drawingml/2006/main">
            <a:off x="3429000" y="209550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461B3E63-2D30-4368-9856-D76D39F5BEBB}"/>
              </a:ext>
            </a:extLst>
          </p:cNvPr>
          <p:cNvSpPr>
            <a:spLocks xmlns:a="http://schemas.openxmlformats.org/drawingml/2006/main" noGrp="1"/>
          </p:cNvSpPr>
          <p:nvPr/>
        </p:nvSpPr>
        <p:spPr>
          <a:xfrm xmlns:a="http://schemas.openxmlformats.org/drawingml/2006/main">
            <a:off x="3505200" y="226695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Forward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1" name="">
            <a:extLst xmlns:a="http://schemas.openxmlformats.org/drawingml/2006/main">
              <a:ext uri="{FF2B5EF4-FFF2-40B4-BE49-F238E27FC236}">
                <a16:creationId xmlns:a16="http://schemas.microsoft.com/office/drawing/2014/main" id="{B226D417-08D0-4886-8A0A-38380F9ED984}"/>
              </a:ext>
            </a:extLst>
          </p:cNvPr>
          <p:cNvSpPr>
            <a:spLocks xmlns:a="http://schemas.openxmlformats.org/drawingml/2006/main" noGrp="1"/>
          </p:cNvSpPr>
          <p:nvPr/>
        </p:nvSpPr>
        <p:spPr>
          <a:xfrm xmlns:a="http://schemas.openxmlformats.org/drawingml/2006/main">
            <a:off x="3429000" y="3714750"/>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2" name="">
            <a:extLst xmlns:a="http://schemas.openxmlformats.org/drawingml/2006/main">
              <a:ext uri="{FF2B5EF4-FFF2-40B4-BE49-F238E27FC236}">
                <a16:creationId xmlns:a16="http://schemas.microsoft.com/office/drawing/2014/main" id="{1C21016E-804F-4049-987D-841D765B44C7}"/>
              </a:ext>
            </a:extLst>
          </p:cNvPr>
          <p:cNvSpPr>
            <a:spLocks xmlns:a="http://schemas.openxmlformats.org/drawingml/2006/main" noGrp="1"/>
          </p:cNvSpPr>
          <p:nvPr/>
        </p:nvSpPr>
        <p:spPr>
          <a:xfrm xmlns:a="http://schemas.openxmlformats.org/drawingml/2006/main">
            <a:off x="3505200" y="3886200"/>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Reverse LSTM</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128 units</a:t>
            </a:r>
          </a:p>
        </p:txBody>
      </p:sp>
      <p:sp>
        <p:nvSpPr>
          <p:cNvPr id="13" name="">
            <a:extLst xmlns:a="http://schemas.openxmlformats.org/drawingml/2006/main">
              <a:ext uri="{FF2B5EF4-FFF2-40B4-BE49-F238E27FC236}">
                <a16:creationId xmlns:a16="http://schemas.microsoft.com/office/drawing/2014/main" id="{88117F7E-1402-44FD-963F-28CF9C3A8A2F}"/>
              </a:ext>
            </a:extLst>
          </p:cNvPr>
          <p:cNvSpPr>
            <a:spLocks xmlns:a="http://schemas.openxmlformats.org/drawingml/2006/main" noGrp="1"/>
          </p:cNvSpPr>
          <p:nvPr/>
        </p:nvSpPr>
        <p:spPr>
          <a:xfrm xmlns:a="http://schemas.openxmlformats.org/drawingml/2006/main">
            <a:off x="5810250" y="2286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4" name="">
            <a:extLst xmlns:a="http://schemas.openxmlformats.org/drawingml/2006/main">
              <a:ext uri="{FF2B5EF4-FFF2-40B4-BE49-F238E27FC236}">
                <a16:creationId xmlns:a16="http://schemas.microsoft.com/office/drawing/2014/main" id="{CDB04047-89AB-4E17-8A07-3D175597EF36}"/>
              </a:ext>
            </a:extLst>
          </p:cNvPr>
          <p:cNvSpPr>
            <a:spLocks xmlns:a="http://schemas.openxmlformats.org/drawingml/2006/main" noGrp="1"/>
          </p:cNvSpPr>
          <p:nvPr/>
        </p:nvSpPr>
        <p:spPr>
          <a:xfrm xmlns:a="http://schemas.openxmlformats.org/drawingml/2006/main">
            <a:off x="5810250" y="390525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21A6AE28-F348-4CA7-B413-E09C6550D204}"/>
              </a:ext>
            </a:extLst>
          </p:cNvPr>
          <p:cNvSpPr>
            <a:spLocks xmlns:a="http://schemas.openxmlformats.org/drawingml/2006/main" noGrp="1"/>
          </p:cNvSpPr>
          <p:nvPr/>
        </p:nvSpPr>
        <p:spPr>
          <a:xfrm xmlns:a="http://schemas.openxmlformats.org/drawingml/2006/main">
            <a:off x="62865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DC07CD7B-7159-4F4F-A3EF-E0DBB814F055}"/>
              </a:ext>
            </a:extLst>
          </p:cNvPr>
          <p:cNvSpPr>
            <a:spLocks xmlns:a="http://schemas.openxmlformats.org/drawingml/2006/main" noGrp="1"/>
          </p:cNvSpPr>
          <p:nvPr/>
        </p:nvSpPr>
        <p:spPr>
          <a:xfrm xmlns:a="http://schemas.openxmlformats.org/drawingml/2006/main">
            <a:off x="63627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Concatenate</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256 dimensions</a:t>
            </a:r>
          </a:p>
        </p:txBody>
      </p:sp>
      <p:sp>
        <p:nvSpPr>
          <p:cNvPr id="17" name="">
            <a:extLst xmlns:a="http://schemas.openxmlformats.org/drawingml/2006/main">
              <a:ext uri="{FF2B5EF4-FFF2-40B4-BE49-F238E27FC236}">
                <a16:creationId xmlns:a16="http://schemas.microsoft.com/office/drawing/2014/main" id="{46EF71F2-88DA-45F1-A8D5-EE898F62EC9B}"/>
              </a:ext>
            </a:extLst>
          </p:cNvPr>
          <p:cNvSpPr>
            <a:spLocks xmlns:a="http://schemas.openxmlformats.org/drawingml/2006/main" noGrp="1"/>
          </p:cNvSpPr>
          <p:nvPr/>
        </p:nvSpPr>
        <p:spPr>
          <a:xfrm xmlns:a="http://schemas.openxmlformats.org/drawingml/2006/main">
            <a:off x="866775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8" name="">
            <a:extLst xmlns:a="http://schemas.openxmlformats.org/drawingml/2006/main">
              <a:ext uri="{FF2B5EF4-FFF2-40B4-BE49-F238E27FC236}">
                <a16:creationId xmlns:a16="http://schemas.microsoft.com/office/drawing/2014/main" id="{80F16C64-845F-4F11-833A-DEE53A7E7FEF}"/>
              </a:ext>
            </a:extLst>
          </p:cNvPr>
          <p:cNvSpPr>
            <a:spLocks xmlns:a="http://schemas.openxmlformats.org/drawingml/2006/main" noGrp="1"/>
          </p:cNvSpPr>
          <p:nvPr/>
        </p:nvSpPr>
        <p:spPr>
          <a:xfrm xmlns:a="http://schemas.openxmlformats.org/drawingml/2006/main">
            <a:off x="9144000" y="2857500"/>
            <a:ext cx="228600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9" name="">
            <a:extLst xmlns:a="http://schemas.openxmlformats.org/drawingml/2006/main">
              <a:ext uri="{FF2B5EF4-FFF2-40B4-BE49-F238E27FC236}">
                <a16:creationId xmlns:a16="http://schemas.microsoft.com/office/drawing/2014/main" id="{C4D4F6D8-1B4E-47CA-BA8F-457D56FDCD52}"/>
              </a:ext>
            </a:extLst>
          </p:cNvPr>
          <p:cNvSpPr>
            <a:spLocks xmlns:a="http://schemas.openxmlformats.org/drawingml/2006/main" noGrp="1"/>
          </p:cNvSpPr>
          <p:nvPr/>
        </p:nvSpPr>
        <p:spPr>
          <a:xfrm xmlns:a="http://schemas.openxmlformats.org/drawingml/2006/main">
            <a:off x="922020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20,000 outputs</a:t>
            </a:r>
          </a:p>
        </p:txBody>
      </p:sp>
      <p:sp>
        <p:nvSpPr>
          <p:cNvPr id="20" name="">
            <a:extLst xmlns:a="http://schemas.openxmlformats.org/drawingml/2006/main">
              <a:ext uri="{FF2B5EF4-FFF2-40B4-BE49-F238E27FC236}">
                <a16:creationId xmlns:a16="http://schemas.microsoft.com/office/drawing/2014/main" id="{C93422EA-B7A8-49F4-8084-F43869A583F5}"/>
              </a:ext>
            </a:extLst>
          </p:cNvPr>
          <p:cNvSpPr>
            <a:spLocks xmlns:a="http://schemas.openxmlformats.org/drawingml/2006/main" noGrp="1"/>
          </p:cNvSpPr>
          <p:nvPr/>
        </p:nvSpPr>
        <p:spPr>
          <a:xfrm xmlns:a="http://schemas.openxmlformats.org/drawingml/2006/main">
            <a:off x="619125" y="4905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344E41"/>
                </a:solidFill>
                <a:latin typeface="Cambria"/>
                <a:ea typeface="Cambria"/>
                <a:cs typeface="Cambria"/>
              </a:defRPr>
            </a:defPPr>
          </a:lstStyle>
          <a:p xmlns:a="http://schemas.openxmlformats.org/drawingml/2006/main">
            <a:pPr>
              <a:defRPr sz="2550" b="0">
                <a:solidFill>
                  <a:srgbClr val="344E41"/>
                </a:solidFill>
                <a:latin typeface="Cambria"/>
                <a:ea typeface="Cambria"/>
                <a:cs typeface="Cambria"/>
              </a:defRPr>
            </a:pPr>
            <a:r>
              <a:rPr sz="2550" b="0">
                <a:solidFill>
                  <a:srgbClr val="344E41"/>
                </a:solidFill>
                <a:latin typeface="Cambria"/>
                <a:ea typeface="Cambria"/>
                <a:cs typeface="Cambria"/>
              </a:rPr>
              <a:t>h = concat(hforward, hreverse)</a:t>
            </a:r>
          </a:p>
        </p:txBody>
      </p:sp>
      <p:sp>
        <p:nvSpPr>
          <p:cNvPr id="21" name="">
            <a:extLst xmlns:a="http://schemas.openxmlformats.org/drawingml/2006/main">
              <a:ext uri="{FF2B5EF4-FFF2-40B4-BE49-F238E27FC236}">
                <a16:creationId xmlns:a16="http://schemas.microsoft.com/office/drawing/2014/main" id="{93D98DA5-9F72-48CC-A4C7-C2F18FFE7A0A}"/>
              </a:ext>
            </a:extLst>
          </p:cNvPr>
          <p:cNvSpPr>
            <a:spLocks xmlns:a="http://schemas.openxmlformats.org/drawingml/2006/main" noGrp="1"/>
          </p:cNvSpPr>
          <p:nvPr/>
        </p:nvSpPr>
        <p:spPr>
          <a:xfrm xmlns:a="http://schemas.openxmlformats.org/drawingml/2006/main">
            <a:off x="619125" y="56007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Neither direction sees the target word. Test top-1 accuracy: 18.82%.</a:t>
            </a:r>
          </a:p>
        </p:txBody>
      </p:sp>
    </p:spTree>
    <p:extLst>
      <p:ext uri="{BB962C8B-B14F-4D97-AF65-F5344CB8AC3E}">
        <p14:creationId xmlns:p14="http://schemas.microsoft.com/office/powerpoint/2010/main" val="1091509622"/>
      </p:ext>
    </p:extLst>
  </p:cSld>
</p:sld>
</file>

<file path=ppt/slides/slide7.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B804AA2-BAD7-46F7-86CB-6FC722F8CBDC}"/>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6E96F2-0432-4F7D-8258-4C8E1472DE88}"/>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WORD CNN ARCHITECTURE</a:t>
            </a:r>
          </a:p>
        </p:txBody>
      </p:sp>
      <p:sp>
        <p:nvSpPr>
          <p:cNvPr id="3" name="">
            <a:extLst xmlns:a="http://schemas.openxmlformats.org/drawingml/2006/main">
              <a:ext uri="{FF2B5EF4-FFF2-40B4-BE49-F238E27FC236}">
                <a16:creationId xmlns:a16="http://schemas.microsoft.com/office/drawing/2014/main" id="{766D5027-10A0-42DC-B310-8970DB6B30E8}"/>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Gated causal convolutions over word embeddings</a:t>
            </a:r>
          </a:p>
        </p:txBody>
      </p:sp>
      <p:sp>
        <p:nvSpPr>
          <p:cNvPr id="4" name="">
            <a:extLst xmlns:a="http://schemas.openxmlformats.org/drawingml/2006/main">
              <a:ext uri="{FF2B5EF4-FFF2-40B4-BE49-F238E27FC236}">
                <a16:creationId xmlns:a16="http://schemas.microsoft.com/office/drawing/2014/main" id="{4959427E-3C9D-4C63-910E-099AA8544B9B}"/>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47BD4B9B-67D0-48A1-A176-1A21B78FC478}"/>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633043CF-F511-4CAB-8B21-25E93E0EC81A}"/>
              </a:ext>
            </a:extLst>
          </p:cNvPr>
          <p:cNvSpPr>
            <a:spLocks xmlns:a="http://schemas.openxmlformats.org/drawingml/2006/main" noGrp="1"/>
          </p:cNvSpPr>
          <p:nvPr/>
        </p:nvSpPr>
        <p:spPr>
          <a:xfrm xmlns:a="http://schemas.openxmlformats.org/drawingml/2006/main">
            <a:off x="5715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EDC35BA9-FD10-49E6-A948-312688CD4ED0}"/>
              </a:ext>
            </a:extLst>
          </p:cNvPr>
          <p:cNvSpPr>
            <a:spLocks xmlns:a="http://schemas.openxmlformats.org/drawingml/2006/main" noGrp="1"/>
          </p:cNvSpPr>
          <p:nvPr/>
        </p:nvSpPr>
        <p:spPr>
          <a:xfrm xmlns:a="http://schemas.openxmlformats.org/drawingml/2006/main">
            <a:off x="647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embeddings</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EFCE8526-CF31-49D3-B6A8-726DDBB108CA}"/>
              </a:ext>
            </a:extLst>
          </p:cNvPr>
          <p:cNvSpPr>
            <a:spLocks xmlns:a="http://schemas.openxmlformats.org/drawingml/2006/main" noGrp="1"/>
          </p:cNvSpPr>
          <p:nvPr/>
        </p:nvSpPr>
        <p:spPr>
          <a:xfrm xmlns:a="http://schemas.openxmlformats.org/drawingml/2006/main">
            <a:off x="2952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9" name="">
            <a:extLst xmlns:a="http://schemas.openxmlformats.org/drawingml/2006/main">
              <a:ext uri="{FF2B5EF4-FFF2-40B4-BE49-F238E27FC236}">
                <a16:creationId xmlns:a16="http://schemas.microsoft.com/office/drawing/2014/main" id="{5AC71E96-DC19-411C-A9DF-EA44FA3E1549}"/>
              </a:ext>
            </a:extLst>
          </p:cNvPr>
          <p:cNvSpPr>
            <a:spLocks xmlns:a="http://schemas.openxmlformats.org/drawingml/2006/main" noGrp="1"/>
          </p:cNvSpPr>
          <p:nvPr/>
        </p:nvSpPr>
        <p:spPr>
          <a:xfrm xmlns:a="http://schemas.openxmlformats.org/drawingml/2006/main">
            <a:off x="3429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0" name="">
            <a:extLst xmlns:a="http://schemas.openxmlformats.org/drawingml/2006/main">
              <a:ext uri="{FF2B5EF4-FFF2-40B4-BE49-F238E27FC236}">
                <a16:creationId xmlns:a16="http://schemas.microsoft.com/office/drawing/2014/main" id="{8DF56A50-42E0-44F2-8393-7D42CA0C2772}"/>
              </a:ext>
            </a:extLst>
          </p:cNvPr>
          <p:cNvSpPr>
            <a:spLocks xmlns:a="http://schemas.openxmlformats.org/drawingml/2006/main" noGrp="1"/>
          </p:cNvSpPr>
          <p:nvPr/>
        </p:nvSpPr>
        <p:spPr>
          <a:xfrm xmlns:a="http://schemas.openxmlformats.org/drawingml/2006/main">
            <a:off x="3505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1×1 projection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128 channels</a:t>
            </a:r>
          </a:p>
        </p:txBody>
      </p:sp>
      <p:sp>
        <p:nvSpPr>
          <p:cNvPr id="11" name="">
            <a:extLst xmlns:a="http://schemas.openxmlformats.org/drawingml/2006/main">
              <a:ext uri="{FF2B5EF4-FFF2-40B4-BE49-F238E27FC236}">
                <a16:creationId xmlns:a16="http://schemas.microsoft.com/office/drawing/2014/main" id="{E19F1BB2-6A02-4895-99F1-B3B42394848E}"/>
              </a:ext>
            </a:extLst>
          </p:cNvPr>
          <p:cNvSpPr>
            <a:spLocks xmlns:a="http://schemas.openxmlformats.org/drawingml/2006/main" noGrp="1"/>
          </p:cNvSpPr>
          <p:nvPr/>
        </p:nvSpPr>
        <p:spPr>
          <a:xfrm xmlns:a="http://schemas.openxmlformats.org/drawingml/2006/main">
            <a:off x="58102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E0FF81E0-EE08-4C25-994F-97F245B0D775}"/>
              </a:ext>
            </a:extLst>
          </p:cNvPr>
          <p:cNvSpPr>
            <a:spLocks xmlns:a="http://schemas.openxmlformats.org/drawingml/2006/main" noGrp="1"/>
          </p:cNvSpPr>
          <p:nvPr/>
        </p:nvSpPr>
        <p:spPr>
          <a:xfrm xmlns:a="http://schemas.openxmlformats.org/drawingml/2006/main">
            <a:off x="6286500" y="2238375"/>
            <a:ext cx="2286000" cy="85725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05C73770-60CA-47F9-9986-DA2FF8127BCD}"/>
              </a:ext>
            </a:extLst>
          </p:cNvPr>
          <p:cNvSpPr>
            <a:spLocks xmlns:a="http://schemas.openxmlformats.org/drawingml/2006/main" noGrp="1"/>
          </p:cNvSpPr>
          <p:nvPr/>
        </p:nvSpPr>
        <p:spPr>
          <a:xfrm xmlns:a="http://schemas.openxmlformats.org/drawingml/2006/main">
            <a:off x="63627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3 causal blocks</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Dilations 1, 2, 4</a:t>
            </a:r>
          </a:p>
        </p:txBody>
      </p:sp>
      <p:sp>
        <p:nvSpPr>
          <p:cNvPr id="14" name="">
            <a:extLst xmlns:a="http://schemas.openxmlformats.org/drawingml/2006/main">
              <a:ext uri="{FF2B5EF4-FFF2-40B4-BE49-F238E27FC236}">
                <a16:creationId xmlns:a16="http://schemas.microsoft.com/office/drawing/2014/main" id="{34EA2B40-96ED-4C56-A328-A2DD3C7AE325}"/>
              </a:ext>
            </a:extLst>
          </p:cNvPr>
          <p:cNvSpPr>
            <a:spLocks xmlns:a="http://schemas.openxmlformats.org/drawingml/2006/main" noGrp="1"/>
          </p:cNvSpPr>
          <p:nvPr/>
        </p:nvSpPr>
        <p:spPr>
          <a:xfrm xmlns:a="http://schemas.openxmlformats.org/drawingml/2006/main">
            <a:off x="8667750" y="2428875"/>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30A9F58A-68EC-49DC-AD44-65E093B5DBE7}"/>
              </a:ext>
            </a:extLst>
          </p:cNvPr>
          <p:cNvSpPr>
            <a:spLocks xmlns:a="http://schemas.openxmlformats.org/drawingml/2006/main" noGrp="1"/>
          </p:cNvSpPr>
          <p:nvPr/>
        </p:nvSpPr>
        <p:spPr>
          <a:xfrm xmlns:a="http://schemas.openxmlformats.org/drawingml/2006/main">
            <a:off x="9144000" y="2238375"/>
            <a:ext cx="228600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5A4A10B3-E4E9-46E2-984B-2493C86F4CD5}"/>
              </a:ext>
            </a:extLst>
          </p:cNvPr>
          <p:cNvSpPr>
            <a:spLocks xmlns:a="http://schemas.openxmlformats.org/drawingml/2006/main" noGrp="1"/>
          </p:cNvSpPr>
          <p:nvPr/>
        </p:nvSpPr>
        <p:spPr>
          <a:xfrm xmlns:a="http://schemas.openxmlformats.org/drawingml/2006/main">
            <a:off x="9220200" y="2409825"/>
            <a:ext cx="2133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Final position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p:txBody>
      </p:sp>
      <p:sp>
        <p:nvSpPr>
          <p:cNvPr id="17" name="">
            <a:extLst xmlns:a="http://schemas.openxmlformats.org/drawingml/2006/main">
              <a:ext uri="{FF2B5EF4-FFF2-40B4-BE49-F238E27FC236}">
                <a16:creationId xmlns:a16="http://schemas.microsoft.com/office/drawing/2014/main" id="{9D4A4223-D3E0-4223-A570-135F111E4283}"/>
              </a:ext>
            </a:extLst>
          </p:cNvPr>
          <p:cNvSpPr>
            <a:spLocks xmlns:a="http://schemas.openxmlformats.org/drawingml/2006/main" noGrp="1"/>
          </p:cNvSpPr>
          <p:nvPr/>
        </p:nvSpPr>
        <p:spPr>
          <a:xfrm xmlns:a="http://schemas.openxmlformats.org/drawingml/2006/main">
            <a:off x="619125" y="3762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344E41"/>
                </a:solidFill>
                <a:latin typeface="Cambria"/>
                <a:ea typeface="Cambria"/>
                <a:cs typeface="Cambria"/>
              </a:defRPr>
            </a:defPPr>
          </a:lstStyle>
          <a:p xmlns:a="http://schemas.openxmlformats.org/drawingml/2006/main">
            <a:pPr>
              <a:defRPr sz="2700" b="0">
                <a:solidFill>
                  <a:srgbClr val="344E41"/>
                </a:solidFill>
                <a:latin typeface="Cambria"/>
                <a:ea typeface="Cambria"/>
                <a:cs typeface="Cambria"/>
              </a:defRPr>
            </a:pPr>
            <a:r>
              <a:rPr sz="2700" b="0">
                <a:solidFill>
                  <a:srgbClr val="344E41"/>
                </a:solidFill>
                <a:latin typeface="Cambria"/>
                <a:ea typeface="Cambria"/>
                <a:cs typeface="Cambria"/>
              </a:rPr>
              <a:t>h′ = (h + v ⊙ σ(u)) / √2</a:t>
            </a:r>
          </a:p>
        </p:txBody>
      </p:sp>
      <p:sp>
        <p:nvSpPr>
          <p:cNvPr id="18" name="">
            <a:extLst xmlns:a="http://schemas.openxmlformats.org/drawingml/2006/main">
              <a:ext uri="{FF2B5EF4-FFF2-40B4-BE49-F238E27FC236}">
                <a16:creationId xmlns:a16="http://schemas.microsoft.com/office/drawing/2014/main" id="{07AE7F41-9AB6-462B-942B-B8E939D6BB95}"/>
              </a:ext>
            </a:extLst>
          </p:cNvPr>
          <p:cNvSpPr>
            <a:spLocks xmlns:a="http://schemas.openxmlformats.org/drawingml/2006/main" noGrp="1"/>
          </p:cNvSpPr>
          <p:nvPr/>
        </p:nvSpPr>
        <p:spPr>
          <a:xfrm xmlns:a="http://schemas.openxmlformats.org/drawingml/2006/main">
            <a:off x="619125" y="471487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E41"/>
                </a:solidFill>
                <a:latin typeface="Arial"/>
                <a:ea typeface="Arial"/>
                <a:cs typeface="Arial"/>
              </a:defRPr>
            </a:defPPr>
          </a:lstStyle>
          <a:p xmlns:a="http://schemas.openxmlformats.org/drawingml/2006/main">
            <a:pPr>
              <a:defRPr sz="2025" b="0">
                <a:solidFill>
                  <a:srgbClr val="344E41"/>
                </a:solidFill>
                <a:latin typeface="Arial"/>
                <a:ea typeface="Arial"/>
                <a:cs typeface="Arial"/>
              </a:defRPr>
            </a:pPr>
            <a:r>
              <a:rPr sz="2025" b="0">
                <a:solidFill>
                  <a:srgbClr val="344E41"/>
                </a:solidFill>
                <a:latin typeface="Arial"/>
                <a:ea typeface="Arial"/>
                <a:cs typeface="Arial"/>
              </a:rPr>
              <a:t>Kernel size 3. Left padding prevents access to later input positions.</a:t>
            </a:r>
          </a:p>
        </p:txBody>
      </p:sp>
      <p:sp>
        <p:nvSpPr>
          <p:cNvPr id="19" name="">
            <a:extLst xmlns:a="http://schemas.openxmlformats.org/drawingml/2006/main">
              <a:ext uri="{FF2B5EF4-FFF2-40B4-BE49-F238E27FC236}">
                <a16:creationId xmlns:a16="http://schemas.microsoft.com/office/drawing/2014/main" id="{A6829190-EC5E-47F1-8E32-56CB947EAB5C}"/>
              </a:ext>
            </a:extLst>
          </p:cNvPr>
          <p:cNvSpPr>
            <a:spLocks xmlns:a="http://schemas.openxmlformats.org/drawingml/2006/main" noGrp="1"/>
          </p:cNvSpPr>
          <p:nvPr/>
        </p:nvSpPr>
        <p:spPr>
          <a:xfrm xmlns:a="http://schemas.openxmlformats.org/drawingml/2006/main">
            <a:off x="619125" y="55721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The receptive field covers the eight-word context. Test top-1: 17.67%.</a:t>
            </a:r>
          </a:p>
        </p:txBody>
      </p:sp>
    </p:spTree>
    <p:extLst>
      <p:ext uri="{BB962C8B-B14F-4D97-AF65-F5344CB8AC3E}">
        <p14:creationId xmlns:p14="http://schemas.microsoft.com/office/powerpoint/2010/main" val="668053726"/>
      </p:ext>
    </p:extLst>
  </p:cSld>
</p:sld>
</file>

<file path=ppt/slides/slide8.xml><?xml version="1.0" encoding="utf-8"?>
<p:sld xmlns:p="http://schemas.openxmlformats.org/presentationml/2006/main">
  <p:cSld>
    <p:bg>
      <p:bgPr>
        <a:solidFill xmlns:a="http://schemas.openxmlformats.org/drawingml/2006/main">
          <a:srgbClr val="DAD7C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FDC97FB-B0D7-49D5-A310-5A35FA6D1E71}"/>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A3B18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9D2C2D-1300-4F4F-9A15-3BEDFF24B383}"/>
              </a:ext>
            </a:extLst>
          </p:cNvPr>
          <p:cNvSpPr>
            <a:spLocks xmlns:a="http://schemas.openxmlformats.org/drawingml/2006/main" noGrp="1"/>
          </p:cNvSpPr>
          <p:nvPr/>
        </p:nvSpPr>
        <p:spPr>
          <a:xfrm xmlns:a="http://schemas.openxmlformats.org/drawingml/2006/main">
            <a:off x="552450" y="419100"/>
            <a:ext cx="11087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0">
                <a:solidFill>
                  <a:srgbClr val="344E41"/>
                </a:solidFill>
                <a:latin typeface="Georgia"/>
                <a:ea typeface="Georgia"/>
                <a:cs typeface="Georgia"/>
              </a:defRPr>
            </a:defPPr>
          </a:lstStyle>
          <a:p xmlns:a="http://schemas.openxmlformats.org/drawingml/2006/main">
            <a:pPr>
              <a:defRPr sz="3000" b="0">
                <a:solidFill>
                  <a:srgbClr val="344E41"/>
                </a:solidFill>
                <a:latin typeface="Georgia"/>
                <a:ea typeface="Georgia"/>
                <a:cs typeface="Georgia"/>
              </a:defRPr>
            </a:pPr>
            <a:r>
              <a:rPr sz="3000" b="0">
                <a:solidFill>
                  <a:srgbClr val="344E41"/>
                </a:solidFill>
                <a:latin typeface="Georgia"/>
                <a:ea typeface="Georgia"/>
                <a:cs typeface="Georgia"/>
              </a:rPr>
              <a:t>GATED WORD–CHARACTER CNN</a:t>
            </a:r>
          </a:p>
        </p:txBody>
      </p:sp>
      <p:sp>
        <p:nvSpPr>
          <p:cNvPr id="3" name="">
            <a:extLst xmlns:a="http://schemas.openxmlformats.org/drawingml/2006/main">
              <a:ext uri="{FF2B5EF4-FFF2-40B4-BE49-F238E27FC236}">
                <a16:creationId xmlns:a16="http://schemas.microsoft.com/office/drawing/2014/main" id="{5AC60037-6123-4E09-9014-9563F2C4D267}"/>
              </a:ext>
            </a:extLst>
          </p:cNvPr>
          <p:cNvSpPr>
            <a:spLocks xmlns:a="http://schemas.openxmlformats.org/drawingml/2006/main" noGrp="1"/>
          </p:cNvSpPr>
          <p:nvPr/>
        </p:nvSpPr>
        <p:spPr>
          <a:xfrm xmlns:a="http://schemas.openxmlformats.org/drawingml/2006/main">
            <a:off x="571500" y="12382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456052"/>
                </a:solidFill>
                <a:latin typeface="Arial"/>
                <a:ea typeface="Arial"/>
                <a:cs typeface="Arial"/>
              </a:defRPr>
            </a:defPPr>
          </a:lstStyle>
          <a:p xmlns:a="http://schemas.openxmlformats.org/drawingml/2006/main">
            <a:pPr>
              <a:defRPr sz="1725" b="0">
                <a:solidFill>
                  <a:srgbClr val="456052"/>
                </a:solidFill>
                <a:latin typeface="Arial"/>
                <a:ea typeface="Arial"/>
                <a:cs typeface="Arial"/>
              </a:defRPr>
            </a:pPr>
            <a:r>
              <a:rPr sz="1725" b="0">
                <a:solidFill>
                  <a:srgbClr val="456052"/>
                </a:solidFill>
                <a:latin typeface="Arial"/>
                <a:ea typeface="Arial"/>
                <a:cs typeface="Arial"/>
              </a:rPr>
              <a:t>Learned fusion of whole-word and spelling representations</a:t>
            </a:r>
          </a:p>
        </p:txBody>
      </p:sp>
      <p:sp>
        <p:nvSpPr>
          <p:cNvPr id="4" name="">
            <a:extLst xmlns:a="http://schemas.openxmlformats.org/drawingml/2006/main">
              <a:ext uri="{FF2B5EF4-FFF2-40B4-BE49-F238E27FC236}">
                <a16:creationId xmlns:a16="http://schemas.microsoft.com/office/drawing/2014/main" id="{9F64AC39-98F9-40AD-8EDD-0D6026279CE1}"/>
              </a:ext>
            </a:extLst>
          </p:cNvPr>
          <p:cNvSpPr>
            <a:spLocks xmlns:a="http://schemas.openxmlformats.org/drawingml/2006/main" noGrp="1"/>
          </p:cNvSpPr>
          <p:nvPr/>
        </p:nvSpPr>
        <p:spPr>
          <a:xfrm xmlns:a="http://schemas.openxmlformats.org/drawingml/2006/main">
            <a:off x="571500" y="6391275"/>
            <a:ext cx="857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56052"/>
                </a:solidFill>
                <a:latin typeface="Arial"/>
                <a:ea typeface="Arial"/>
                <a:cs typeface="Arial"/>
              </a:defRPr>
            </a:defPPr>
          </a:lstStyle>
          <a:p xmlns:a="http://schemas.openxmlformats.org/drawingml/2006/main">
            <a:pPr>
              <a:defRPr sz="1200" b="0">
                <a:solidFill>
                  <a:srgbClr val="456052"/>
                </a:solidFill>
                <a:latin typeface="Arial"/>
                <a:ea typeface="Arial"/>
                <a:cs typeface="Arial"/>
              </a:defRPr>
            </a:pPr>
            <a:r>
              <a:rPr sz="1200" b="0">
                <a:solidFill>
                  <a:srgbClr val="456052"/>
                </a:solidFill>
                <a:latin typeface="Arial"/>
                <a:ea typeface="Arial"/>
                <a:cs typeface="Arial"/>
              </a:rPr>
              <a:t>UROP  /  TELUGU PHASE</a:t>
            </a:r>
          </a:p>
        </p:txBody>
      </p:sp>
      <p:sp>
        <p:nvSpPr>
          <p:cNvPr id="5" name="">
            <a:extLst xmlns:a="http://schemas.openxmlformats.org/drawingml/2006/main">
              <a:ext uri="{FF2B5EF4-FFF2-40B4-BE49-F238E27FC236}">
                <a16:creationId xmlns:a16="http://schemas.microsoft.com/office/drawing/2014/main" id="{2CB6BB5C-47C9-4DA8-9C8B-1633F6270C38}"/>
              </a:ext>
            </a:extLst>
          </p:cNvPr>
          <p:cNvSpPr>
            <a:spLocks xmlns:a="http://schemas.openxmlformats.org/drawingml/2006/main" noGrp="1"/>
          </p:cNvSpPr>
          <p:nvPr/>
        </p:nvSpPr>
        <p:spPr>
          <a:xfrm xmlns:a="http://schemas.openxmlformats.org/drawingml/2006/main">
            <a:off x="11049000" y="6334125"/>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344E41"/>
                </a:solidFill>
                <a:latin typeface="Arial"/>
                <a:ea typeface="Arial"/>
                <a:cs typeface="Arial"/>
              </a:defRPr>
            </a:defPPr>
          </a:lstStyle>
          <a:p xmlns:a="http://schemas.openxmlformats.org/drawingml/2006/main">
            <a:pPr>
              <a:defRPr sz="1500" b="0">
                <a:solidFill>
                  <a:srgbClr val="344E41"/>
                </a:solidFill>
                <a:latin typeface="Arial"/>
                <a:ea typeface="Arial"/>
                <a:cs typeface="Arial"/>
              </a:defRPr>
            </a:pPr>
            <a:r>
              <a:rPr sz="1500" b="0">
                <a:solidFill>
                  <a:srgbClr val="344E41"/>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52CBF966-E320-4272-BE19-B02AEAFC37C8}"/>
              </a:ext>
            </a:extLst>
          </p:cNvPr>
          <p:cNvSpPr>
            <a:spLocks xmlns:a="http://schemas.openxmlformats.org/drawingml/2006/main" noGrp="1"/>
          </p:cNvSpPr>
          <p:nvPr/>
        </p:nvSpPr>
        <p:spPr>
          <a:xfrm xmlns:a="http://schemas.openxmlformats.org/drawingml/2006/main">
            <a:off x="571500" y="2095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7" name="">
            <a:extLst xmlns:a="http://schemas.openxmlformats.org/drawingml/2006/main">
              <a:ext uri="{FF2B5EF4-FFF2-40B4-BE49-F238E27FC236}">
                <a16:creationId xmlns:a16="http://schemas.microsoft.com/office/drawing/2014/main" id="{076136D1-734A-4996-B842-9B0177625972}"/>
              </a:ext>
            </a:extLst>
          </p:cNvPr>
          <p:cNvSpPr>
            <a:spLocks xmlns:a="http://schemas.openxmlformats.org/drawingml/2006/main" noGrp="1"/>
          </p:cNvSpPr>
          <p:nvPr/>
        </p:nvSpPr>
        <p:spPr>
          <a:xfrm xmlns:a="http://schemas.openxmlformats.org/drawingml/2006/main">
            <a:off x="647700" y="2266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Word embedding</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 dimensions</a:t>
            </a:r>
          </a:p>
        </p:txBody>
      </p:sp>
      <p:sp>
        <p:nvSpPr>
          <p:cNvPr id="8" name="">
            <a:extLst xmlns:a="http://schemas.openxmlformats.org/drawingml/2006/main">
              <a:ext uri="{FF2B5EF4-FFF2-40B4-BE49-F238E27FC236}">
                <a16:creationId xmlns:a16="http://schemas.microsoft.com/office/drawing/2014/main" id="{20515C7C-CDB9-4390-B93B-971DA0C0EE28}"/>
              </a:ext>
            </a:extLst>
          </p:cNvPr>
          <p:cNvSpPr>
            <a:spLocks xmlns:a="http://schemas.openxmlformats.org/drawingml/2006/main" noGrp="1"/>
          </p:cNvSpPr>
          <p:nvPr/>
        </p:nvSpPr>
        <p:spPr>
          <a:xfrm xmlns:a="http://schemas.openxmlformats.org/drawingml/2006/main">
            <a:off x="571500" y="3619500"/>
            <a:ext cx="2381250" cy="85725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9" name="">
            <a:extLst xmlns:a="http://schemas.openxmlformats.org/drawingml/2006/main">
              <a:ext uri="{FF2B5EF4-FFF2-40B4-BE49-F238E27FC236}">
                <a16:creationId xmlns:a16="http://schemas.microsoft.com/office/drawing/2014/main" id="{249FDB3E-D3AA-4A64-B1CC-F219581DE117}"/>
              </a:ext>
            </a:extLst>
          </p:cNvPr>
          <p:cNvSpPr>
            <a:spLocks xmlns:a="http://schemas.openxmlformats.org/drawingml/2006/main" noGrp="1"/>
          </p:cNvSpPr>
          <p:nvPr/>
        </p:nvSpPr>
        <p:spPr>
          <a:xfrm xmlns:a="http://schemas.openxmlformats.org/drawingml/2006/main">
            <a:off x="647700" y="3790950"/>
            <a:ext cx="2228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Character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64-d features</a:t>
            </a:r>
          </a:p>
        </p:txBody>
      </p:sp>
      <p:sp>
        <p:nvSpPr>
          <p:cNvPr id="10" name="">
            <a:extLst xmlns:a="http://schemas.openxmlformats.org/drawingml/2006/main">
              <a:ext uri="{FF2B5EF4-FFF2-40B4-BE49-F238E27FC236}">
                <a16:creationId xmlns:a16="http://schemas.microsoft.com/office/drawing/2014/main" id="{FC138F39-95A6-4A15-8CB4-85C6224D59CC}"/>
              </a:ext>
            </a:extLst>
          </p:cNvPr>
          <p:cNvSpPr>
            <a:spLocks xmlns:a="http://schemas.openxmlformats.org/drawingml/2006/main" noGrp="1"/>
          </p:cNvSpPr>
          <p:nvPr/>
        </p:nvSpPr>
        <p:spPr>
          <a:xfrm xmlns:a="http://schemas.openxmlformats.org/drawingml/2006/main">
            <a:off x="3048000" y="2286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1" name="">
            <a:extLst xmlns:a="http://schemas.openxmlformats.org/drawingml/2006/main">
              <a:ext uri="{FF2B5EF4-FFF2-40B4-BE49-F238E27FC236}">
                <a16:creationId xmlns:a16="http://schemas.microsoft.com/office/drawing/2014/main" id="{25A7EB98-469A-4957-BE10-E2AAE5FABDC9}"/>
              </a:ext>
            </a:extLst>
          </p:cNvPr>
          <p:cNvSpPr>
            <a:spLocks xmlns:a="http://schemas.openxmlformats.org/drawingml/2006/main" noGrp="1"/>
          </p:cNvSpPr>
          <p:nvPr/>
        </p:nvSpPr>
        <p:spPr>
          <a:xfrm xmlns:a="http://schemas.openxmlformats.org/drawingml/2006/main">
            <a:off x="3048000" y="3810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2" name="">
            <a:extLst xmlns:a="http://schemas.openxmlformats.org/drawingml/2006/main">
              <a:ext uri="{FF2B5EF4-FFF2-40B4-BE49-F238E27FC236}">
                <a16:creationId xmlns:a16="http://schemas.microsoft.com/office/drawing/2014/main" id="{58B9795C-2381-494A-B994-940C2C3D8DAF}"/>
              </a:ext>
            </a:extLst>
          </p:cNvPr>
          <p:cNvSpPr>
            <a:spLocks xmlns:a="http://schemas.openxmlformats.org/drawingml/2006/main" noGrp="1"/>
          </p:cNvSpPr>
          <p:nvPr/>
        </p:nvSpPr>
        <p:spPr>
          <a:xfrm xmlns:a="http://schemas.openxmlformats.org/drawingml/2006/main">
            <a:off x="3714750" y="2857500"/>
            <a:ext cx="2286000" cy="952500"/>
          </a:xfrm>
          <a:prstGeom xmlns:a="http://schemas.openxmlformats.org/drawingml/2006/main" prst="rect">
            <a:avLst/>
          </a:prstGeom>
          <a:solidFill xmlns:a="http://schemas.openxmlformats.org/drawingml/2006/main">
            <a:srgbClr val="344E41"/>
          </a:solidFill>
          <a:ln xmlns:a="http://schemas.openxmlformats.org/drawingml/2006/main" w="19050">
            <a:solidFill>
              <a:srgbClr val="A3B18A"/>
            </a:solidFill>
          </a:ln>
        </p:spPr>
      </p:sp>
      <p:sp>
        <p:nvSpPr>
          <p:cNvPr id="13" name="">
            <a:extLst xmlns:a="http://schemas.openxmlformats.org/drawingml/2006/main">
              <a:ext uri="{FF2B5EF4-FFF2-40B4-BE49-F238E27FC236}">
                <a16:creationId xmlns:a16="http://schemas.microsoft.com/office/drawing/2014/main" id="{60D9EAE8-88F9-499B-9F44-FA6EAEE09869}"/>
              </a:ext>
            </a:extLst>
          </p:cNvPr>
          <p:cNvSpPr>
            <a:spLocks xmlns:a="http://schemas.openxmlformats.org/drawingml/2006/main" noGrp="1"/>
          </p:cNvSpPr>
          <p:nvPr/>
        </p:nvSpPr>
        <p:spPr>
          <a:xfrm xmlns:a="http://schemas.openxmlformats.org/drawingml/2006/main">
            <a:off x="3790950" y="3028950"/>
            <a:ext cx="2133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FFFFFF"/>
                </a:solidFill>
                <a:latin typeface="Arial"/>
                <a:ea typeface="Arial"/>
                <a:cs typeface="Arial"/>
              </a:defRPr>
            </a:defPPr>
          </a:lstStyle>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Learned gate</a:t>
            </a:r>
          </a:p>
          <a:p xmlns:a="http://schemas.openxmlformats.org/drawingml/2006/main">
            <a:pPr algn="ctr">
              <a:defRPr sz="1800" b="0">
                <a:solidFill>
                  <a:srgbClr val="FFFFFF"/>
                </a:solidFill>
                <a:latin typeface="Arial"/>
                <a:ea typeface="Arial"/>
                <a:cs typeface="Arial"/>
              </a:defRPr>
            </a:pPr>
            <a:r>
              <a:rPr sz="1800" b="0">
                <a:solidFill>
                  <a:srgbClr val="FFFFFF"/>
                </a:solidFill>
                <a:latin typeface="Arial"/>
                <a:ea typeface="Arial"/>
                <a:cs typeface="Arial"/>
              </a:rPr>
              <a:t>Word + character</a:t>
            </a:r>
          </a:p>
        </p:txBody>
      </p:sp>
      <p:sp>
        <p:nvSpPr>
          <p:cNvPr id="14" name="">
            <a:extLst xmlns:a="http://schemas.openxmlformats.org/drawingml/2006/main">
              <a:ext uri="{FF2B5EF4-FFF2-40B4-BE49-F238E27FC236}">
                <a16:creationId xmlns:a16="http://schemas.microsoft.com/office/drawing/2014/main" id="{5E6A24EA-E528-4D48-9A2C-88C99DDF04B8}"/>
              </a:ext>
            </a:extLst>
          </p:cNvPr>
          <p:cNvSpPr>
            <a:spLocks xmlns:a="http://schemas.openxmlformats.org/drawingml/2006/main" noGrp="1"/>
          </p:cNvSpPr>
          <p:nvPr/>
        </p:nvSpPr>
        <p:spPr>
          <a:xfrm xmlns:a="http://schemas.openxmlformats.org/drawingml/2006/main">
            <a:off x="6096000"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5" name="">
            <a:extLst xmlns:a="http://schemas.openxmlformats.org/drawingml/2006/main">
              <a:ext uri="{FF2B5EF4-FFF2-40B4-BE49-F238E27FC236}">
                <a16:creationId xmlns:a16="http://schemas.microsoft.com/office/drawing/2014/main" id="{CAB2C93F-A52A-4CD1-B84C-5D14A37CBB5F}"/>
              </a:ext>
            </a:extLst>
          </p:cNvPr>
          <p:cNvSpPr>
            <a:spLocks xmlns:a="http://schemas.openxmlformats.org/drawingml/2006/main" noGrp="1"/>
          </p:cNvSpPr>
          <p:nvPr/>
        </p:nvSpPr>
        <p:spPr>
          <a:xfrm xmlns:a="http://schemas.openxmlformats.org/drawingml/2006/main">
            <a:off x="6762750" y="2857500"/>
            <a:ext cx="20002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6" name="">
            <a:extLst xmlns:a="http://schemas.openxmlformats.org/drawingml/2006/main">
              <a:ext uri="{FF2B5EF4-FFF2-40B4-BE49-F238E27FC236}">
                <a16:creationId xmlns:a16="http://schemas.microsoft.com/office/drawing/2014/main" id="{89523609-6B27-4117-930A-87EE314CB6B0}"/>
              </a:ext>
            </a:extLst>
          </p:cNvPr>
          <p:cNvSpPr>
            <a:spLocks xmlns:a="http://schemas.openxmlformats.org/drawingml/2006/main" noGrp="1"/>
          </p:cNvSpPr>
          <p:nvPr/>
        </p:nvSpPr>
        <p:spPr>
          <a:xfrm xmlns:a="http://schemas.openxmlformats.org/drawingml/2006/main">
            <a:off x="6838950" y="3028950"/>
            <a:ext cx="18478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Causal CNN</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3 blocks</a:t>
            </a:r>
          </a:p>
        </p:txBody>
      </p:sp>
      <p:sp>
        <p:nvSpPr>
          <p:cNvPr id="17" name="">
            <a:extLst xmlns:a="http://schemas.openxmlformats.org/drawingml/2006/main">
              <a:ext uri="{FF2B5EF4-FFF2-40B4-BE49-F238E27FC236}">
                <a16:creationId xmlns:a16="http://schemas.microsoft.com/office/drawing/2014/main" id="{36132F2A-DFD2-4E22-862C-A4215C09F4D7}"/>
              </a:ext>
            </a:extLst>
          </p:cNvPr>
          <p:cNvSpPr>
            <a:spLocks xmlns:a="http://schemas.openxmlformats.org/drawingml/2006/main" noGrp="1"/>
          </p:cNvSpPr>
          <p:nvPr/>
        </p:nvSpPr>
        <p:spPr>
          <a:xfrm xmlns:a="http://schemas.openxmlformats.org/drawingml/2006/main">
            <a:off x="8810625" y="3048000"/>
            <a:ext cx="40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344E41"/>
                </a:solidFill>
                <a:latin typeface="Cambria"/>
                <a:ea typeface="Cambria"/>
                <a:cs typeface="Cambria"/>
              </a:defRPr>
            </a:defPPr>
          </a:lstStyle>
          <a:p xmlns:a="http://schemas.openxmlformats.org/drawingml/2006/main">
            <a:pPr>
              <a:defRPr sz="2400" b="0">
                <a:solidFill>
                  <a:srgbClr val="344E41"/>
                </a:solidFill>
                <a:latin typeface="Cambria"/>
                <a:ea typeface="Cambria"/>
                <a:cs typeface="Cambria"/>
              </a:defRPr>
            </a:pPr>
            <a:r>
              <a:rPr sz="2400" b="0">
                <a:solidFill>
                  <a:srgbClr val="344E41"/>
                </a:solidFill>
                <a:latin typeface="Cambria"/>
                <a:ea typeface="Cambria"/>
                <a:cs typeface="Cambria"/>
              </a:rPr>
              <a:t>→</a:t>
            </a:r>
          </a:p>
        </p:txBody>
      </p:sp>
      <p:sp>
        <p:nvSpPr>
          <p:cNvPr id="18" name="">
            <a:extLst xmlns:a="http://schemas.openxmlformats.org/drawingml/2006/main">
              <a:ext uri="{FF2B5EF4-FFF2-40B4-BE49-F238E27FC236}">
                <a16:creationId xmlns:a16="http://schemas.microsoft.com/office/drawing/2014/main" id="{67041350-7CF1-4F6F-832C-8A4174E38637}"/>
              </a:ext>
            </a:extLst>
          </p:cNvPr>
          <p:cNvSpPr>
            <a:spLocks xmlns:a="http://schemas.openxmlformats.org/drawingml/2006/main" noGrp="1"/>
          </p:cNvSpPr>
          <p:nvPr/>
        </p:nvSpPr>
        <p:spPr>
          <a:xfrm xmlns:a="http://schemas.openxmlformats.org/drawingml/2006/main">
            <a:off x="9334500" y="2857500"/>
            <a:ext cx="2190750" cy="952500"/>
          </a:xfrm>
          <a:prstGeom xmlns:a="http://schemas.openxmlformats.org/drawingml/2006/main" prst="rect">
            <a:avLst/>
          </a:prstGeom>
          <a:solidFill xmlns:a="http://schemas.openxmlformats.org/drawingml/2006/main">
            <a:srgbClr val="E7E5DD"/>
          </a:solidFill>
          <a:ln xmlns:a="http://schemas.openxmlformats.org/drawingml/2006/main" w="19050">
            <a:solidFill>
              <a:srgbClr val="A3B18A"/>
            </a:solidFill>
          </a:ln>
        </p:spPr>
      </p:sp>
      <p:sp>
        <p:nvSpPr>
          <p:cNvPr id="19" name="">
            <a:extLst xmlns:a="http://schemas.openxmlformats.org/drawingml/2006/main">
              <a:ext uri="{FF2B5EF4-FFF2-40B4-BE49-F238E27FC236}">
                <a16:creationId xmlns:a16="http://schemas.microsoft.com/office/drawing/2014/main" id="{DC53EDF1-8F38-48FD-B383-029797E21B51}"/>
              </a:ext>
            </a:extLst>
          </p:cNvPr>
          <p:cNvSpPr>
            <a:spLocks xmlns:a="http://schemas.openxmlformats.org/drawingml/2006/main" noGrp="1"/>
          </p:cNvSpPr>
          <p:nvPr/>
        </p:nvSpPr>
        <p:spPr>
          <a:xfrm xmlns:a="http://schemas.openxmlformats.org/drawingml/2006/main">
            <a:off x="9410700" y="3028950"/>
            <a:ext cx="2038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ctr">
              <a:defRPr sz="1800" b="0">
                <a:solidFill>
                  <a:srgbClr val="344E41"/>
                </a:solidFill>
                <a:latin typeface="Arial"/>
                <a:ea typeface="Arial"/>
                <a:cs typeface="Arial"/>
              </a:defRPr>
            </a:defPPr>
          </a:lstStyle>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Dense + softmax</a:t>
            </a:r>
          </a:p>
          <a:p xmlns:a="http://schemas.openxmlformats.org/drawingml/2006/main">
            <a:pPr algn="ctr">
              <a:defRPr sz="1800" b="0">
                <a:solidFill>
                  <a:srgbClr val="344E41"/>
                </a:solidFill>
                <a:latin typeface="Arial"/>
                <a:ea typeface="Arial"/>
                <a:cs typeface="Arial"/>
              </a:defRPr>
            </a:pPr>
            <a:r>
              <a:rPr sz="1800" b="0">
                <a:solidFill>
                  <a:srgbClr val="344E41"/>
                </a:solidFill>
                <a:latin typeface="Arial"/>
                <a:ea typeface="Arial"/>
                <a:cs typeface="Arial"/>
              </a:rPr>
              <a:t>Next word</a:t>
            </a:r>
          </a:p>
        </p:txBody>
      </p:sp>
      <p:sp>
        <p:nvSpPr>
          <p:cNvPr id="20" name="">
            <a:extLst xmlns:a="http://schemas.openxmlformats.org/drawingml/2006/main">
              <a:ext uri="{FF2B5EF4-FFF2-40B4-BE49-F238E27FC236}">
                <a16:creationId xmlns:a16="http://schemas.microsoft.com/office/drawing/2014/main" id="{3E7C8D07-52C6-4A8C-8267-CC4D207E0D5E}"/>
              </a:ext>
            </a:extLst>
          </p:cNvPr>
          <p:cNvSpPr>
            <a:spLocks xmlns:a="http://schemas.openxmlformats.org/drawingml/2006/main" noGrp="1"/>
          </p:cNvSpPr>
          <p:nvPr/>
        </p:nvSpPr>
        <p:spPr>
          <a:xfrm xmlns:a="http://schemas.openxmlformats.org/drawingml/2006/main">
            <a:off x="619125" y="4762500"/>
            <a:ext cx="504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344E41"/>
                </a:solidFill>
                <a:latin typeface="Cambria"/>
                <a:ea typeface="Cambria"/>
                <a:cs typeface="Cambria"/>
              </a:defRPr>
            </a:defPPr>
          </a:lstStyle>
          <a:p xmlns:a="http://schemas.openxmlformats.org/drawingml/2006/main">
            <a:pPr>
              <a:defRPr sz="2325" b="0">
                <a:solidFill>
                  <a:srgbClr val="344E41"/>
                </a:solidFill>
                <a:latin typeface="Cambria"/>
                <a:ea typeface="Cambria"/>
                <a:cs typeface="Cambria"/>
              </a:defRPr>
            </a:pPr>
            <a:r>
              <a:rPr sz="2325" b="0">
                <a:solidFill>
                  <a:srgbClr val="344E41"/>
                </a:solidFill>
                <a:latin typeface="Cambria"/>
                <a:ea typeface="Cambria"/>
                <a:cs typeface="Cambria"/>
              </a:rPr>
              <a:t>g = σ(Wg [e ; c] + bg)</a:t>
            </a:r>
          </a:p>
        </p:txBody>
      </p:sp>
      <p:sp>
        <p:nvSpPr>
          <p:cNvPr id="21" name="">
            <a:extLst xmlns:a="http://schemas.openxmlformats.org/drawingml/2006/main">
              <a:ext uri="{FF2B5EF4-FFF2-40B4-BE49-F238E27FC236}">
                <a16:creationId xmlns:a16="http://schemas.microsoft.com/office/drawing/2014/main" id="{BAC3C647-E220-4941-B127-05D5F29930B3}"/>
              </a:ext>
            </a:extLst>
          </p:cNvPr>
          <p:cNvSpPr>
            <a:spLocks xmlns:a="http://schemas.openxmlformats.org/drawingml/2006/main" noGrp="1"/>
          </p:cNvSpPr>
          <p:nvPr/>
        </p:nvSpPr>
        <p:spPr>
          <a:xfrm xmlns:a="http://schemas.openxmlformats.org/drawingml/2006/main">
            <a:off x="5905500" y="476250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E41"/>
                </a:solidFill>
                <a:latin typeface="Cambria"/>
                <a:ea typeface="Cambria"/>
                <a:cs typeface="Cambria"/>
              </a:defRPr>
            </a:defPPr>
          </a:lstStyle>
          <a:p xmlns:a="http://schemas.openxmlformats.org/drawingml/2006/main">
            <a:pPr>
              <a:defRPr sz="2250" b="0">
                <a:solidFill>
                  <a:srgbClr val="344E41"/>
                </a:solidFill>
                <a:latin typeface="Cambria"/>
                <a:ea typeface="Cambria"/>
                <a:cs typeface="Cambria"/>
              </a:defRPr>
            </a:pPr>
            <a:r>
              <a:rPr sz="2250" b="0">
                <a:solidFill>
                  <a:srgbClr val="344E41"/>
                </a:solidFill>
                <a:latin typeface="Cambria"/>
                <a:ea typeface="Cambria"/>
                <a:cs typeface="Cambria"/>
              </a:rPr>
              <a:t>fused = g ⊙ e + (1 − g) ⊙ c</a:t>
            </a:r>
          </a:p>
        </p:txBody>
      </p:sp>
      <p:sp>
        <p:nvSpPr>
          <p:cNvPr id="22" name="">
            <a:extLst xmlns:a="http://schemas.openxmlformats.org/drawingml/2006/main">
              <a:ext uri="{FF2B5EF4-FFF2-40B4-BE49-F238E27FC236}">
                <a16:creationId xmlns:a16="http://schemas.microsoft.com/office/drawing/2014/main" id="{98067D1A-C965-442D-B30D-C422CCF14348}"/>
              </a:ext>
            </a:extLst>
          </p:cNvPr>
          <p:cNvSpPr>
            <a:spLocks xmlns:a="http://schemas.openxmlformats.org/drawingml/2006/main" noGrp="1"/>
          </p:cNvSpPr>
          <p:nvPr/>
        </p:nvSpPr>
        <p:spPr>
          <a:xfrm xmlns:a="http://schemas.openxmlformats.org/drawingml/2006/main">
            <a:off x="61912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456052"/>
                </a:solidFill>
                <a:latin typeface="Arial"/>
                <a:ea typeface="Arial"/>
                <a:cs typeface="Arial"/>
              </a:defRPr>
            </a:defPPr>
          </a:lstStyle>
          <a:p xmlns:a="http://schemas.openxmlformats.org/drawingml/2006/main">
            <a:pPr>
              <a:defRPr sz="1875" b="0">
                <a:solidFill>
                  <a:srgbClr val="456052"/>
                </a:solidFill>
                <a:latin typeface="Arial"/>
                <a:ea typeface="Arial"/>
                <a:cs typeface="Arial"/>
              </a:defRPr>
            </a:pPr>
            <a:r>
              <a:rPr sz="1875" b="0">
                <a:solidFill>
                  <a:srgbClr val="456052"/>
                </a:solidFill>
                <a:latin typeface="Arial"/>
                <a:ea typeface="Arial"/>
                <a:cs typeface="Arial"/>
              </a:rPr>
              <a:t>Test top-1: 18.55%. Output vocabulary stays fixed at 20,000 tokens.</a:t>
            </a:r>
          </a:p>
        </p:txBody>
      </p:sp>
    </p:spTree>
    <p:extLst>
      <p:ext uri="{BB962C8B-B14F-4D97-AF65-F5344CB8AC3E}">
        <p14:creationId xmlns:p14="http://schemas.microsoft.com/office/powerpoint/2010/main" val="1720758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2026-10-14T09:22:06.9770000Z</dcterms:created>
  <dcterms:modified xsi:type="dcterms:W3CDTF">2026-10-14T09:22:06.9770000Z</dcterms:modified>
</coreProperties>
</file>