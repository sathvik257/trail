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6dbe64274546e6" /><Relationship Type="http://schemas.openxmlformats.org/officeDocument/2006/relationships/extended-properties" Target="/docProps/app.xml" Id="R7a06f58c3d554b87" /><Relationship Type="http://schemas.openxmlformats.org/officeDocument/2006/relationships/officeDocument" Target="/ppt/presentation.xml" Id="Rb3283e5926834fe9" /></Relationships>
</file>

<file path=ppt/presentation.xml><?xml version="1.0" encoding="utf-8"?>
<p:presentation xmlns:p="http://schemas.openxmlformats.org/presentationml/2006/main">
  <p:sldMasterIdLst>
    <p:sldMasterId xmlns:r="http://schemas.openxmlformats.org/officeDocument/2006/relationships" id="2147483648" r:id="R86b720db03824fc6"/>
  </p:sldMasterIdLst>
  <p:notesMasterIdLst>
    <p:notesMasterId xmlns:r="http://schemas.openxmlformats.org/officeDocument/2006/relationships" r:id="R785ceb94006a42a4"/>
  </p:notesMasterIdLst>
  <p:sldIdLst>
    <p:sldId xmlns:r="http://schemas.openxmlformats.org/officeDocument/2006/relationships" id="256" r:id="Re004ddbb0d544e8b"/>
    <p:sldId xmlns:r="http://schemas.openxmlformats.org/officeDocument/2006/relationships" id="257" r:id="R4018aef239944c23"/>
    <p:sldId xmlns:r="http://schemas.openxmlformats.org/officeDocument/2006/relationships" id="258" r:id="R562a4256b9fa4516"/>
    <p:sldId xmlns:r="http://schemas.openxmlformats.org/officeDocument/2006/relationships" id="259" r:id="Rdba10dee1dd949ba"/>
    <p:sldId xmlns:r="http://schemas.openxmlformats.org/officeDocument/2006/relationships" id="260" r:id="R307328d3e89148c0"/>
    <p:sldId xmlns:r="http://schemas.openxmlformats.org/officeDocument/2006/relationships" id="261" r:id="Rc2e40d80d3b94b39"/>
    <p:sldId xmlns:r="http://schemas.openxmlformats.org/officeDocument/2006/relationships" id="262" r:id="Rb46c1907a2904431"/>
    <p:sldId xmlns:r="http://schemas.openxmlformats.org/officeDocument/2006/relationships" id="263" r:id="Rac1ddb6de5274c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31ce3fc8024e5e" /><Relationship Type="http://schemas.openxmlformats.org/officeDocument/2006/relationships/slideMaster" Target="/ppt/slideMasters/slideMaster1.xml" Id="R86b720db03824fc6" /><Relationship Type="http://schemas.openxmlformats.org/officeDocument/2006/relationships/notesMaster" Target="/ppt/notesMasters/notesMaster1.xml" Id="R785ceb94006a42a4" /><Relationship Type="http://schemas.openxmlformats.org/officeDocument/2006/relationships/presProps" Target="/ppt/presProps.xml" Id="R32f6d84294f84bc5" /><Relationship Type="http://schemas.openxmlformats.org/officeDocument/2006/relationships/tableStyles" Target="/ppt/tableStyles.xml" Id="Rf49da8d0ecca417c" /><Relationship Type="http://schemas.openxmlformats.org/officeDocument/2006/relationships/slide" Target="/ppt/slides/slide1.xml" Id="Re004ddbb0d544e8b" /><Relationship Type="http://schemas.openxmlformats.org/officeDocument/2006/relationships/slide" Target="/ppt/slides/slide2.xml" Id="R4018aef239944c23" /><Relationship Type="http://schemas.openxmlformats.org/officeDocument/2006/relationships/slide" Target="/ppt/slides/slide3.xml" Id="R562a4256b9fa4516" /><Relationship Type="http://schemas.openxmlformats.org/officeDocument/2006/relationships/slide" Target="/ppt/slides/slide4.xml" Id="Rdba10dee1dd949ba" /><Relationship Type="http://schemas.openxmlformats.org/officeDocument/2006/relationships/slide" Target="/ppt/slides/slide5.xml" Id="R307328d3e89148c0" /><Relationship Type="http://schemas.openxmlformats.org/officeDocument/2006/relationships/slide" Target="/ppt/slides/slide6.xml" Id="Rc2e40d80d3b94b39" /><Relationship Type="http://schemas.openxmlformats.org/officeDocument/2006/relationships/slide" Target="/ppt/slides/slide7.xml" Id="Rb46c1907a2904431" /><Relationship Type="http://schemas.openxmlformats.org/officeDocument/2006/relationships/slide" Target="/ppt/slides/slide8.xml" Id="Rac1ddb6de5274c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4547c6cc6448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dda8bcac474bbc" /><Relationship Type="http://schemas.openxmlformats.org/officeDocument/2006/relationships/notesMaster" Target="/ppt/notesMasters/notesMaster1.xml" Id="R7ecaf73c08964c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e49f3d643944d3" /><Relationship Type="http://schemas.openxmlformats.org/officeDocument/2006/relationships/notesMaster" Target="/ppt/notesMasters/notesMaster1.xml" Id="R91f3f94e42aa43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d7a3b4a2c54a56" /><Relationship Type="http://schemas.openxmlformats.org/officeDocument/2006/relationships/notesMaster" Target="/ppt/notesMasters/notesMaster1.xml" Id="Redd8d8afb9b14e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fc8fe74cce436e" /><Relationship Type="http://schemas.openxmlformats.org/officeDocument/2006/relationships/notesMaster" Target="/ppt/notesMasters/notesMaster1.xml" Id="R699470de1aaf45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b22e9526034115" /><Relationship Type="http://schemas.openxmlformats.org/officeDocument/2006/relationships/notesMaster" Target="/ppt/notesMasters/notesMaster1.xml" Id="Ra7848545127a4e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1164811d02420f" /><Relationship Type="http://schemas.openxmlformats.org/officeDocument/2006/relationships/notesMaster" Target="/ppt/notesMasters/notesMaster1.xml" Id="R50fb0b255b5643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178a0b6821422f" /><Relationship Type="http://schemas.openxmlformats.org/officeDocument/2006/relationships/notesMaster" Target="/ppt/notesMasters/notesMaster1.xml" Id="Rfa6412fa4a1f4d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67a7b2f34b4bf1" /><Relationship Type="http://schemas.openxmlformats.org/officeDocument/2006/relationships/notesMaster" Target="/ppt/notesMasters/notesMaster1.xml" Id="R4bc612eb705b4e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predicts the next word from a short text prefix. The overall scope is multilingual, with Telugu as the current implementation. LSTM and Bi-LSTM have completed five epochs. The two CNN experiments remain in progress.</a:t>
            </a:r>
          </a:p>
          <a:p xmlns:a="http://schemas.openxmlformats.org/drawingml/2006/main">
            <a:r>
              <a:t/>
            </a:r>
          </a:p>
          <a:p xmlns:a="http://schemas.openxmlformats.org/drawingml/2006/main">
            <a:r>
              <a:t>Evidence: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Telugu-LLM-Labs/telugu_alpaca_yahma_cleaned_filtered_romanized and Telugu-LLM-Labs/telugu_teknium_GPTeacher_general_instruct_filtered_romanized. We use telugu_instruction, telugu_input and telugu_output, not romanized fields. Counts refer to source records before preprocessing. Semantic duplication may remain.</a:t>
            </a:r>
          </a:p>
          <a:p xmlns:a="http://schemas.openxmlformats.org/drawingml/2006/main">
            <a:r>
              <a:t/>
            </a:r>
          </a:p>
          <a:p xmlns:a="http://schemas.openxmlformats.org/drawingml/2006/main">
            <a:r>
              <a:t>Evidence: data_telugu_llm/provenance.json; src/prepare_telugu_llm_data.py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models use the same word vocabulary, context length and data splits. The word CNN uses width 128, kernel 3 and a receptive field of 15, covering all eight input words. The character model adds a 16-dimensional character embedding and 64-dimensional convolutional features. LSTM has 3,959,328 parameters and Bi-LSTM 6,618,656. Parameter counts differ, so this is not a parameter-matched comparison.</a:t>
            </a:r>
          </a:p>
          <a:p xmlns:a="http://schemas.openxmlformats.org/drawingml/2006/main">
            <a:r>
              <a:t/>
            </a:r>
          </a:p>
          <a:p xmlns:a="http://schemas.openxmlformats.org/drawingml/2006/main">
            <a:r>
              <a:t>Evidence: src/model.py; src/wordchar_model.py; outputs/telugu_comparison/experiment.json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forget gate retains useful memory, the input gate adds candidate information and the output gate exposes the hidden state. The Bi-LSTM combines terminal forward and reverse states of the input prefix. Neither direction sees the target word. W and U are learned weights and b is a bias.</a:t>
            </a:r>
          </a:p>
          <a:p xmlns:a="http://schemas.openxmlformats.org/drawingml/2006/main">
            <a:r>
              <a:t/>
            </a:r>
          </a:p>
          <a:p xmlns:a="http://schemas.openxmlformats.org/drawingml/2006/main">
            <a:r>
              <a:t>Evidence: src/model.py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character branch uses Unicode code points, retaining up to the last 32 characters, then convolution and masked max pooling. The gate weights word and character features. Causal convolution produces v and u without looking beyond each prefix position. Unknown input words retain spelling information, but the fixed output vocabulary cannot generate unseen target words. This is an implemented project extension, not a claim of a first-of-its-kind algorithm. Ablation and rare-word evaluation are still needed.</a:t>
            </a:r>
          </a:p>
          <a:p xmlns:a="http://schemas.openxmlformats.org/drawingml/2006/main">
            <a:r>
              <a:t/>
            </a:r>
          </a:p>
          <a:p xmlns:a="http://schemas.openxmlformats.org/drawingml/2006/main">
            <a:r>
              <a:t>Evidence: src/wordchar_model.py; src/model.py; src/check_wordchar.py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converts output logits to probabilities. Cross-entropy is the training objective. Top-k accuracy checks whether the target occurs among the k highest-ranked predictions. N is the number of examples. Perplexity uses the fixed vocabulary with unknown targets collapsed into the unknown token. The app shows five suggestions.</a:t>
            </a:r>
          </a:p>
          <a:p xmlns:a="http://schemas.openxmlformats.org/drawingml/2006/main">
            <a:r>
              <a:t/>
            </a:r>
          </a:p>
          <a:p xmlns:a="http://schemas.openxmlformats.org/drawingml/2006/main">
            <a:r>
              <a:t>Evidence: src/train_telugu_comparison.py;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Best checkpoints are epoch 5 for both recurrent models. Test cross-entropy is 5.293392 for LSTM and 5.185143 for Bi-LSTM. The exact top-1 difference is 0.795634 percentage points, rounded to 0.80. Verification passed for both checkpoints. Different parameter counts and a single seed limit conclusions about model superiority.</a:t>
            </a:r>
          </a:p>
          <a:p xmlns:a="http://schemas.openxmlformats.org/drawingml/2006/main">
            <a:r>
              <a:t/>
            </a:r>
          </a:p>
          <a:p xmlns:a="http://schemas.openxmlformats.org/drawingml/2006/main">
            <a:r>
              <a:t>Evidence: outputs/telugu_comparison/lstm_test_metrics.json; outputs/telugu_comparison/bilstm_test_metrics.json; outputs/telugu_comparison/completion_verification.json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snapshot records partial CNN training progress, not completed epochs or final CNN accuracy. The app preserves the requested hidden model selector and training controls. Future evaluation should isolate the character branch and fusion gate, assess rare-word behavior and repeat runs with more seeds. Additional languages remain future scope.</a:t>
            </a:r>
          </a:p>
          <a:p xmlns:a="http://schemas.openxmlformats.org/drawingml/2006/main">
            <a:r>
              <a:t/>
            </a:r>
          </a:p>
          <a:p xmlns:a="http://schemas.openxmlformats.org/drawingml/2006/main">
            <a:r>
              <a:t>Evidence: outputs/telugu_cnn/status.json; outputs/telugu_wordchar/status.json; src/telugu_app.py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9416c7f53845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ccf5f7fe4f4b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a2ec8f13ac4b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871d486e2a4f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b907177c7f40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9acd6faa5f44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513D62-7DC3-4974-ADE5-AF4AC80B82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2BC8B32-8B8C-4722-ACF9-37DCD8A45E4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7D635C1-731B-4200-9B92-0DAB8BFC2D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0A16DF-E8FC-4AF5-AC70-4FBC8A1F9D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C58FCF-FA6C-4899-B503-2F4A0F8CF7D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F71685-089F-4546-849F-4206E5C91A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815C77-CBF8-43E5-B685-A1B1B1EDD6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E6EE957-E017-4D8B-90B9-ACCE6370AB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EBD2D5-9F7C-45CF-AA72-3FEFBA9BED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85F228-CB5D-467C-9504-9D3651A1B5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7578e977d54e8c" /><Relationship Type="http://schemas.openxmlformats.org/officeDocument/2006/relationships/slideLayout" Target="/ppt/slideLayouts/slideLayout1.xml" Id="Rfe22d45cb20e4275" /><Relationship Type="http://schemas.openxmlformats.org/officeDocument/2006/relationships/slideLayout" Target="/ppt/slideLayouts/slideLayout2.xml" Id="R252c5fdeff4d4ea6" /><Relationship Type="http://schemas.openxmlformats.org/officeDocument/2006/relationships/slideLayout" Target="/ppt/slideLayouts/slideLayout3.xml" Id="Ra5eaf4db8b8d42a2" /><Relationship Type="http://schemas.openxmlformats.org/officeDocument/2006/relationships/slideLayout" Target="/ppt/slideLayouts/slideLayout4.xml" Id="R7784f3310f294492" /><Relationship Type="http://schemas.openxmlformats.org/officeDocument/2006/relationships/slideLayout" Target="/ppt/slideLayouts/slideLayout5.xml" Id="Rb53057ff6a8349eb" /><Relationship Type="http://schemas.openxmlformats.org/officeDocument/2006/relationships/slideLayout" Target="/ppt/slideLayouts/slideLayout6.xml" Id="R0eda0cd7981d4f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22d45cb20e4275"/>
    <p:sldLayoutId xmlns:r="http://schemas.openxmlformats.org/officeDocument/2006/relationships" id="2147483650" r:id="R252c5fdeff4d4ea6"/>
    <p:sldLayoutId xmlns:r="http://schemas.openxmlformats.org/officeDocument/2006/relationships" id="2147483651" r:id="Ra5eaf4db8b8d42a2"/>
    <p:sldLayoutId xmlns:r="http://schemas.openxmlformats.org/officeDocument/2006/relationships" id="2147483652" r:id="R7784f3310f294492"/>
    <p:sldLayoutId xmlns:r="http://schemas.openxmlformats.org/officeDocument/2006/relationships" id="2147483653" r:id="Rb53057ff6a8349eb"/>
    <p:sldLayoutId xmlns:r="http://schemas.openxmlformats.org/officeDocument/2006/relationships" id="2147483654" r:id="R0eda0cd7981d4f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d221b4fa41400b" /><Relationship Type="http://schemas.openxmlformats.org/officeDocument/2006/relationships/notesSlide" Target="/ppt/notesSlides/notesSlide1.xml" Id="R00bafccb42da40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43b956266745df" /><Relationship Type="http://schemas.openxmlformats.org/officeDocument/2006/relationships/notesSlide" Target="/ppt/notesSlides/notesSlide2.xml" Id="R641b145bbbd74b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911004b1f2425e" /><Relationship Type="http://schemas.openxmlformats.org/officeDocument/2006/relationships/notesSlide" Target="/ppt/notesSlides/notesSlide3.xml" Id="Rad7244033fbe4b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0065cbfab24778" /><Relationship Type="http://schemas.openxmlformats.org/officeDocument/2006/relationships/notesSlide" Target="/ppt/notesSlides/notesSlide4.xml" Id="R49e04c7e126d47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11f51d6ad814210" /><Relationship Type="http://schemas.openxmlformats.org/officeDocument/2006/relationships/notesSlide" Target="/ppt/notesSlides/notesSlide5.xml" Id="Rf896d08a4ea44e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fa3bcb03cb40da" /><Relationship Type="http://schemas.openxmlformats.org/officeDocument/2006/relationships/notesSlide" Target="/ppt/notesSlides/notesSlide6.xml" Id="R24f6dff954f74b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e55b226ccb4e90" /><Relationship Type="http://schemas.openxmlformats.org/officeDocument/2006/relationships/notesSlide" Target="/ppt/notesSlides/notesSlide7.xml" Id="R63370e7d79d044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5fd340295504213" /><Relationship Type="http://schemas.openxmlformats.org/officeDocument/2006/relationships/notesSlide" Target="/ppt/notesSlides/notesSlide8.xml" Id="R0f45af85d9a84d56" /></Relationships>
</file>

<file path=ppt/slides/slide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9BAC6F-308A-42CA-AD57-1330A3FD2B89}"/>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CF3F72-B7C1-40F2-9FB3-848344172346}"/>
              </a:ext>
            </a:extLst>
          </p:cNvPr>
          <p:cNvSpPr>
            <a:spLocks xmlns:a="http://schemas.openxmlformats.org/drawingml/2006/main" noGrp="1"/>
          </p:cNvSpPr>
          <p:nvPr/>
        </p:nvSpPr>
        <p:spPr>
          <a:xfrm xmlns:a="http://schemas.openxmlformats.org/drawingml/2006/main">
            <a:off x="714375" y="1381125"/>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5700" b="0">
                <a:solidFill>
                  <a:srgbClr val="344E41"/>
                </a:solidFill>
                <a:latin typeface="Georgia"/>
                <a:ea typeface="Georgia"/>
                <a:cs typeface="Georgia"/>
              </a:defRPr>
            </a:defPPr>
          </a:lstStyle>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MULTILINGUAL</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NEXT-WORD</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PREDICTION</a:t>
            </a:r>
          </a:p>
        </p:txBody>
      </p:sp>
      <p:sp>
        <p:nvSpPr>
          <p:cNvPr id="3" name="">
            <a:extLst xmlns:a="http://schemas.openxmlformats.org/drawingml/2006/main">
              <a:ext uri="{FF2B5EF4-FFF2-40B4-BE49-F238E27FC236}">
                <a16:creationId xmlns:a16="http://schemas.microsoft.com/office/drawing/2014/main" id="{678A59D8-6BBA-4EF3-AB93-28B07134C672}"/>
              </a:ext>
            </a:extLst>
          </p:cNvPr>
          <p:cNvSpPr>
            <a:spLocks xmlns:a="http://schemas.openxmlformats.org/drawingml/2006/main" noGrp="1"/>
          </p:cNvSpPr>
          <p:nvPr/>
        </p:nvSpPr>
        <p:spPr>
          <a:xfrm xmlns:a="http://schemas.openxmlformats.org/drawingml/2006/main">
            <a:off x="714375" y="714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TELUGU PHASE</a:t>
            </a:r>
          </a:p>
        </p:txBody>
      </p:sp>
      <p:sp>
        <p:nvSpPr>
          <p:cNvPr id="4" name="">
            <a:extLst xmlns:a="http://schemas.openxmlformats.org/drawingml/2006/main">
              <a:ext uri="{FF2B5EF4-FFF2-40B4-BE49-F238E27FC236}">
                <a16:creationId xmlns:a16="http://schemas.microsoft.com/office/drawing/2014/main" id="{51DB346D-3486-44E5-8F03-5A659C8C6E78}"/>
              </a:ext>
            </a:extLst>
          </p:cNvPr>
          <p:cNvSpPr>
            <a:spLocks xmlns:a="http://schemas.openxmlformats.org/drawingml/2006/main" noGrp="1"/>
          </p:cNvSpPr>
          <p:nvPr/>
        </p:nvSpPr>
        <p:spPr>
          <a:xfrm xmlns:a="http://schemas.openxmlformats.org/drawingml/2006/main">
            <a:off x="714375" y="4857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LSTM, Bi-LSTM and convolutional models</a:t>
            </a:r>
          </a:p>
        </p:txBody>
      </p:sp>
      <p:sp>
        <p:nvSpPr>
          <p:cNvPr id="5" name="">
            <a:extLst xmlns:a="http://schemas.openxmlformats.org/drawingml/2006/main">
              <a:ext uri="{FF2B5EF4-FFF2-40B4-BE49-F238E27FC236}">
                <a16:creationId xmlns:a16="http://schemas.microsoft.com/office/drawing/2014/main" id="{7B6DD298-FF61-4AA9-AF69-A5C378CF50E0}"/>
              </a:ext>
            </a:extLst>
          </p:cNvPr>
          <p:cNvSpPr>
            <a:spLocks xmlns:a="http://schemas.openxmlformats.org/drawingml/2006/main" noGrp="1"/>
          </p:cNvSpPr>
          <p:nvPr/>
        </p:nvSpPr>
        <p:spPr>
          <a:xfrm xmlns:a="http://schemas.openxmlformats.org/drawingml/2006/main">
            <a:off x="571500" y="64008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12 October 2026</a:t>
            </a:r>
          </a:p>
        </p:txBody>
      </p:sp>
      <p:sp>
        <p:nvSpPr>
          <p:cNvPr id="6" name="">
            <a:extLst xmlns:a="http://schemas.openxmlformats.org/drawingml/2006/main">
              <a:ext uri="{FF2B5EF4-FFF2-40B4-BE49-F238E27FC236}">
                <a16:creationId xmlns:a16="http://schemas.microsoft.com/office/drawing/2014/main" id="{37C0776C-0430-432C-B36C-74080023C4F5}"/>
              </a:ext>
            </a:extLst>
          </p:cNvPr>
          <p:cNvSpPr>
            <a:spLocks xmlns:a="http://schemas.openxmlformats.org/drawingml/2006/main" noGrp="1"/>
          </p:cNvSpPr>
          <p:nvPr/>
        </p:nvSpPr>
        <p:spPr>
          <a:xfrm xmlns:a="http://schemas.openxmlformats.org/drawingml/2006/main">
            <a:off x="8382000" y="6400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UROP PROJECT REVIEW</a:t>
            </a:r>
          </a:p>
        </p:txBody>
      </p:sp>
    </p:spTree>
    <p:extLst>
      <p:ext uri="{BB962C8B-B14F-4D97-AF65-F5344CB8AC3E}">
        <p14:creationId xmlns:p14="http://schemas.microsoft.com/office/powerpoint/2010/main" val="382160208"/>
      </p:ext>
    </p:extLst>
  </p:cSld>
</p:sld>
</file>

<file path=ppt/slides/slide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EA4952-BF82-4F1C-8364-2433A82C49F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C0ABDE-AE81-4363-B37B-D4966F51C7D3}"/>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DATASET AND PREPROCESSING</a:t>
            </a:r>
          </a:p>
        </p:txBody>
      </p:sp>
      <p:sp>
        <p:nvSpPr>
          <p:cNvPr id="3" name="">
            <a:extLst xmlns:a="http://schemas.openxmlformats.org/drawingml/2006/main">
              <a:ext uri="{FF2B5EF4-FFF2-40B4-BE49-F238E27FC236}">
                <a16:creationId xmlns:a16="http://schemas.microsoft.com/office/drawing/2014/main" id="{60E82650-73A0-4DFA-A606-4412F876865C}"/>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E4D5D252-AC36-4CD4-99D3-5F3688670045}"/>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E0F15ED-F304-4E86-8DE3-7BFD8E175FC5}"/>
              </a:ext>
            </a:extLst>
          </p:cNvPr>
          <p:cNvSpPr>
            <a:spLocks xmlns:a="http://schemas.openxmlformats.org/drawingml/2006/main" noGrp="1"/>
          </p:cNvSpPr>
          <p:nvPr/>
        </p:nvSpPr>
        <p:spPr>
          <a:xfrm xmlns:a="http://schemas.openxmlformats.org/drawingml/2006/main">
            <a:off x="571500" y="148590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44E41"/>
                </a:solidFill>
                <a:latin typeface="Arial"/>
                <a:ea typeface="Arial"/>
                <a:cs typeface="Arial"/>
              </a:defRPr>
            </a:defPPr>
          </a:lstStyle>
          <a:p xmlns:a="http://schemas.openxmlformats.org/drawingml/2006/main">
            <a:pPr>
              <a:defRPr sz="2025" b="1">
                <a:solidFill>
                  <a:srgbClr val="344E41"/>
                </a:solidFill>
                <a:latin typeface="Arial"/>
                <a:ea typeface="Arial"/>
                <a:cs typeface="Arial"/>
              </a:defRPr>
            </a:pPr>
            <a:r>
              <a:rPr sz="2025" b="1">
                <a:solidFill>
                  <a:srgbClr val="344E41"/>
                </a:solidFill>
                <a:latin typeface="Arial"/>
                <a:ea typeface="Arial"/>
                <a:cs typeface="Arial"/>
              </a:rPr>
              <a:t>Telugu-LLM-Labs: Alpaca (28,910) + GPTeacher (43,614 records)</a:t>
            </a:r>
          </a:p>
        </p:txBody>
      </p:sp>
      <p:graphicFrame>
        <p:nvGraphicFramePr>
          <p:cNvPr id="6" name="">
            <a:extLst xmlns:a="http://schemas.openxmlformats.org/drawingml/2006/main">
              <a:ext uri="{FF2B5EF4-FFF2-40B4-BE49-F238E27FC236}">
                <a16:creationId xmlns:a16="http://schemas.microsoft.com/office/drawing/2014/main" id="{307BED07-49B3-414F-B7C1-611579EE8B76}"/>
              </a:ext>
            </a:extLst>
          </p:cNvPr>
          <p:cNvGraphicFramePr/>
          <p:nvPr/>
        </p:nvGraphicFramePr>
        <p:xfrm>
          <a:off xmlns:a="http://schemas.openxmlformats.org/drawingml/2006/main" x="571500" y="2143125"/>
          <a:ext xmlns:a="http://schemas.openxmlformats.org/drawingml/2006/main" cx="11049000" cy="2381250"/>
        </p:xfrm>
        <a:graphic xmlns:a="http://schemas.openxmlformats.org/drawingml/2006/main">
          <a:graphicData uri="http://schemas.openxmlformats.org/drawingml/2006/table">
            <a:tbl>
              <a:tblPr firstRow="1" bandRow="0"/>
              <a:tblGrid>
                <a:gridCol w="4191000"/>
                <a:gridCol w="3048000"/>
                <a:gridCol w="3810000"/>
              </a:tblGrid>
              <a:tr h="595313">
                <a:tc>
                  <a:txBody>
                    <a:bodyPr/>
                    <a:lstStyle/>
                    <a:p>
                      <a:r>
                        <a:rPr sz="1875" b="1">
                          <a:solidFill>
                            <a:srgbClr val="FFFFFF"/>
                          </a:solidFill>
                          <a:latin typeface="Arial"/>
                          <a:ea typeface="Arial"/>
                          <a:cs typeface="Arial"/>
                        </a:rPr>
                        <a:t>Split</a:t>
                      </a:r>
                    </a:p>
                  </a:txBody>
                  <a:tcPr marL="91440" marR="91440" marT="45720" marB="45720">
                    <a:solidFill>
                      <a:srgbClr val="344E41"/>
                    </a:solidFill>
                  </a:tcPr>
                </a:tc>
                <a:tc>
                  <a:txBody>
                    <a:bodyPr/>
                    <a:lstStyle/>
                    <a:p>
                      <a:r>
                        <a:rPr sz="1875" b="1">
                          <a:solidFill>
                            <a:srgbClr val="FFFFFF"/>
                          </a:solidFill>
                          <a:latin typeface="Arial"/>
                          <a:ea typeface="Arial"/>
                          <a:cs typeface="Arial"/>
                        </a:rPr>
                        <a:t>Sentences</a:t>
                      </a:r>
                    </a:p>
                  </a:txBody>
                  <a:tcPr marL="91440" marR="91440" marT="45720" marB="45720">
                    <a:solidFill>
                      <a:srgbClr val="344E41"/>
                    </a:solidFill>
                  </a:tcPr>
                </a:tc>
                <a:tc>
                  <a:txBody>
                    <a:bodyPr/>
                    <a:lstStyle/>
                    <a:p>
                      <a:r>
                        <a:rPr sz="1875" b="1">
                          <a:solidFill>
                            <a:srgbClr val="FFFFFF"/>
                          </a:solidFill>
                          <a:latin typeface="Arial"/>
                          <a:ea typeface="Arial"/>
                          <a:cs typeface="Arial"/>
                        </a:rPr>
                        <a:t>Next-word examples</a:t>
                      </a:r>
                    </a:p>
                  </a:txBody>
                  <a:tcPr marL="91440" marR="91440" marT="45720" marB="45720">
                    <a:solidFill>
                      <a:srgbClr val="344E41"/>
                    </a:solidFill>
                  </a:tcPr>
                </a:tc>
              </a:tr>
              <a:tr h="595313">
                <a:tc>
                  <a:txBody>
                    <a:bodyPr/>
                    <a:lstStyle/>
                    <a:p>
                      <a:r>
                        <a:rPr sz="1875" b="0">
                          <a:solidFill>
                            <a:srgbClr val="344E41"/>
                          </a:solidFill>
                          <a:latin typeface="Arial"/>
                          <a:ea typeface="Arial"/>
                          <a:cs typeface="Arial"/>
                        </a:rPr>
                        <a:t>Train</a:t>
                      </a:r>
                    </a:p>
                  </a:txBody>
                  <a:tcPr marL="91440" marR="91440" marT="45720" marB="45720">
                    <a:solidFill>
                      <a:srgbClr val="E7E5DD"/>
                    </a:solidFill>
                  </a:tcPr>
                </a:tc>
                <a:tc>
                  <a:txBody>
                    <a:bodyPr/>
                    <a:lstStyle/>
                    <a:p>
                      <a:r>
                        <a:rPr sz="1875" b="0">
                          <a:solidFill>
                            <a:srgbClr val="344E41"/>
                          </a:solidFill>
                          <a:latin typeface="Arial"/>
                          <a:ea typeface="Arial"/>
                          <a:cs typeface="Arial"/>
                        </a:rPr>
                        <a:t>312,456</a:t>
                      </a:r>
                    </a:p>
                  </a:txBody>
                  <a:tcPr marL="91440" marR="91440" marT="45720" marB="45720">
                    <a:solidFill>
                      <a:srgbClr val="E7E5DD"/>
                    </a:solidFill>
                  </a:tcPr>
                </a:tc>
                <a:tc>
                  <a:txBody>
                    <a:bodyPr/>
                    <a:lstStyle/>
                    <a:p>
                      <a:r>
                        <a:rPr sz="1875" b="0">
                          <a:solidFill>
                            <a:srgbClr val="344E41"/>
                          </a:solidFill>
                          <a:latin typeface="Arial"/>
                          <a:ea typeface="Arial"/>
                          <a:cs typeface="Arial"/>
                        </a:rPr>
                        <a:t>3,483,073</a:t>
                      </a:r>
                    </a:p>
                  </a:txBody>
                  <a:tcPr marL="91440" marR="91440" marT="45720" marB="45720">
                    <a:solidFill>
                      <a:srgbClr val="E7E5DD"/>
                    </a:solidFill>
                  </a:tcPr>
                </a:tc>
              </a:tr>
              <a:tr h="595313">
                <a:tc>
                  <a:txBody>
                    <a:bodyPr/>
                    <a:lstStyle/>
                    <a:p>
                      <a:r>
                        <a:rPr sz="1875" b="0">
                          <a:solidFill>
                            <a:srgbClr val="344E41"/>
                          </a:solidFill>
                          <a:latin typeface="Arial"/>
                          <a:ea typeface="Arial"/>
                          <a:cs typeface="Arial"/>
                        </a:rPr>
                        <a:t>Validation</a:t>
                      </a:r>
                    </a:p>
                  </a:txBody>
                  <a:tcPr marL="91440" marR="91440" marT="45720" marB="45720">
                    <a:solidFill>
                      <a:srgbClr val="DAD7CD"/>
                    </a:solidFill>
                  </a:tcPr>
                </a:tc>
                <a:tc>
                  <a:txBody>
                    <a:bodyPr/>
                    <a:lstStyle/>
                    <a:p>
                      <a:r>
                        <a:rPr sz="1875" b="0">
                          <a:solidFill>
                            <a:srgbClr val="344E41"/>
                          </a:solidFill>
                          <a:latin typeface="Arial"/>
                          <a:ea typeface="Arial"/>
                          <a:cs typeface="Arial"/>
                        </a:rPr>
                        <a:t>18,294</a:t>
                      </a:r>
                    </a:p>
                  </a:txBody>
                  <a:tcPr marL="91440" marR="91440" marT="45720" marB="45720">
                    <a:solidFill>
                      <a:srgbClr val="DAD7CD"/>
                    </a:solidFill>
                  </a:tcPr>
                </a:tc>
                <a:tc>
                  <a:txBody>
                    <a:bodyPr/>
                    <a:lstStyle/>
                    <a:p>
                      <a:r>
                        <a:rPr sz="1875" b="0">
                          <a:solidFill>
                            <a:srgbClr val="344E41"/>
                          </a:solidFill>
                          <a:latin typeface="Arial"/>
                          <a:ea typeface="Arial"/>
                          <a:cs typeface="Arial"/>
                        </a:rPr>
                        <a:t>198,928</a:t>
                      </a:r>
                    </a:p>
                  </a:txBody>
                  <a:tcPr marL="91440" marR="91440" marT="45720" marB="45720">
                    <a:solidFill>
                      <a:srgbClr val="DAD7CD"/>
                    </a:solidFill>
                  </a:tcPr>
                </a:tc>
              </a:tr>
              <a:tr h="595313">
                <a:tc>
                  <a:txBody>
                    <a:bodyPr/>
                    <a:lstStyle/>
                    <a:p>
                      <a:r>
                        <a:rPr sz="1875" b="0">
                          <a:solidFill>
                            <a:srgbClr val="344E41"/>
                          </a:solidFill>
                          <a:latin typeface="Arial"/>
                          <a:ea typeface="Arial"/>
                          <a:cs typeface="Arial"/>
                        </a:rPr>
                        <a:t>Test</a:t>
                      </a:r>
                    </a:p>
                  </a:txBody>
                  <a:tcPr marL="91440" marR="91440" marT="45720" marB="45720">
                    <a:solidFill>
                      <a:srgbClr val="E7E5DD"/>
                    </a:solidFill>
                  </a:tcPr>
                </a:tc>
                <a:tc>
                  <a:txBody>
                    <a:bodyPr/>
                    <a:lstStyle/>
                    <a:p>
                      <a:r>
                        <a:rPr sz="1875" b="0">
                          <a:solidFill>
                            <a:srgbClr val="344E41"/>
                          </a:solidFill>
                          <a:latin typeface="Arial"/>
                          <a:ea typeface="Arial"/>
                          <a:cs typeface="Arial"/>
                        </a:rPr>
                        <a:t>18,662</a:t>
                      </a:r>
                    </a:p>
                  </a:txBody>
                  <a:tcPr marL="91440" marR="91440" marT="45720" marB="45720">
                    <a:solidFill>
                      <a:srgbClr val="E7E5DD"/>
                    </a:solidFill>
                  </a:tcPr>
                </a:tc>
                <a:tc>
                  <a:txBody>
                    <a:bodyPr/>
                    <a:lstStyle/>
                    <a:p>
                      <a:r>
                        <a:rPr sz="1875" b="0">
                          <a:solidFill>
                            <a:srgbClr val="344E41"/>
                          </a:solidFill>
                          <a:latin typeface="Arial"/>
                          <a:ea typeface="Arial"/>
                          <a:cs typeface="Arial"/>
                        </a:rPr>
                        <a:t>200,092</a:t>
                      </a:r>
                    </a:p>
                  </a:txBody>
                  <a:tcPr marL="91440" marR="91440" marT="45720" marB="45720">
                    <a:solidFill>
                      <a:srgbClr val="E7E5DD"/>
                    </a:solidFill>
                  </a:tcPr>
                </a:tc>
              </a:tr>
            </a:tbl>
          </a:graphicData>
        </a:graphic>
      </p:graphicFrame>
      <p:sp>
        <p:nvSpPr>
          <p:cNvPr id="7" name="">
            <a:extLst xmlns:a="http://schemas.openxmlformats.org/drawingml/2006/main">
              <a:ext uri="{FF2B5EF4-FFF2-40B4-BE49-F238E27FC236}">
                <a16:creationId xmlns:a16="http://schemas.microsoft.com/office/drawing/2014/main" id="{1FDB2AB7-E5F3-44B5-A4B9-742E77FF673C}"/>
              </a:ext>
            </a:extLst>
          </p:cNvPr>
          <p:cNvSpPr>
            <a:spLocks xmlns:a="http://schemas.openxmlformats.org/drawingml/2006/main" noGrp="1"/>
          </p:cNvSpPr>
          <p:nvPr/>
        </p:nvSpPr>
        <p:spPr>
          <a:xfrm xmlns:a="http://schemas.openxmlformats.org/drawingml/2006/main">
            <a:off x="571500" y="48387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Native Telugu text, Unicode normalization and prefix–target pairs</a:t>
            </a:r>
          </a:p>
        </p:txBody>
      </p:sp>
      <p:sp>
        <p:nvSpPr>
          <p:cNvPr id="8" name="">
            <a:extLst xmlns:a="http://schemas.openxmlformats.org/drawingml/2006/main">
              <a:ext uri="{FF2B5EF4-FFF2-40B4-BE49-F238E27FC236}">
                <a16:creationId xmlns:a16="http://schemas.microsoft.com/office/drawing/2014/main" id="{DC47AD5C-EFFE-47E2-8508-E1241E1A16E3}"/>
              </a:ext>
            </a:extLst>
          </p:cNvPr>
          <p:cNvSpPr>
            <a:spLocks xmlns:a="http://schemas.openxmlformats.org/drawingml/2006/main" noGrp="1"/>
          </p:cNvSpPr>
          <p:nvPr/>
        </p:nvSpPr>
        <p:spPr>
          <a:xfrm xmlns:a="http://schemas.openxmlformats.org/drawingml/2006/main">
            <a:off x="571500" y="54102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8-word context and 20,000-word vocabulary learned from training text.</a:t>
            </a:r>
          </a:p>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Grouped splits and exact-overlap removal reduce data leakage.</a:t>
            </a:r>
          </a:p>
        </p:txBody>
      </p:sp>
    </p:spTree>
    <p:extLst>
      <p:ext uri="{BB962C8B-B14F-4D97-AF65-F5344CB8AC3E}">
        <p14:creationId xmlns:p14="http://schemas.microsoft.com/office/powerpoint/2010/main" val="1335596054"/>
      </p:ext>
    </p:extLst>
  </p:cSld>
</p:sld>
</file>

<file path=ppt/slides/slide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140C89-FEF0-4E4E-9FF6-90DB1E2C1F88}"/>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E0AE3A-4436-4359-BCF3-4C0F6C13983E}"/>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MODELS AND TRAINING SETUP</a:t>
            </a:r>
          </a:p>
        </p:txBody>
      </p:sp>
      <p:sp>
        <p:nvSpPr>
          <p:cNvPr id="3" name="">
            <a:extLst xmlns:a="http://schemas.openxmlformats.org/drawingml/2006/main">
              <a:ext uri="{FF2B5EF4-FFF2-40B4-BE49-F238E27FC236}">
                <a16:creationId xmlns:a16="http://schemas.microsoft.com/office/drawing/2014/main" id="{11D6680C-A7C0-460E-94CC-4C7632672501}"/>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7A80B4A7-09DA-4A74-970B-12A4C59E68C6}"/>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994CB1FC-E9F2-4C69-9F0C-267342E097EC}"/>
              </a:ext>
            </a:extLst>
          </p:cNvPr>
          <p:cNvGraphicFramePr/>
          <p:nvPr/>
        </p:nvGraphicFramePr>
        <p:xfrm>
          <a:off xmlns:a="http://schemas.openxmlformats.org/drawingml/2006/main" x="571500" y="1762125"/>
          <a:ext xmlns:a="http://schemas.openxmlformats.org/drawingml/2006/main" cx="11049000" cy="3048000"/>
        </p:xfrm>
        <a:graphic xmlns:a="http://schemas.openxmlformats.org/drawingml/2006/main">
          <a:graphicData uri="http://schemas.openxmlformats.org/drawingml/2006/table">
            <a:tbl>
              <a:tblPr firstRow="1" bandRow="0"/>
              <a:tblGrid>
                <a:gridCol w="3429000"/>
                <a:gridCol w="7620000"/>
              </a:tblGrid>
              <a:tr h="609600">
                <a:tc>
                  <a:txBody>
                    <a:bodyPr/>
                    <a:lstStyle/>
                    <a:p>
                      <a:r>
                        <a:rPr sz="1875" b="1">
                          <a:solidFill>
                            <a:srgbClr val="FFFFFF"/>
                          </a:solidFill>
                          <a:latin typeface="Arial"/>
                          <a:ea typeface="Arial"/>
                          <a:cs typeface="Arial"/>
                        </a:rPr>
                        <a:t>Model</a:t>
                      </a:r>
                    </a:p>
                  </a:txBody>
                  <a:tcPr marL="91440" marR="91440" marT="45720" marB="45720">
                    <a:solidFill>
                      <a:srgbClr val="344E41"/>
                    </a:solidFill>
                  </a:tcPr>
                </a:tc>
                <a:tc>
                  <a:txBody>
                    <a:bodyPr/>
                    <a:lstStyle/>
                    <a:p>
                      <a:r>
                        <a:rPr sz="1875" b="1">
                          <a:solidFill>
                            <a:srgbClr val="FFFFFF"/>
                          </a:solidFill>
                          <a:latin typeface="Arial"/>
                          <a:ea typeface="Arial"/>
                          <a:cs typeface="Arial"/>
                        </a:rPr>
                        <a:t>Architecture</a:t>
                      </a:r>
                    </a:p>
                  </a:txBody>
                  <a:tcPr marL="91440" marR="91440" marT="45720" marB="45720">
                    <a:solidFill>
                      <a:srgbClr val="344E41"/>
                    </a:solidFill>
                  </a:tcPr>
                </a:tc>
              </a:tr>
              <a:tr h="609600">
                <a:tc>
                  <a:txBody>
                    <a:bodyPr/>
                    <a:lstStyle/>
                    <a:p>
                      <a:r>
                        <a:rPr sz="1875" b="0">
                          <a:solidFill>
                            <a:srgbClr val="344E41"/>
                          </a:solidFill>
                          <a:latin typeface="Arial"/>
                          <a:ea typeface="Arial"/>
                          <a:cs typeface="Arial"/>
                        </a:rPr>
                        <a:t>LSTM</a:t>
                      </a:r>
                    </a:p>
                  </a:txBody>
                  <a:tcPr marL="91440" marR="91440" marT="45720" marB="45720">
                    <a:solidFill>
                      <a:srgbClr val="E7E5DD"/>
                    </a:solidFill>
                  </a:tcPr>
                </a:tc>
                <a:tc>
                  <a:txBody>
                    <a:bodyPr/>
                    <a:lstStyle/>
                    <a:p>
                      <a:r>
                        <a:rPr sz="1875" b="0">
                          <a:solidFill>
                            <a:srgbClr val="344E41"/>
                          </a:solidFill>
                          <a:latin typeface="Arial"/>
                          <a:ea typeface="Arial"/>
                          <a:cs typeface="Arial"/>
                        </a:rPr>
                        <a:t>64-d embedding, 128 recurrent units</a:t>
                      </a:r>
                    </a:p>
                  </a:txBody>
                  <a:tcPr marL="91440" marR="91440" marT="45720" marB="45720">
                    <a:solidFill>
                      <a:srgbClr val="E7E5DD"/>
                    </a:solidFill>
                  </a:tcPr>
                </a:tc>
              </a:tr>
              <a:tr h="609600">
                <a:tc>
                  <a:txBody>
                    <a:bodyPr/>
                    <a:lstStyle/>
                    <a:p>
                      <a:r>
                        <a:rPr sz="1875" b="0">
                          <a:solidFill>
                            <a:srgbClr val="344E41"/>
                          </a:solidFill>
                          <a:latin typeface="Arial"/>
                          <a:ea typeface="Arial"/>
                          <a:cs typeface="Arial"/>
                        </a:rPr>
                        <a:t>Bi-LSTM</a:t>
                      </a:r>
                    </a:p>
                  </a:txBody>
                  <a:tcPr marL="91440" marR="91440" marT="45720" marB="45720">
                    <a:solidFill>
                      <a:srgbClr val="DAD7CD"/>
                    </a:solidFill>
                  </a:tcPr>
                </a:tc>
                <a:tc>
                  <a:txBody>
                    <a:bodyPr/>
                    <a:lstStyle/>
                    <a:p>
                      <a:r>
                        <a:rPr sz="1875" b="0">
                          <a:solidFill>
                            <a:srgbClr val="344E41"/>
                          </a:solidFill>
                          <a:latin typeface="Arial"/>
                          <a:ea typeface="Arial"/>
                          <a:cs typeface="Arial"/>
                        </a:rPr>
                        <a:t>128 units per direction, 256-d output</a:t>
                      </a:r>
                    </a:p>
                  </a:txBody>
                  <a:tcPr marL="91440" marR="91440" marT="45720" marB="45720">
                    <a:solidFill>
                      <a:srgbClr val="DAD7CD"/>
                    </a:solidFill>
                  </a:tcPr>
                </a:tc>
              </a:tr>
              <a:tr h="609600">
                <a:tc>
                  <a:txBody>
                    <a:bodyPr/>
                    <a:lstStyle/>
                    <a:p>
                      <a:r>
                        <a:rPr sz="1875" b="0">
                          <a:solidFill>
                            <a:srgbClr val="344E41"/>
                          </a:solidFill>
                          <a:latin typeface="Arial"/>
                          <a:ea typeface="Arial"/>
                          <a:cs typeface="Arial"/>
                        </a:rPr>
                        <a:t>Word CNN</a:t>
                      </a:r>
                    </a:p>
                  </a:txBody>
                  <a:tcPr marL="91440" marR="91440" marT="45720" marB="45720">
                    <a:solidFill>
                      <a:srgbClr val="E7E5DD"/>
                    </a:solidFill>
                  </a:tcPr>
                </a:tc>
                <a:tc>
                  <a:txBody>
                    <a:bodyPr/>
                    <a:lstStyle/>
                    <a:p>
                      <a:r>
                        <a:rPr sz="1875" b="0">
                          <a:solidFill>
                            <a:srgbClr val="344E41"/>
                          </a:solidFill>
                          <a:latin typeface="Arial"/>
                          <a:ea typeface="Arial"/>
                          <a:cs typeface="Arial"/>
                        </a:rPr>
                        <a:t>3 causal gated blocks, dilations 1, 2, 4</a:t>
                      </a:r>
                    </a:p>
                  </a:txBody>
                  <a:tcPr marL="91440" marR="91440" marT="45720" marB="45720">
                    <a:solidFill>
                      <a:srgbClr val="E7E5DD"/>
                    </a:solidFill>
                  </a:tcPr>
                </a:tc>
              </a:tr>
              <a:tr h="609600">
                <a:tc>
                  <a:txBody>
                    <a:bodyPr/>
                    <a:lstStyle/>
                    <a:p>
                      <a:r>
                        <a:rPr sz="1875" b="0">
                          <a:solidFill>
                            <a:srgbClr val="344E41"/>
                          </a:solidFill>
                          <a:latin typeface="Arial"/>
                          <a:ea typeface="Arial"/>
                          <a:cs typeface="Arial"/>
                        </a:rPr>
                        <a:t>Word–character CNN</a:t>
                      </a:r>
                    </a:p>
                  </a:txBody>
                  <a:tcPr marL="91440" marR="91440" marT="45720" marB="45720">
                    <a:solidFill>
                      <a:srgbClr val="DAD7CD"/>
                    </a:solidFill>
                  </a:tcPr>
                </a:tc>
                <a:tc>
                  <a:txBody>
                    <a:bodyPr/>
                    <a:lstStyle/>
                    <a:p>
                      <a:r>
                        <a:rPr sz="1875" b="0">
                          <a:solidFill>
                            <a:srgbClr val="344E41"/>
                          </a:solidFill>
                          <a:latin typeface="Arial"/>
                          <a:ea typeface="Arial"/>
                          <a:cs typeface="Arial"/>
                        </a:rPr>
                        <a:t>Character features + gated word fusion</a:t>
                      </a:r>
                    </a:p>
                  </a:txBody>
                  <a:tcPr marL="91440" marR="91440" marT="45720" marB="45720">
                    <a:solidFill>
                      <a:srgbClr val="DAD7CD"/>
                    </a:solidFill>
                  </a:tcPr>
                </a:tc>
              </a:tr>
            </a:tbl>
          </a:graphicData>
        </a:graphic>
      </p:graphicFrame>
      <p:sp>
        <p:nvSpPr>
          <p:cNvPr id="6" name="">
            <a:extLst xmlns:a="http://schemas.openxmlformats.org/drawingml/2006/main">
              <a:ext uri="{FF2B5EF4-FFF2-40B4-BE49-F238E27FC236}">
                <a16:creationId xmlns:a16="http://schemas.microsoft.com/office/drawing/2014/main" id="{7073723A-52C5-4C28-87B5-8C3640E22E57}"/>
              </a:ext>
            </a:extLst>
          </p:cNvPr>
          <p:cNvSpPr>
            <a:spLocks xmlns:a="http://schemas.openxmlformats.org/drawingml/2006/main" noGrp="1"/>
          </p:cNvSpPr>
          <p:nvPr/>
        </p:nvSpPr>
        <p:spPr>
          <a:xfrm xmlns:a="http://schemas.openxmlformats.org/drawingml/2006/main">
            <a:off x="571500" y="514350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344E41"/>
                </a:solidFill>
                <a:latin typeface="Arial"/>
                <a:ea typeface="Arial"/>
                <a:cs typeface="Arial"/>
              </a:defRPr>
            </a:defPPr>
          </a:lstStyle>
          <a:p xmlns:a="http://schemas.openxmlformats.org/drawingml/2006/main">
            <a:pPr>
              <a:defRPr sz="1950" b="1">
                <a:solidFill>
                  <a:srgbClr val="344E41"/>
                </a:solidFill>
                <a:latin typeface="Arial"/>
                <a:ea typeface="Arial"/>
                <a:cs typeface="Arial"/>
              </a:defRPr>
            </a:pPr>
            <a:r>
              <a:rPr sz="1950" b="1">
                <a:solidFill>
                  <a:srgbClr val="344E41"/>
                </a:solidFill>
                <a:latin typeface="Arial"/>
                <a:ea typeface="Arial"/>
                <a:cs typeface="Arial"/>
              </a:rPr>
              <a:t>Adam at 0.001, batch size 512, gradient clipping 1.0, seed 42</a:t>
            </a:r>
          </a:p>
        </p:txBody>
      </p:sp>
      <p:sp>
        <p:nvSpPr>
          <p:cNvPr id="7" name="">
            <a:extLst xmlns:a="http://schemas.openxmlformats.org/drawingml/2006/main">
              <a:ext uri="{FF2B5EF4-FFF2-40B4-BE49-F238E27FC236}">
                <a16:creationId xmlns:a16="http://schemas.microsoft.com/office/drawing/2014/main" id="{4D824174-FC78-491A-A624-F09C477F670C}"/>
              </a:ext>
            </a:extLst>
          </p:cNvPr>
          <p:cNvSpPr>
            <a:spLocks xmlns:a="http://schemas.openxmlformats.org/drawingml/2006/main" noGrp="1"/>
          </p:cNvSpPr>
          <p:nvPr/>
        </p:nvSpPr>
        <p:spPr>
          <a:xfrm xmlns:a="http://schemas.openxmlformats.org/drawingml/2006/main">
            <a:off x="571500" y="56864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Five epochs per model. Select checkpoints by lowest validation loss.</a:t>
            </a:r>
          </a:p>
        </p:txBody>
      </p:sp>
    </p:spTree>
    <p:extLst>
      <p:ext uri="{BB962C8B-B14F-4D97-AF65-F5344CB8AC3E}">
        <p14:creationId xmlns:p14="http://schemas.microsoft.com/office/powerpoint/2010/main" val="1869099883"/>
      </p:ext>
    </p:extLst>
  </p:cSld>
</p:sld>
</file>

<file path=ppt/slides/slide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7C2F25A-4371-48C2-A428-BE981A6643B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C2C13E-528A-452F-B39A-10BBBAC1220F}"/>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AND BI-LSTM FORMULAS</a:t>
            </a:r>
          </a:p>
        </p:txBody>
      </p:sp>
      <p:sp>
        <p:nvSpPr>
          <p:cNvPr id="3" name="">
            <a:extLst xmlns:a="http://schemas.openxmlformats.org/drawingml/2006/main">
              <a:ext uri="{FF2B5EF4-FFF2-40B4-BE49-F238E27FC236}">
                <a16:creationId xmlns:a16="http://schemas.microsoft.com/office/drawing/2014/main" id="{26E06E2D-0109-40F8-BE7E-D52ADAA5FAB8}"/>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E601829C-5A93-4249-A2C2-37FC28960E7A}"/>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1F3A7A6-EFF2-456C-A667-43CE65DFAFAC}"/>
              </a:ext>
            </a:extLst>
          </p:cNvPr>
          <p:cNvSpPr>
            <a:spLocks xmlns:a="http://schemas.openxmlformats.org/drawingml/2006/main" noGrp="1"/>
          </p:cNvSpPr>
          <p:nvPr/>
        </p:nvSpPr>
        <p:spPr>
          <a:xfrm xmlns:a="http://schemas.openxmlformats.org/drawingml/2006/main">
            <a:off x="619125" y="17145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E41"/>
                </a:solidFill>
                <a:latin typeface="Cambria"/>
                <a:ea typeface="Cambria"/>
                <a:cs typeface="Cambria"/>
              </a:defRPr>
            </a:defPPr>
          </a:lstStyle>
          <a:p xmlns:a="http://schemas.openxmlformats.org/drawingml/2006/main">
            <a:pPr>
              <a:defRPr sz="2175" b="0">
                <a:solidFill>
                  <a:srgbClr val="344E41"/>
                </a:solidFill>
                <a:latin typeface="Cambria"/>
                <a:ea typeface="Cambria"/>
                <a:cs typeface="Cambria"/>
              </a:defRPr>
            </a:pPr>
            <a:r>
              <a:rPr sz="2175" b="0">
                <a:solidFill>
                  <a:srgbClr val="344E41"/>
                </a:solidFill>
                <a:latin typeface="Cambria"/>
                <a:ea typeface="Cambria"/>
                <a:cs typeface="Cambria"/>
              </a:rPr>
              <a:t>qₜ = σ(Wq xₜ + Uq hₜ₋₁ + bq),  q ∈ {f, i, o}</a:t>
            </a:r>
          </a:p>
        </p:txBody>
      </p:sp>
      <p:sp>
        <p:nvSpPr>
          <p:cNvPr id="6" name="">
            <a:extLst xmlns:a="http://schemas.openxmlformats.org/drawingml/2006/main">
              <a:ext uri="{FF2B5EF4-FFF2-40B4-BE49-F238E27FC236}">
                <a16:creationId xmlns:a16="http://schemas.microsoft.com/office/drawing/2014/main" id="{606A2D41-D386-42CA-BD66-577F01C819A8}"/>
              </a:ext>
            </a:extLst>
          </p:cNvPr>
          <p:cNvSpPr>
            <a:spLocks xmlns:a="http://schemas.openxmlformats.org/drawingml/2006/main" noGrp="1"/>
          </p:cNvSpPr>
          <p:nvPr/>
        </p:nvSpPr>
        <p:spPr>
          <a:xfrm xmlns:a="http://schemas.openxmlformats.org/drawingml/2006/main">
            <a:off x="8953500" y="179070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Forget, input, output gates</a:t>
            </a:r>
          </a:p>
        </p:txBody>
      </p:sp>
      <p:sp>
        <p:nvSpPr>
          <p:cNvPr id="7" name="">
            <a:extLst xmlns:a="http://schemas.openxmlformats.org/drawingml/2006/main">
              <a:ext uri="{FF2B5EF4-FFF2-40B4-BE49-F238E27FC236}">
                <a16:creationId xmlns:a16="http://schemas.microsoft.com/office/drawing/2014/main" id="{BD75671D-5F19-45ED-8857-463CBFC07C94}"/>
              </a:ext>
            </a:extLst>
          </p:cNvPr>
          <p:cNvSpPr>
            <a:spLocks xmlns:a="http://schemas.openxmlformats.org/drawingml/2006/main" noGrp="1"/>
          </p:cNvSpPr>
          <p:nvPr/>
        </p:nvSpPr>
        <p:spPr>
          <a:xfrm xmlns:a="http://schemas.openxmlformats.org/drawingml/2006/main">
            <a:off x="619125" y="24574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E41"/>
                </a:solidFill>
                <a:latin typeface="Cambria"/>
                <a:ea typeface="Cambria"/>
                <a:cs typeface="Cambria"/>
              </a:defRPr>
            </a:defPPr>
          </a:lstStyle>
          <a:p xmlns:a="http://schemas.openxmlformats.org/drawingml/2006/main">
            <a:pPr>
              <a:defRPr sz="2175" b="0">
                <a:solidFill>
                  <a:srgbClr val="344E41"/>
                </a:solidFill>
                <a:latin typeface="Cambria"/>
                <a:ea typeface="Cambria"/>
                <a:cs typeface="Cambria"/>
              </a:defRPr>
            </a:pPr>
            <a:r>
              <a:rPr sz="2175" b="0">
                <a:solidFill>
                  <a:srgbClr val="344E41"/>
                </a:solidFill>
                <a:latin typeface="Cambria"/>
                <a:ea typeface="Cambria"/>
                <a:cs typeface="Cambria"/>
              </a:rPr>
              <a:t>gₜ = tanh(Wg xₜ + Ug hₜ₋₁ + bg)</a:t>
            </a:r>
          </a:p>
        </p:txBody>
      </p:sp>
      <p:sp>
        <p:nvSpPr>
          <p:cNvPr id="8" name="">
            <a:extLst xmlns:a="http://schemas.openxmlformats.org/drawingml/2006/main">
              <a:ext uri="{FF2B5EF4-FFF2-40B4-BE49-F238E27FC236}">
                <a16:creationId xmlns:a16="http://schemas.microsoft.com/office/drawing/2014/main" id="{6E7CD6FC-8973-403F-A4E2-38CF69E95A17}"/>
              </a:ext>
            </a:extLst>
          </p:cNvPr>
          <p:cNvSpPr>
            <a:spLocks xmlns:a="http://schemas.openxmlformats.org/drawingml/2006/main" noGrp="1"/>
          </p:cNvSpPr>
          <p:nvPr/>
        </p:nvSpPr>
        <p:spPr>
          <a:xfrm xmlns:a="http://schemas.openxmlformats.org/drawingml/2006/main">
            <a:off x="8953500" y="253365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Candidate memory</a:t>
            </a:r>
          </a:p>
        </p:txBody>
      </p:sp>
      <p:sp>
        <p:nvSpPr>
          <p:cNvPr id="9" name="">
            <a:extLst xmlns:a="http://schemas.openxmlformats.org/drawingml/2006/main">
              <a:ext uri="{FF2B5EF4-FFF2-40B4-BE49-F238E27FC236}">
                <a16:creationId xmlns:a16="http://schemas.microsoft.com/office/drawing/2014/main" id="{44A69EC6-88E1-4925-9FD9-67A3DAB0E941}"/>
              </a:ext>
            </a:extLst>
          </p:cNvPr>
          <p:cNvSpPr>
            <a:spLocks xmlns:a="http://schemas.openxmlformats.org/drawingml/2006/main" noGrp="1"/>
          </p:cNvSpPr>
          <p:nvPr/>
        </p:nvSpPr>
        <p:spPr>
          <a:xfrm xmlns:a="http://schemas.openxmlformats.org/drawingml/2006/main">
            <a:off x="619125" y="32004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E41"/>
                </a:solidFill>
                <a:latin typeface="Cambria"/>
                <a:ea typeface="Cambria"/>
                <a:cs typeface="Cambria"/>
              </a:defRPr>
            </a:defPPr>
          </a:lstStyle>
          <a:p xmlns:a="http://schemas.openxmlformats.org/drawingml/2006/main">
            <a:pPr>
              <a:defRPr sz="2175" b="0">
                <a:solidFill>
                  <a:srgbClr val="344E41"/>
                </a:solidFill>
                <a:latin typeface="Cambria"/>
                <a:ea typeface="Cambria"/>
                <a:cs typeface="Cambria"/>
              </a:defRPr>
            </a:pPr>
            <a:r>
              <a:rPr sz="2175" b="0">
                <a:solidFill>
                  <a:srgbClr val="344E41"/>
                </a:solidFill>
                <a:latin typeface="Cambria"/>
                <a:ea typeface="Cambria"/>
                <a:cs typeface="Cambria"/>
              </a:rPr>
              <a:t>cₜ = fₜ ⊙ cₜ₋₁ + iₜ ⊙ gₜ</a:t>
            </a:r>
          </a:p>
        </p:txBody>
      </p:sp>
      <p:sp>
        <p:nvSpPr>
          <p:cNvPr id="10" name="">
            <a:extLst xmlns:a="http://schemas.openxmlformats.org/drawingml/2006/main">
              <a:ext uri="{FF2B5EF4-FFF2-40B4-BE49-F238E27FC236}">
                <a16:creationId xmlns:a16="http://schemas.microsoft.com/office/drawing/2014/main" id="{8ABBF29E-883A-4CB6-93B9-37E85CEA7572}"/>
              </a:ext>
            </a:extLst>
          </p:cNvPr>
          <p:cNvSpPr>
            <a:spLocks xmlns:a="http://schemas.openxmlformats.org/drawingml/2006/main" noGrp="1"/>
          </p:cNvSpPr>
          <p:nvPr/>
        </p:nvSpPr>
        <p:spPr>
          <a:xfrm xmlns:a="http://schemas.openxmlformats.org/drawingml/2006/main">
            <a:off x="8953500" y="327660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Cell update</a:t>
            </a:r>
          </a:p>
        </p:txBody>
      </p:sp>
      <p:sp>
        <p:nvSpPr>
          <p:cNvPr id="11" name="">
            <a:extLst xmlns:a="http://schemas.openxmlformats.org/drawingml/2006/main">
              <a:ext uri="{FF2B5EF4-FFF2-40B4-BE49-F238E27FC236}">
                <a16:creationId xmlns:a16="http://schemas.microsoft.com/office/drawing/2014/main" id="{44A4CC20-0AB8-4954-A999-6FC8D47041A9}"/>
              </a:ext>
            </a:extLst>
          </p:cNvPr>
          <p:cNvSpPr>
            <a:spLocks xmlns:a="http://schemas.openxmlformats.org/drawingml/2006/main" noGrp="1"/>
          </p:cNvSpPr>
          <p:nvPr/>
        </p:nvSpPr>
        <p:spPr>
          <a:xfrm xmlns:a="http://schemas.openxmlformats.org/drawingml/2006/main">
            <a:off x="619125" y="39433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E41"/>
                </a:solidFill>
                <a:latin typeface="Cambria"/>
                <a:ea typeface="Cambria"/>
                <a:cs typeface="Cambria"/>
              </a:defRPr>
            </a:defPPr>
          </a:lstStyle>
          <a:p xmlns:a="http://schemas.openxmlformats.org/drawingml/2006/main">
            <a:pPr>
              <a:defRPr sz="2175" b="0">
                <a:solidFill>
                  <a:srgbClr val="344E41"/>
                </a:solidFill>
                <a:latin typeface="Cambria"/>
                <a:ea typeface="Cambria"/>
                <a:cs typeface="Cambria"/>
              </a:defRPr>
            </a:pPr>
            <a:r>
              <a:rPr sz="2175" b="0">
                <a:solidFill>
                  <a:srgbClr val="344E41"/>
                </a:solidFill>
                <a:latin typeface="Cambria"/>
                <a:ea typeface="Cambria"/>
                <a:cs typeface="Cambria"/>
              </a:rPr>
              <a:t>hₜ = oₜ ⊙ tanh(cₜ)</a:t>
            </a:r>
          </a:p>
        </p:txBody>
      </p:sp>
      <p:sp>
        <p:nvSpPr>
          <p:cNvPr id="12" name="">
            <a:extLst xmlns:a="http://schemas.openxmlformats.org/drawingml/2006/main">
              <a:ext uri="{FF2B5EF4-FFF2-40B4-BE49-F238E27FC236}">
                <a16:creationId xmlns:a16="http://schemas.microsoft.com/office/drawing/2014/main" id="{9528B904-76AA-44D1-8E14-3065155BFB35}"/>
              </a:ext>
            </a:extLst>
          </p:cNvPr>
          <p:cNvSpPr>
            <a:spLocks xmlns:a="http://schemas.openxmlformats.org/drawingml/2006/main" noGrp="1"/>
          </p:cNvSpPr>
          <p:nvPr/>
        </p:nvSpPr>
        <p:spPr>
          <a:xfrm xmlns:a="http://schemas.openxmlformats.org/drawingml/2006/main">
            <a:off x="8953500" y="401955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Hidden state</a:t>
            </a:r>
          </a:p>
        </p:txBody>
      </p:sp>
      <p:sp>
        <p:nvSpPr>
          <p:cNvPr id="13" name="">
            <a:extLst xmlns:a="http://schemas.openxmlformats.org/drawingml/2006/main">
              <a:ext uri="{FF2B5EF4-FFF2-40B4-BE49-F238E27FC236}">
                <a16:creationId xmlns:a16="http://schemas.microsoft.com/office/drawing/2014/main" id="{5A505A0C-3990-429F-AF4C-35FDC217208E}"/>
              </a:ext>
            </a:extLst>
          </p:cNvPr>
          <p:cNvSpPr>
            <a:spLocks xmlns:a="http://schemas.openxmlformats.org/drawingml/2006/main" noGrp="1"/>
          </p:cNvSpPr>
          <p:nvPr/>
        </p:nvSpPr>
        <p:spPr>
          <a:xfrm xmlns:a="http://schemas.openxmlformats.org/drawingml/2006/main">
            <a:off x="619125" y="46863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E41"/>
                </a:solidFill>
                <a:latin typeface="Cambria"/>
                <a:ea typeface="Cambria"/>
                <a:cs typeface="Cambria"/>
              </a:defRPr>
            </a:defPPr>
          </a:lstStyle>
          <a:p xmlns:a="http://schemas.openxmlformats.org/drawingml/2006/main">
            <a:pPr>
              <a:defRPr sz="2175" b="0">
                <a:solidFill>
                  <a:srgbClr val="344E41"/>
                </a:solidFill>
                <a:latin typeface="Cambria"/>
                <a:ea typeface="Cambria"/>
                <a:cs typeface="Cambria"/>
              </a:defRPr>
            </a:pPr>
            <a:r>
              <a:rPr sz="2175" b="0">
                <a:solidFill>
                  <a:srgbClr val="344E41"/>
                </a:solidFill>
                <a:latin typeface="Cambria"/>
                <a:ea typeface="Cambria"/>
                <a:cs typeface="Cambria"/>
              </a:rPr>
              <a:t>hBi = concat(hforward, hreverse)</a:t>
            </a:r>
          </a:p>
        </p:txBody>
      </p:sp>
      <p:sp>
        <p:nvSpPr>
          <p:cNvPr id="14" name="">
            <a:extLst xmlns:a="http://schemas.openxmlformats.org/drawingml/2006/main">
              <a:ext uri="{FF2B5EF4-FFF2-40B4-BE49-F238E27FC236}">
                <a16:creationId xmlns:a16="http://schemas.microsoft.com/office/drawing/2014/main" id="{C520751E-BEFF-44EF-AA24-53810D0AB2D6}"/>
              </a:ext>
            </a:extLst>
          </p:cNvPr>
          <p:cNvSpPr>
            <a:spLocks xmlns:a="http://schemas.openxmlformats.org/drawingml/2006/main" noGrp="1"/>
          </p:cNvSpPr>
          <p:nvPr/>
        </p:nvSpPr>
        <p:spPr>
          <a:xfrm xmlns:a="http://schemas.openxmlformats.org/drawingml/2006/main">
            <a:off x="8953500" y="476250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Bi-LSTM terminal states</a:t>
            </a:r>
          </a:p>
        </p:txBody>
      </p:sp>
      <p:sp>
        <p:nvSpPr>
          <p:cNvPr id="15" name="">
            <a:extLst xmlns:a="http://schemas.openxmlformats.org/drawingml/2006/main">
              <a:ext uri="{FF2B5EF4-FFF2-40B4-BE49-F238E27FC236}">
                <a16:creationId xmlns:a16="http://schemas.microsoft.com/office/drawing/2014/main" id="{511B5DF4-1027-4BCD-BDE8-E9F49CB8FA27}"/>
              </a:ext>
            </a:extLst>
          </p:cNvPr>
          <p:cNvSpPr>
            <a:spLocks xmlns:a="http://schemas.openxmlformats.org/drawingml/2006/main" noGrp="1"/>
          </p:cNvSpPr>
          <p:nvPr/>
        </p:nvSpPr>
        <p:spPr>
          <a:xfrm xmlns:a="http://schemas.openxmlformats.org/drawingml/2006/main">
            <a:off x="619125" y="56483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456052"/>
                </a:solidFill>
                <a:latin typeface="Arial"/>
                <a:ea typeface="Arial"/>
                <a:cs typeface="Arial"/>
              </a:defRPr>
            </a:defPPr>
          </a:lstStyle>
          <a:p xmlns:a="http://schemas.openxmlformats.org/drawingml/2006/main">
            <a:pPr>
              <a:defRPr sz="1650" b="0">
                <a:solidFill>
                  <a:srgbClr val="456052"/>
                </a:solidFill>
                <a:latin typeface="Arial"/>
                <a:ea typeface="Arial"/>
                <a:cs typeface="Arial"/>
              </a:defRPr>
            </a:pPr>
            <a:r>
              <a:rPr sz="1650" b="0">
                <a:solidFill>
                  <a:srgbClr val="456052"/>
                </a:solidFill>
                <a:latin typeface="Arial"/>
                <a:ea typeface="Arial"/>
                <a:cs typeface="Arial"/>
              </a:rPr>
              <a:t>Both directions read only the observed prefix. σ is sigmoid and ⊙ is element-wise multiplication.</a:t>
            </a:r>
          </a:p>
        </p:txBody>
      </p:sp>
    </p:spTree>
    <p:extLst>
      <p:ext uri="{BB962C8B-B14F-4D97-AF65-F5344CB8AC3E}">
        <p14:creationId xmlns:p14="http://schemas.microsoft.com/office/powerpoint/2010/main" val="2132546750"/>
      </p:ext>
    </p:extLst>
  </p:cSld>
</p:sld>
</file>

<file path=ppt/slides/slide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69268D-5F60-4F6E-833C-2BDAA3B0F189}"/>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19B5B0-B66D-4A2C-8FF2-30CD478E3D1D}"/>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GATED WORD–CHARACTER CNN</a:t>
            </a:r>
          </a:p>
        </p:txBody>
      </p:sp>
      <p:sp>
        <p:nvSpPr>
          <p:cNvPr id="3" name="">
            <a:extLst xmlns:a="http://schemas.openxmlformats.org/drawingml/2006/main">
              <a:ext uri="{FF2B5EF4-FFF2-40B4-BE49-F238E27FC236}">
                <a16:creationId xmlns:a16="http://schemas.microsoft.com/office/drawing/2014/main" id="{58D29F79-8DBB-4FD3-B290-F0A15D2EE616}"/>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Proposed contribution: combine word identity with Telugu spelling features.</a:t>
            </a:r>
          </a:p>
        </p:txBody>
      </p:sp>
      <p:sp>
        <p:nvSpPr>
          <p:cNvPr id="4" name="">
            <a:extLst xmlns:a="http://schemas.openxmlformats.org/drawingml/2006/main">
              <a:ext uri="{FF2B5EF4-FFF2-40B4-BE49-F238E27FC236}">
                <a16:creationId xmlns:a16="http://schemas.microsoft.com/office/drawing/2014/main" id="{EB99C0DB-810D-4500-8FEC-6D85DF13F3FE}"/>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09CB5E0D-DBF0-44B1-8385-E672786C72E6}"/>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940C7237-136E-498D-AD49-4E473AC44F80}"/>
              </a:ext>
            </a:extLst>
          </p:cNvPr>
          <p:cNvSpPr>
            <a:spLocks xmlns:a="http://schemas.openxmlformats.org/drawingml/2006/main" noGrp="1"/>
          </p:cNvSpPr>
          <p:nvPr/>
        </p:nvSpPr>
        <p:spPr>
          <a:xfrm xmlns:a="http://schemas.openxmlformats.org/drawingml/2006/main">
            <a:off x="619125" y="19526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344E41"/>
                </a:solidFill>
                <a:latin typeface="Cambria"/>
                <a:ea typeface="Cambria"/>
                <a:cs typeface="Cambria"/>
              </a:defRPr>
            </a:defPPr>
          </a:lstStyle>
          <a:p xmlns:a="http://schemas.openxmlformats.org/drawingml/2006/main">
            <a:pPr>
              <a:defRPr sz="2325" b="0">
                <a:solidFill>
                  <a:srgbClr val="344E41"/>
                </a:solidFill>
                <a:latin typeface="Cambria"/>
                <a:ea typeface="Cambria"/>
                <a:cs typeface="Cambria"/>
              </a:defRPr>
            </a:pPr>
            <a:r>
              <a:rPr sz="2325" b="0">
                <a:solidFill>
                  <a:srgbClr val="344E41"/>
                </a:solidFill>
                <a:latin typeface="Cambria"/>
                <a:ea typeface="Cambria"/>
                <a:cs typeface="Cambria"/>
              </a:rPr>
              <a:t>c = MaxPool(ReLU(Conv(CharEmbed(word))))</a:t>
            </a:r>
          </a:p>
        </p:txBody>
      </p:sp>
      <p:sp>
        <p:nvSpPr>
          <p:cNvPr id="7" name="">
            <a:extLst xmlns:a="http://schemas.openxmlformats.org/drawingml/2006/main">
              <a:ext uri="{FF2B5EF4-FFF2-40B4-BE49-F238E27FC236}">
                <a16:creationId xmlns:a16="http://schemas.microsoft.com/office/drawing/2014/main" id="{8F4A34A0-BAD0-42E2-92F5-29C03F722706}"/>
              </a:ext>
            </a:extLst>
          </p:cNvPr>
          <p:cNvSpPr>
            <a:spLocks xmlns:a="http://schemas.openxmlformats.org/drawingml/2006/main" noGrp="1"/>
          </p:cNvSpPr>
          <p:nvPr/>
        </p:nvSpPr>
        <p:spPr>
          <a:xfrm xmlns:a="http://schemas.openxmlformats.org/drawingml/2006/main">
            <a:off x="619125" y="2762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344E41"/>
                </a:solidFill>
                <a:latin typeface="Cambria"/>
                <a:ea typeface="Cambria"/>
                <a:cs typeface="Cambria"/>
              </a:defRPr>
            </a:defPPr>
          </a:lstStyle>
          <a:p xmlns:a="http://schemas.openxmlformats.org/drawingml/2006/main">
            <a:pPr>
              <a:defRPr sz="2475" b="0">
                <a:solidFill>
                  <a:srgbClr val="344E41"/>
                </a:solidFill>
                <a:latin typeface="Cambria"/>
                <a:ea typeface="Cambria"/>
                <a:cs typeface="Cambria"/>
              </a:defRPr>
            </a:pPr>
            <a:r>
              <a:rPr sz="2475" b="0">
                <a:solidFill>
                  <a:srgbClr val="344E41"/>
                </a:solidFill>
                <a:latin typeface="Cambria"/>
                <a:ea typeface="Cambria"/>
                <a:cs typeface="Cambria"/>
              </a:rPr>
              <a:t>g = σ(Wg [e ; c] + bg)</a:t>
            </a:r>
          </a:p>
        </p:txBody>
      </p:sp>
      <p:sp>
        <p:nvSpPr>
          <p:cNvPr id="8" name="">
            <a:extLst xmlns:a="http://schemas.openxmlformats.org/drawingml/2006/main">
              <a:ext uri="{FF2B5EF4-FFF2-40B4-BE49-F238E27FC236}">
                <a16:creationId xmlns:a16="http://schemas.microsoft.com/office/drawing/2014/main" id="{BB16504E-998B-4E00-9E76-47BDA5292B69}"/>
              </a:ext>
            </a:extLst>
          </p:cNvPr>
          <p:cNvSpPr>
            <a:spLocks xmlns:a="http://schemas.openxmlformats.org/drawingml/2006/main" noGrp="1"/>
          </p:cNvSpPr>
          <p:nvPr/>
        </p:nvSpPr>
        <p:spPr>
          <a:xfrm xmlns:a="http://schemas.openxmlformats.org/drawingml/2006/main">
            <a:off x="619125" y="35718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344E41"/>
                </a:solidFill>
                <a:latin typeface="Cambria"/>
                <a:ea typeface="Cambria"/>
                <a:cs typeface="Cambria"/>
              </a:defRPr>
            </a:defPPr>
          </a:lstStyle>
          <a:p xmlns:a="http://schemas.openxmlformats.org/drawingml/2006/main">
            <a:pPr>
              <a:defRPr sz="2475" b="0">
                <a:solidFill>
                  <a:srgbClr val="344E41"/>
                </a:solidFill>
                <a:latin typeface="Cambria"/>
                <a:ea typeface="Cambria"/>
                <a:cs typeface="Cambria"/>
              </a:defRPr>
            </a:pPr>
            <a:r>
              <a:rPr sz="2475" b="0">
                <a:solidFill>
                  <a:srgbClr val="344E41"/>
                </a:solidFill>
                <a:latin typeface="Cambria"/>
                <a:ea typeface="Cambria"/>
                <a:cs typeface="Cambria"/>
              </a:rPr>
              <a:t>fused = g ⊙ e + (1 − g) ⊙ c</a:t>
            </a:r>
          </a:p>
        </p:txBody>
      </p:sp>
      <p:sp>
        <p:nvSpPr>
          <p:cNvPr id="9" name="">
            <a:extLst xmlns:a="http://schemas.openxmlformats.org/drawingml/2006/main">
              <a:ext uri="{FF2B5EF4-FFF2-40B4-BE49-F238E27FC236}">
                <a16:creationId xmlns:a16="http://schemas.microsoft.com/office/drawing/2014/main" id="{07AEB625-EB0A-4B7B-A4D7-2B72316CE914}"/>
              </a:ext>
            </a:extLst>
          </p:cNvPr>
          <p:cNvSpPr>
            <a:spLocks xmlns:a="http://schemas.openxmlformats.org/drawingml/2006/main" noGrp="1"/>
          </p:cNvSpPr>
          <p:nvPr/>
        </p:nvSpPr>
        <p:spPr>
          <a:xfrm xmlns:a="http://schemas.openxmlformats.org/drawingml/2006/main">
            <a:off x="619125" y="4381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344E41"/>
                </a:solidFill>
                <a:latin typeface="Cambria"/>
                <a:ea typeface="Cambria"/>
                <a:cs typeface="Cambria"/>
              </a:defRPr>
            </a:defPPr>
          </a:lstStyle>
          <a:p xmlns:a="http://schemas.openxmlformats.org/drawingml/2006/main">
            <a:pPr>
              <a:defRPr sz="2325" b="0">
                <a:solidFill>
                  <a:srgbClr val="344E41"/>
                </a:solidFill>
                <a:latin typeface="Cambria"/>
                <a:ea typeface="Cambria"/>
                <a:cs typeface="Cambria"/>
              </a:defRPr>
            </a:pPr>
            <a:r>
              <a:rPr sz="2325" b="0">
                <a:solidFill>
                  <a:srgbClr val="344E41"/>
                </a:solidFill>
                <a:latin typeface="Cambria"/>
                <a:ea typeface="Cambria"/>
                <a:cs typeface="Cambria"/>
              </a:rPr>
              <a:t>Causal block: h′ = (h + v ⊙ σ(u)) / √2</a:t>
            </a:r>
          </a:p>
        </p:txBody>
      </p:sp>
      <p:sp>
        <p:nvSpPr>
          <p:cNvPr id="10" name="">
            <a:extLst xmlns:a="http://schemas.openxmlformats.org/drawingml/2006/main">
              <a:ext uri="{FF2B5EF4-FFF2-40B4-BE49-F238E27FC236}">
                <a16:creationId xmlns:a16="http://schemas.microsoft.com/office/drawing/2014/main" id="{66320ED7-0C0F-49B8-B3B2-B7960DB1FA0A}"/>
              </a:ext>
            </a:extLst>
          </p:cNvPr>
          <p:cNvSpPr>
            <a:spLocks xmlns:a="http://schemas.openxmlformats.org/drawingml/2006/main" noGrp="1"/>
          </p:cNvSpPr>
          <p:nvPr/>
        </p:nvSpPr>
        <p:spPr>
          <a:xfrm xmlns:a="http://schemas.openxmlformats.org/drawingml/2006/main">
            <a:off x="619125" y="53340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e: word embedding   c: character features   g: learned fusion gate</a:t>
            </a:r>
          </a:p>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Training is underway. Accuracy gains and research novelty remain unproven.</a:t>
            </a:r>
          </a:p>
        </p:txBody>
      </p:sp>
    </p:spTree>
    <p:extLst>
      <p:ext uri="{BB962C8B-B14F-4D97-AF65-F5344CB8AC3E}">
        <p14:creationId xmlns:p14="http://schemas.microsoft.com/office/powerpoint/2010/main" val="1959998920"/>
      </p:ext>
    </p:extLst>
  </p:cSld>
</p:sld>
</file>

<file path=ppt/slides/slide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24F5B8-11EA-4B65-A5BF-D8571F7120B4}"/>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5E52EC-DA12-4C0B-A1F1-8D791B89381B}"/>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PREDICTION AND EVALUATION</a:t>
            </a:r>
          </a:p>
        </p:txBody>
      </p:sp>
      <p:sp>
        <p:nvSpPr>
          <p:cNvPr id="3" name="">
            <a:extLst xmlns:a="http://schemas.openxmlformats.org/drawingml/2006/main">
              <a:ext uri="{FF2B5EF4-FFF2-40B4-BE49-F238E27FC236}">
                <a16:creationId xmlns:a16="http://schemas.microsoft.com/office/drawing/2014/main" id="{03CC07F2-791D-4E5B-A1F9-4DD8FE0C921F}"/>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39BA08B9-71CC-4B07-B6DC-17AE36AB374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214E2DE-553D-478F-ABA8-5B82E057F9BB}"/>
              </a:ext>
            </a:extLst>
          </p:cNvPr>
          <p:cNvSpPr>
            <a:spLocks xmlns:a="http://schemas.openxmlformats.org/drawingml/2006/main" noGrp="1"/>
          </p:cNvSpPr>
          <p:nvPr/>
        </p:nvSpPr>
        <p:spPr>
          <a:xfrm xmlns:a="http://schemas.openxmlformats.org/drawingml/2006/main">
            <a:off x="619125" y="17335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344E41"/>
                </a:solidFill>
                <a:latin typeface="Cambria"/>
                <a:ea typeface="Cambria"/>
                <a:cs typeface="Cambria"/>
              </a:defRPr>
            </a:defPPr>
          </a:lstStyle>
          <a:p xmlns:a="http://schemas.openxmlformats.org/drawingml/2006/main">
            <a:pPr>
              <a:defRPr sz="2475" b="0">
                <a:solidFill>
                  <a:srgbClr val="344E41"/>
                </a:solidFill>
                <a:latin typeface="Cambria"/>
                <a:ea typeface="Cambria"/>
                <a:cs typeface="Cambria"/>
              </a:defRPr>
            </a:pPr>
            <a:r>
              <a:rPr sz="2475" b="0">
                <a:solidFill>
                  <a:srgbClr val="344E41"/>
                </a:solidFill>
                <a:latin typeface="Cambria"/>
                <a:ea typeface="Cambria"/>
                <a:cs typeface="Cambria"/>
              </a:rPr>
              <a:t>pⱼ = exp(zⱼ) / Σₖ exp(zₖ),   z = Wout h + bout</a:t>
            </a:r>
          </a:p>
        </p:txBody>
      </p:sp>
      <p:sp>
        <p:nvSpPr>
          <p:cNvPr id="6" name="">
            <a:extLst xmlns:a="http://schemas.openxmlformats.org/drawingml/2006/main">
              <a:ext uri="{FF2B5EF4-FFF2-40B4-BE49-F238E27FC236}">
                <a16:creationId xmlns:a16="http://schemas.microsoft.com/office/drawing/2014/main" id="{5500625A-1D83-4459-90C1-A6564F0FB2A0}"/>
              </a:ext>
            </a:extLst>
          </p:cNvPr>
          <p:cNvSpPr>
            <a:spLocks xmlns:a="http://schemas.openxmlformats.org/drawingml/2006/main" noGrp="1"/>
          </p:cNvSpPr>
          <p:nvPr/>
        </p:nvSpPr>
        <p:spPr>
          <a:xfrm xmlns:a="http://schemas.openxmlformats.org/drawingml/2006/main">
            <a:off x="619125" y="26670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0">
                <a:solidFill>
                  <a:srgbClr val="344E41"/>
                </a:solidFill>
                <a:latin typeface="Cambria"/>
                <a:ea typeface="Cambria"/>
                <a:cs typeface="Cambria"/>
              </a:defRPr>
            </a:defPPr>
          </a:lstStyle>
          <a:p xmlns:a="http://schemas.openxmlformats.org/drawingml/2006/main">
            <a:pPr>
              <a:defRPr sz="2625" b="0">
                <a:solidFill>
                  <a:srgbClr val="344E41"/>
                </a:solidFill>
                <a:latin typeface="Cambria"/>
                <a:ea typeface="Cambria"/>
                <a:cs typeface="Cambria"/>
              </a:defRPr>
            </a:pPr>
            <a:r>
              <a:rPr sz="2625" b="0">
                <a:solidFill>
                  <a:srgbClr val="344E41"/>
                </a:solidFill>
                <a:latin typeface="Cambria"/>
                <a:ea typeface="Cambria"/>
                <a:cs typeface="Cambria"/>
              </a:rPr>
              <a:t>LCE = −(1/N) Σₙ log p(yₙ | xₙ)</a:t>
            </a:r>
          </a:p>
        </p:txBody>
      </p:sp>
      <p:sp>
        <p:nvSpPr>
          <p:cNvPr id="7" name="">
            <a:extLst xmlns:a="http://schemas.openxmlformats.org/drawingml/2006/main">
              <a:ext uri="{FF2B5EF4-FFF2-40B4-BE49-F238E27FC236}">
                <a16:creationId xmlns:a16="http://schemas.microsoft.com/office/drawing/2014/main" id="{536356B7-41ED-420A-BD84-432C62B1F399}"/>
              </a:ext>
            </a:extLst>
          </p:cNvPr>
          <p:cNvSpPr>
            <a:spLocks xmlns:a="http://schemas.openxmlformats.org/drawingml/2006/main" noGrp="1"/>
          </p:cNvSpPr>
          <p:nvPr/>
        </p:nvSpPr>
        <p:spPr>
          <a:xfrm xmlns:a="http://schemas.openxmlformats.org/drawingml/2006/main">
            <a:off x="619125" y="36004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344E41"/>
                </a:solidFill>
                <a:latin typeface="Cambria"/>
                <a:ea typeface="Cambria"/>
                <a:cs typeface="Cambria"/>
              </a:defRPr>
            </a:defPPr>
          </a:lstStyle>
          <a:p xmlns:a="http://schemas.openxmlformats.org/drawingml/2006/main">
            <a:pPr>
              <a:defRPr sz="2475" b="0">
                <a:solidFill>
                  <a:srgbClr val="344E41"/>
                </a:solidFill>
                <a:latin typeface="Cambria"/>
                <a:ea typeface="Cambria"/>
                <a:cs typeface="Cambria"/>
              </a:defRPr>
            </a:pPr>
            <a:r>
              <a:rPr sz="2475" b="0">
                <a:solidFill>
                  <a:srgbClr val="344E41"/>
                </a:solidFill>
                <a:latin typeface="Cambria"/>
                <a:ea typeface="Cambria"/>
                <a:cs typeface="Cambria"/>
              </a:rPr>
              <a:t>Accuracy@k = (1/N) Σₙ 1{yₙ ∈ TopK(xₙ)}</a:t>
            </a:r>
          </a:p>
        </p:txBody>
      </p:sp>
      <p:sp>
        <p:nvSpPr>
          <p:cNvPr id="8" name="">
            <a:extLst xmlns:a="http://schemas.openxmlformats.org/drawingml/2006/main">
              <a:ext uri="{FF2B5EF4-FFF2-40B4-BE49-F238E27FC236}">
                <a16:creationId xmlns:a16="http://schemas.microsoft.com/office/drawing/2014/main" id="{6051919C-B8F0-485C-92E0-5AA6FE94D180}"/>
              </a:ext>
            </a:extLst>
          </p:cNvPr>
          <p:cNvSpPr>
            <a:spLocks xmlns:a="http://schemas.openxmlformats.org/drawingml/2006/main" noGrp="1"/>
          </p:cNvSpPr>
          <p:nvPr/>
        </p:nvSpPr>
        <p:spPr>
          <a:xfrm xmlns:a="http://schemas.openxmlformats.org/drawingml/2006/main">
            <a:off x="619125" y="45339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0">
                <a:solidFill>
                  <a:srgbClr val="344E41"/>
                </a:solidFill>
                <a:latin typeface="Cambria"/>
                <a:ea typeface="Cambria"/>
                <a:cs typeface="Cambria"/>
              </a:defRPr>
            </a:defPPr>
          </a:lstStyle>
          <a:p xmlns:a="http://schemas.openxmlformats.org/drawingml/2006/main">
            <a:pPr>
              <a:defRPr sz="2625" b="0">
                <a:solidFill>
                  <a:srgbClr val="344E41"/>
                </a:solidFill>
                <a:latin typeface="Cambria"/>
                <a:ea typeface="Cambria"/>
                <a:cs typeface="Cambria"/>
              </a:defRPr>
            </a:pPr>
            <a:r>
              <a:rPr sz="2625" b="0">
                <a:solidFill>
                  <a:srgbClr val="344E41"/>
                </a:solidFill>
                <a:latin typeface="Cambria"/>
                <a:ea typeface="Cambria"/>
                <a:cs typeface="Cambria"/>
              </a:rPr>
              <a:t>Perplexity = exp(LCE)</a:t>
            </a:r>
          </a:p>
        </p:txBody>
      </p:sp>
      <p:sp>
        <p:nvSpPr>
          <p:cNvPr id="9" name="">
            <a:extLst xmlns:a="http://schemas.openxmlformats.org/drawingml/2006/main">
              <a:ext uri="{FF2B5EF4-FFF2-40B4-BE49-F238E27FC236}">
                <a16:creationId xmlns:a16="http://schemas.microsoft.com/office/drawing/2014/main" id="{74FC622F-C171-463E-8553-FBE423ED6315}"/>
              </a:ext>
            </a:extLst>
          </p:cNvPr>
          <p:cNvSpPr>
            <a:spLocks xmlns:a="http://schemas.openxmlformats.org/drawingml/2006/main" noGrp="1"/>
          </p:cNvSpPr>
          <p:nvPr/>
        </p:nvSpPr>
        <p:spPr>
          <a:xfrm xmlns:a="http://schemas.openxmlformats.org/drawingml/2006/main">
            <a:off x="619125" y="54483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Higher accuracy and lower perplexity are better.</a:t>
            </a:r>
          </a:p>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7.21% of test targets are unknown words and count as accuracy misses.</a:t>
            </a:r>
          </a:p>
        </p:txBody>
      </p:sp>
    </p:spTree>
    <p:extLst>
      <p:ext uri="{BB962C8B-B14F-4D97-AF65-F5344CB8AC3E}">
        <p14:creationId xmlns:p14="http://schemas.microsoft.com/office/powerpoint/2010/main" val="1533917344"/>
      </p:ext>
    </p:extLst>
  </p:cSld>
</p:sld>
</file>

<file path=ppt/slides/slide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2A9F45-A733-4742-A192-2417405E2358}"/>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46B127-220B-4B55-8333-86F6FFFB2E53}"/>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VERIFIED TEST RESULTS</a:t>
            </a:r>
          </a:p>
        </p:txBody>
      </p:sp>
      <p:sp>
        <p:nvSpPr>
          <p:cNvPr id="3" name="">
            <a:extLst xmlns:a="http://schemas.openxmlformats.org/drawingml/2006/main">
              <a:ext uri="{FF2B5EF4-FFF2-40B4-BE49-F238E27FC236}">
                <a16:creationId xmlns:a16="http://schemas.microsoft.com/office/drawing/2014/main" id="{DF94CDC0-6AAD-4969-BF6F-5509256866BE}"/>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200,092 held-out examples. Both recurrent models completed five epochs.</a:t>
            </a:r>
          </a:p>
        </p:txBody>
      </p:sp>
      <p:sp>
        <p:nvSpPr>
          <p:cNvPr id="4" name="">
            <a:extLst xmlns:a="http://schemas.openxmlformats.org/drawingml/2006/main">
              <a:ext uri="{FF2B5EF4-FFF2-40B4-BE49-F238E27FC236}">
                <a16:creationId xmlns:a16="http://schemas.microsoft.com/office/drawing/2014/main" id="{2323DDBA-DAE9-421C-B745-CEFFF87F96BC}"/>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C3231813-E81A-4058-89CA-0A9E6E033A4B}"/>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11522DD3-976D-4079-9B4C-49F9AE694016}"/>
              </a:ext>
            </a:extLst>
          </p:cNvPr>
          <p:cNvGraphicFramePr/>
          <p:nvPr/>
        </p:nvGraphicFramePr>
        <p:xfrm>
          <a:off xmlns:a="http://schemas.openxmlformats.org/drawingml/2006/main" x="571500" y="1952625"/>
          <a:ext xmlns:a="http://schemas.openxmlformats.org/drawingml/2006/main" cx="11049000" cy="2952750"/>
        </p:xfrm>
        <a:graphic xmlns:a="http://schemas.openxmlformats.org/drawingml/2006/main">
          <a:graphicData uri="http://schemas.openxmlformats.org/drawingml/2006/table">
            <a:tbl>
              <a:tblPr firstRow="1" bandRow="0"/>
              <a:tblGrid>
                <a:gridCol w="4572000"/>
                <a:gridCol w="3238500"/>
                <a:gridCol w="3238500"/>
              </a:tblGrid>
              <a:tr h="590550">
                <a:tc>
                  <a:txBody>
                    <a:bodyPr/>
                    <a:lstStyle/>
                    <a:p>
                      <a:r>
                        <a:rPr sz="1875" b="1">
                          <a:solidFill>
                            <a:srgbClr val="FFFFFF"/>
                          </a:solidFill>
                          <a:latin typeface="Arial"/>
                          <a:ea typeface="Arial"/>
                          <a:cs typeface="Arial"/>
                        </a:rPr>
                        <a:t>Metric</a:t>
                      </a:r>
                    </a:p>
                  </a:txBody>
                  <a:tcPr marL="91440" marR="91440" marT="45720" marB="45720">
                    <a:solidFill>
                      <a:srgbClr val="344E41"/>
                    </a:solidFill>
                  </a:tcPr>
                </a:tc>
                <a:tc>
                  <a:txBody>
                    <a:bodyPr/>
                    <a:lstStyle/>
                    <a:p>
                      <a:r>
                        <a:rPr sz="1875" b="1">
                          <a:solidFill>
                            <a:srgbClr val="FFFFFF"/>
                          </a:solidFill>
                          <a:latin typeface="Arial"/>
                          <a:ea typeface="Arial"/>
                          <a:cs typeface="Arial"/>
                        </a:rPr>
                        <a:t>LSTM</a:t>
                      </a:r>
                    </a:p>
                  </a:txBody>
                  <a:tcPr marL="91440" marR="91440" marT="45720" marB="45720">
                    <a:solidFill>
                      <a:srgbClr val="344E41"/>
                    </a:solidFill>
                  </a:tcPr>
                </a:tc>
                <a:tc>
                  <a:txBody>
                    <a:bodyPr/>
                    <a:lstStyle/>
                    <a:p>
                      <a:r>
                        <a:rPr sz="1875" b="1">
                          <a:solidFill>
                            <a:srgbClr val="FFFFFF"/>
                          </a:solidFill>
                          <a:latin typeface="Arial"/>
                          <a:ea typeface="Arial"/>
                          <a:cs typeface="Arial"/>
                        </a:rPr>
                        <a:t>Bi-LSTM</a:t>
                      </a:r>
                    </a:p>
                  </a:txBody>
                  <a:tcPr marL="91440" marR="91440" marT="45720" marB="45720">
                    <a:solidFill>
                      <a:srgbClr val="344E41"/>
                    </a:solidFill>
                  </a:tcPr>
                </a:tc>
              </a:tr>
              <a:tr h="590550">
                <a:tc>
                  <a:txBody>
                    <a:bodyPr/>
                    <a:lstStyle/>
                    <a:p>
                      <a:r>
                        <a:rPr sz="1875" b="0">
                          <a:solidFill>
                            <a:srgbClr val="344E41"/>
                          </a:solidFill>
                          <a:latin typeface="Arial"/>
                          <a:ea typeface="Arial"/>
                          <a:cs typeface="Arial"/>
                        </a:rPr>
                        <a:t>Top-1 accuracy</a:t>
                      </a:r>
                    </a:p>
                  </a:txBody>
                  <a:tcPr marL="91440" marR="91440" marT="45720" marB="45720">
                    <a:solidFill>
                      <a:srgbClr val="E7E5DD"/>
                    </a:solidFill>
                  </a:tcPr>
                </a:tc>
                <a:tc>
                  <a:txBody>
                    <a:bodyPr/>
                    <a:lstStyle/>
                    <a:p>
                      <a:r>
                        <a:rPr sz="1875" b="0">
                          <a:solidFill>
                            <a:srgbClr val="344E41"/>
                          </a:solidFill>
                          <a:latin typeface="Arial"/>
                          <a:ea typeface="Arial"/>
                          <a:cs typeface="Arial"/>
                        </a:rPr>
                        <a:t>18.03%</a:t>
                      </a:r>
                    </a:p>
                  </a:txBody>
                  <a:tcPr marL="91440" marR="91440" marT="45720" marB="45720">
                    <a:solidFill>
                      <a:srgbClr val="E7E5DD"/>
                    </a:solidFill>
                  </a:tcPr>
                </a:tc>
                <a:tc>
                  <a:txBody>
                    <a:bodyPr/>
                    <a:lstStyle/>
                    <a:p>
                      <a:r>
                        <a:rPr sz="1875" b="0">
                          <a:solidFill>
                            <a:srgbClr val="344E41"/>
                          </a:solidFill>
                          <a:latin typeface="Arial"/>
                          <a:ea typeface="Arial"/>
                          <a:cs typeface="Arial"/>
                        </a:rPr>
                        <a:t>18.82%</a:t>
                      </a:r>
                    </a:p>
                  </a:txBody>
                  <a:tcPr marL="91440" marR="91440" marT="45720" marB="45720">
                    <a:solidFill>
                      <a:srgbClr val="E7E5DD"/>
                    </a:solidFill>
                  </a:tcPr>
                </a:tc>
              </a:tr>
              <a:tr h="590550">
                <a:tc>
                  <a:txBody>
                    <a:bodyPr/>
                    <a:lstStyle/>
                    <a:p>
                      <a:r>
                        <a:rPr sz="1875" b="0">
                          <a:solidFill>
                            <a:srgbClr val="344E41"/>
                          </a:solidFill>
                          <a:latin typeface="Arial"/>
                          <a:ea typeface="Arial"/>
                          <a:cs typeface="Arial"/>
                        </a:rPr>
                        <a:t>Top-3 accuracy</a:t>
                      </a:r>
                    </a:p>
                  </a:txBody>
                  <a:tcPr marL="91440" marR="91440" marT="45720" marB="45720">
                    <a:solidFill>
                      <a:srgbClr val="DAD7CD"/>
                    </a:solidFill>
                  </a:tcPr>
                </a:tc>
                <a:tc>
                  <a:txBody>
                    <a:bodyPr/>
                    <a:lstStyle/>
                    <a:p>
                      <a:r>
                        <a:rPr sz="1875" b="0">
                          <a:solidFill>
                            <a:srgbClr val="344E41"/>
                          </a:solidFill>
                          <a:latin typeface="Arial"/>
                          <a:ea typeface="Arial"/>
                          <a:cs typeface="Arial"/>
                        </a:rPr>
                        <a:t>28.78%</a:t>
                      </a:r>
                    </a:p>
                  </a:txBody>
                  <a:tcPr marL="91440" marR="91440" marT="45720" marB="45720">
                    <a:solidFill>
                      <a:srgbClr val="DAD7CD"/>
                    </a:solidFill>
                  </a:tcPr>
                </a:tc>
                <a:tc>
                  <a:txBody>
                    <a:bodyPr/>
                    <a:lstStyle/>
                    <a:p>
                      <a:r>
                        <a:rPr sz="1875" b="0">
                          <a:solidFill>
                            <a:srgbClr val="344E41"/>
                          </a:solidFill>
                          <a:latin typeface="Arial"/>
                          <a:ea typeface="Arial"/>
                          <a:cs typeface="Arial"/>
                        </a:rPr>
                        <a:t>29.79%</a:t>
                      </a:r>
                    </a:p>
                  </a:txBody>
                  <a:tcPr marL="91440" marR="91440" marT="45720" marB="45720">
                    <a:solidFill>
                      <a:srgbClr val="DAD7CD"/>
                    </a:solidFill>
                  </a:tcPr>
                </a:tc>
              </a:tr>
              <a:tr h="590550">
                <a:tc>
                  <a:txBody>
                    <a:bodyPr/>
                    <a:lstStyle/>
                    <a:p>
                      <a:r>
                        <a:rPr sz="1875" b="0">
                          <a:solidFill>
                            <a:srgbClr val="344E41"/>
                          </a:solidFill>
                          <a:latin typeface="Arial"/>
                          <a:ea typeface="Arial"/>
                          <a:cs typeface="Arial"/>
                        </a:rPr>
                        <a:t>Top-5 accuracy</a:t>
                      </a:r>
                    </a:p>
                  </a:txBody>
                  <a:tcPr marL="91440" marR="91440" marT="45720" marB="45720">
                    <a:solidFill>
                      <a:srgbClr val="E7E5DD"/>
                    </a:solidFill>
                  </a:tcPr>
                </a:tc>
                <a:tc>
                  <a:txBody>
                    <a:bodyPr/>
                    <a:lstStyle/>
                    <a:p>
                      <a:r>
                        <a:rPr sz="1875" b="0">
                          <a:solidFill>
                            <a:srgbClr val="344E41"/>
                          </a:solidFill>
                          <a:latin typeface="Arial"/>
                          <a:ea typeface="Arial"/>
                          <a:cs typeface="Arial"/>
                        </a:rPr>
                        <a:t>33.57%</a:t>
                      </a:r>
                    </a:p>
                  </a:txBody>
                  <a:tcPr marL="91440" marR="91440" marT="45720" marB="45720">
                    <a:solidFill>
                      <a:srgbClr val="E7E5DD"/>
                    </a:solidFill>
                  </a:tcPr>
                </a:tc>
                <a:tc>
                  <a:txBody>
                    <a:bodyPr/>
                    <a:lstStyle/>
                    <a:p>
                      <a:r>
                        <a:rPr sz="1875" b="0">
                          <a:solidFill>
                            <a:srgbClr val="344E41"/>
                          </a:solidFill>
                          <a:latin typeface="Arial"/>
                          <a:ea typeface="Arial"/>
                          <a:cs typeface="Arial"/>
                        </a:rPr>
                        <a:t>35.00%</a:t>
                      </a:r>
                    </a:p>
                  </a:txBody>
                  <a:tcPr marL="91440" marR="91440" marT="45720" marB="45720">
                    <a:solidFill>
                      <a:srgbClr val="E7E5DD"/>
                    </a:solidFill>
                  </a:tcPr>
                </a:tc>
              </a:tr>
              <a:tr h="590550">
                <a:tc>
                  <a:txBody>
                    <a:bodyPr/>
                    <a:lstStyle/>
                    <a:p>
                      <a:r>
                        <a:rPr sz="1875" b="0">
                          <a:solidFill>
                            <a:srgbClr val="344E41"/>
                          </a:solidFill>
                          <a:latin typeface="Arial"/>
                          <a:ea typeface="Arial"/>
                          <a:cs typeface="Arial"/>
                        </a:rPr>
                        <a:t>Perplexity</a:t>
                      </a:r>
                    </a:p>
                  </a:txBody>
                  <a:tcPr marL="91440" marR="91440" marT="45720" marB="45720">
                    <a:solidFill>
                      <a:srgbClr val="DAD7CD"/>
                    </a:solidFill>
                  </a:tcPr>
                </a:tc>
                <a:tc>
                  <a:txBody>
                    <a:bodyPr/>
                    <a:lstStyle/>
                    <a:p>
                      <a:r>
                        <a:rPr sz="1875" b="0">
                          <a:solidFill>
                            <a:srgbClr val="344E41"/>
                          </a:solidFill>
                          <a:latin typeface="Arial"/>
                          <a:ea typeface="Arial"/>
                          <a:cs typeface="Arial"/>
                        </a:rPr>
                        <a:t>199.02</a:t>
                      </a:r>
                    </a:p>
                  </a:txBody>
                  <a:tcPr marL="91440" marR="91440" marT="45720" marB="45720">
                    <a:solidFill>
                      <a:srgbClr val="DAD7CD"/>
                    </a:solidFill>
                  </a:tcPr>
                </a:tc>
                <a:tc>
                  <a:txBody>
                    <a:bodyPr/>
                    <a:lstStyle/>
                    <a:p>
                      <a:r>
                        <a:rPr sz="1875" b="0">
                          <a:solidFill>
                            <a:srgbClr val="344E41"/>
                          </a:solidFill>
                          <a:latin typeface="Arial"/>
                          <a:ea typeface="Arial"/>
                          <a:cs typeface="Arial"/>
                        </a:rPr>
                        <a:t>178.60</a:t>
                      </a:r>
                    </a:p>
                  </a:txBody>
                  <a:tcPr marL="91440" marR="91440" marT="45720" marB="45720">
                    <a:solidFill>
                      <a:srgbClr val="DAD7CD"/>
                    </a:solidFill>
                  </a:tcPr>
                </a:tc>
              </a:tr>
            </a:tbl>
          </a:graphicData>
        </a:graphic>
      </p:graphicFrame>
      <p:sp>
        <p:nvSpPr>
          <p:cNvPr id="7" name="">
            <a:extLst xmlns:a="http://schemas.openxmlformats.org/drawingml/2006/main">
              <a:ext uri="{FF2B5EF4-FFF2-40B4-BE49-F238E27FC236}">
                <a16:creationId xmlns:a16="http://schemas.microsoft.com/office/drawing/2014/main" id="{D0C06497-5DC5-4B86-873E-2ED15C3B3B91}"/>
              </a:ext>
            </a:extLst>
          </p:cNvPr>
          <p:cNvSpPr>
            <a:spLocks xmlns:a="http://schemas.openxmlformats.org/drawingml/2006/main" noGrp="1"/>
          </p:cNvSpPr>
          <p:nvPr/>
        </p:nvSpPr>
        <p:spPr>
          <a:xfrm xmlns:a="http://schemas.openxmlformats.org/drawingml/2006/main">
            <a:off x="571500" y="52197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344E41"/>
                </a:solidFill>
                <a:latin typeface="Arial"/>
                <a:ea typeface="Arial"/>
                <a:cs typeface="Arial"/>
              </a:defRPr>
            </a:defPPr>
          </a:lstStyle>
          <a:p xmlns:a="http://schemas.openxmlformats.org/drawingml/2006/main">
            <a:pPr>
              <a:defRPr sz="1950" b="1">
                <a:solidFill>
                  <a:srgbClr val="344E41"/>
                </a:solidFill>
                <a:latin typeface="Arial"/>
                <a:ea typeface="Arial"/>
                <a:cs typeface="Arial"/>
              </a:defRPr>
            </a:pPr>
            <a:r>
              <a:rPr sz="1950" b="1">
                <a:solidFill>
                  <a:srgbClr val="344E41"/>
                </a:solidFill>
                <a:latin typeface="Arial"/>
                <a:ea typeface="Arial"/>
                <a:cs typeface="Arial"/>
              </a:rPr>
              <a:t>Bi-LSTM leads LSTM by 0.80 percentage points in top-1 accuracy.</a:t>
            </a:r>
          </a:p>
        </p:txBody>
      </p:sp>
      <p:sp>
        <p:nvSpPr>
          <p:cNvPr id="8" name="">
            <a:extLst xmlns:a="http://schemas.openxmlformats.org/drawingml/2006/main">
              <a:ext uri="{FF2B5EF4-FFF2-40B4-BE49-F238E27FC236}">
                <a16:creationId xmlns:a16="http://schemas.microsoft.com/office/drawing/2014/main" id="{09728BBF-992C-4ED0-9548-FBB1BD8F220B}"/>
              </a:ext>
            </a:extLst>
          </p:cNvPr>
          <p:cNvSpPr>
            <a:spLocks xmlns:a="http://schemas.openxmlformats.org/drawingml/2006/main" noGrp="1"/>
          </p:cNvSpPr>
          <p:nvPr/>
        </p:nvSpPr>
        <p:spPr>
          <a:xfrm xmlns:a="http://schemas.openxmlformats.org/drawingml/2006/main">
            <a:off x="571500" y="57531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Single-seed results. CNN held-out results are pending.</a:t>
            </a:r>
          </a:p>
        </p:txBody>
      </p:sp>
    </p:spTree>
    <p:extLst>
      <p:ext uri="{BB962C8B-B14F-4D97-AF65-F5344CB8AC3E}">
        <p14:creationId xmlns:p14="http://schemas.microsoft.com/office/powerpoint/2010/main" val="1341088704"/>
      </p:ext>
    </p:extLst>
  </p:cSld>
</p:sld>
</file>

<file path=ppt/slides/slide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D5E20E-C8A4-4984-8984-EA1E05BAEFB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5DA879-9458-464D-BA51-2AEA7832536D}"/>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PROJECT STATUS AND NEXT VALIDATION</a:t>
            </a:r>
          </a:p>
        </p:txBody>
      </p:sp>
      <p:sp>
        <p:nvSpPr>
          <p:cNvPr id="3" name="">
            <a:extLst xmlns:a="http://schemas.openxmlformats.org/drawingml/2006/main">
              <a:ext uri="{FF2B5EF4-FFF2-40B4-BE49-F238E27FC236}">
                <a16:creationId xmlns:a16="http://schemas.microsoft.com/office/drawing/2014/main" id="{EFF4C4C2-6D98-434F-8259-22AE12D5D24D}"/>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9E5973F9-6631-4E88-A8C0-E63FBE553423}"/>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3CCAB636-C6E6-41E8-AD52-0CCF5DFDA915}"/>
              </a:ext>
            </a:extLst>
          </p:cNvPr>
          <p:cNvGraphicFramePr/>
          <p:nvPr/>
        </p:nvGraphicFramePr>
        <p:xfrm>
          <a:off xmlns:a="http://schemas.openxmlformats.org/drawingml/2006/main" x="571500" y="1714500"/>
          <a:ext xmlns:a="http://schemas.openxmlformats.org/drawingml/2006/main" cx="11049000" cy="2857500"/>
        </p:xfrm>
        <a:graphic xmlns:a="http://schemas.openxmlformats.org/drawingml/2006/main">
          <a:graphicData uri="http://schemas.openxmlformats.org/drawingml/2006/table">
            <a:tbl>
              <a:tblPr firstRow="1" bandRow="0"/>
              <a:tblGrid>
                <a:gridCol w="3810000"/>
                <a:gridCol w="7239000"/>
              </a:tblGrid>
              <a:tr h="571500">
                <a:tc>
                  <a:txBody>
                    <a:bodyPr/>
                    <a:lstStyle/>
                    <a:p>
                      <a:r>
                        <a:rPr sz="1800" b="1">
                          <a:solidFill>
                            <a:srgbClr val="FFFFFF"/>
                          </a:solidFill>
                          <a:latin typeface="Arial"/>
                          <a:ea typeface="Arial"/>
                          <a:cs typeface="Arial"/>
                        </a:rPr>
                        <a:t>Component</a:t>
                      </a:r>
                    </a:p>
                  </a:txBody>
                  <a:tcPr marL="91440" marR="91440" marT="45720" marB="45720">
                    <a:solidFill>
                      <a:srgbClr val="344E41"/>
                    </a:solidFill>
                  </a:tcPr>
                </a:tc>
                <a:tc>
                  <a:txBody>
                    <a:bodyPr/>
                    <a:lstStyle/>
                    <a:p>
                      <a:r>
                        <a:rPr sz="1800" b="1">
                          <a:solidFill>
                            <a:srgbClr val="FFFFFF"/>
                          </a:solidFill>
                          <a:latin typeface="Arial"/>
                          <a:ea typeface="Arial"/>
                          <a:cs typeface="Arial"/>
                        </a:rPr>
                        <a:t>Latest recorded status</a:t>
                      </a:r>
                    </a:p>
                  </a:txBody>
                  <a:tcPr marL="91440" marR="91440" marT="45720" marB="45720">
                    <a:solidFill>
                      <a:srgbClr val="344E41"/>
                    </a:solidFill>
                  </a:tcPr>
                </a:tc>
              </a:tr>
              <a:tr h="571500">
                <a:tc>
                  <a:txBody>
                    <a:bodyPr/>
                    <a:lstStyle/>
                    <a:p>
                      <a:r>
                        <a:rPr sz="1800" b="0">
                          <a:solidFill>
                            <a:srgbClr val="344E41"/>
                          </a:solidFill>
                          <a:latin typeface="Arial"/>
                          <a:ea typeface="Arial"/>
                          <a:cs typeface="Arial"/>
                        </a:rPr>
                        <a:t>LSTM and Bi-LSTM</a:t>
                      </a:r>
                    </a:p>
                  </a:txBody>
                  <a:tcPr marL="91440" marR="91440" marT="45720" marB="45720">
                    <a:solidFill>
                      <a:srgbClr val="E7E5DD"/>
                    </a:solidFill>
                  </a:tcPr>
                </a:tc>
                <a:tc>
                  <a:txBody>
                    <a:bodyPr/>
                    <a:lstStyle/>
                    <a:p>
                      <a:r>
                        <a:rPr sz="1800" b="0">
                          <a:solidFill>
                            <a:srgbClr val="344E41"/>
                          </a:solidFill>
                          <a:latin typeface="Arial"/>
                          <a:ea typeface="Arial"/>
                          <a:cs typeface="Arial"/>
                        </a:rPr>
                        <a:t>5/5 epochs, evaluation and verification passed</a:t>
                      </a:r>
                    </a:p>
                  </a:txBody>
                  <a:tcPr marL="91440" marR="91440" marT="45720" marB="45720">
                    <a:solidFill>
                      <a:srgbClr val="E7E5DD"/>
                    </a:solidFill>
                  </a:tcPr>
                </a:tc>
              </a:tr>
              <a:tr h="571500">
                <a:tc>
                  <a:txBody>
                    <a:bodyPr/>
                    <a:lstStyle/>
                    <a:p>
                      <a:r>
                        <a:rPr sz="1800" b="0">
                          <a:solidFill>
                            <a:srgbClr val="344E41"/>
                          </a:solidFill>
                          <a:latin typeface="Arial"/>
                          <a:ea typeface="Arial"/>
                          <a:cs typeface="Arial"/>
                        </a:rPr>
                        <a:t>Word CNN</a:t>
                      </a:r>
                    </a:p>
                  </a:txBody>
                  <a:tcPr marL="91440" marR="91440" marT="45720" marB="45720">
                    <a:solidFill>
                      <a:srgbClr val="DAD7CD"/>
                    </a:solidFill>
                  </a:tcPr>
                </a:tc>
                <a:tc>
                  <a:txBody>
                    <a:bodyPr/>
                    <a:lstStyle/>
                    <a:p>
                      <a:r>
                        <a:rPr sz="1800" b="0">
                          <a:solidFill>
                            <a:srgbClr val="344E41"/>
                          </a:solidFill>
                          <a:latin typeface="Arial"/>
                          <a:ea typeface="Arial"/>
                          <a:cs typeface="Arial"/>
                        </a:rPr>
                        <a:t>Epoch 3/5 in progress, batch 3600/6803</a:t>
                      </a:r>
                    </a:p>
                  </a:txBody>
                  <a:tcPr marL="91440" marR="91440" marT="45720" marB="45720">
                    <a:solidFill>
                      <a:srgbClr val="DAD7CD"/>
                    </a:solidFill>
                  </a:tcPr>
                </a:tc>
              </a:tr>
              <a:tr h="571500">
                <a:tc>
                  <a:txBody>
                    <a:bodyPr/>
                    <a:lstStyle/>
                    <a:p>
                      <a:r>
                        <a:rPr sz="1800" b="0">
                          <a:solidFill>
                            <a:srgbClr val="344E41"/>
                          </a:solidFill>
                          <a:latin typeface="Arial"/>
                          <a:ea typeface="Arial"/>
                          <a:cs typeface="Arial"/>
                        </a:rPr>
                        <a:t>Word–character CNN</a:t>
                      </a:r>
                    </a:p>
                  </a:txBody>
                  <a:tcPr marL="91440" marR="91440" marT="45720" marB="45720">
                    <a:solidFill>
                      <a:srgbClr val="E7E5DD"/>
                    </a:solidFill>
                  </a:tcPr>
                </a:tc>
                <a:tc>
                  <a:txBody>
                    <a:bodyPr/>
                    <a:lstStyle/>
                    <a:p>
                      <a:r>
                        <a:rPr sz="1800" b="0">
                          <a:solidFill>
                            <a:srgbClr val="344E41"/>
                          </a:solidFill>
                          <a:latin typeface="Arial"/>
                          <a:ea typeface="Arial"/>
                          <a:cs typeface="Arial"/>
                        </a:rPr>
                        <a:t>Epoch 2/5 in progress, batch 5200/6803</a:t>
                      </a:r>
                    </a:p>
                  </a:txBody>
                  <a:tcPr marL="91440" marR="91440" marT="45720" marB="45720">
                    <a:solidFill>
                      <a:srgbClr val="E7E5DD"/>
                    </a:solidFill>
                  </a:tcPr>
                </a:tc>
              </a:tr>
              <a:tr h="571500">
                <a:tc>
                  <a:txBody>
                    <a:bodyPr/>
                    <a:lstStyle/>
                    <a:p>
                      <a:r>
                        <a:rPr sz="1800" b="0">
                          <a:solidFill>
                            <a:srgbClr val="344E41"/>
                          </a:solidFill>
                          <a:latin typeface="Arial"/>
                          <a:ea typeface="Arial"/>
                          <a:cs typeface="Arial"/>
                        </a:rPr>
                        <a:t>Web application</a:t>
                      </a:r>
                    </a:p>
                  </a:txBody>
                  <a:tcPr marL="91440" marR="91440" marT="45720" marB="45720">
                    <a:solidFill>
                      <a:srgbClr val="DAD7CD"/>
                    </a:solidFill>
                  </a:tcPr>
                </a:tc>
                <a:tc>
                  <a:txBody>
                    <a:bodyPr/>
                    <a:lstStyle/>
                    <a:p>
                      <a:r>
                        <a:rPr sz="1800" b="0">
                          <a:solidFill>
                            <a:srgbClr val="344E41"/>
                          </a:solidFill>
                          <a:latin typeface="Arial"/>
                          <a:ea typeface="Arial"/>
                          <a:cs typeface="Arial"/>
                        </a:rPr>
                        <a:t>Streamlit next-word suggestions, default LSTM</a:t>
                      </a:r>
                    </a:p>
                  </a:txBody>
                  <a:tcPr marL="91440" marR="91440" marT="45720" marB="45720">
                    <a:solidFill>
                      <a:srgbClr val="DAD7CD"/>
                    </a:solidFill>
                  </a:tcPr>
                </a:tc>
              </a:tr>
            </a:tbl>
          </a:graphicData>
        </a:graphic>
      </p:graphicFrame>
      <p:sp>
        <p:nvSpPr>
          <p:cNvPr id="6" name="">
            <a:extLst xmlns:a="http://schemas.openxmlformats.org/drawingml/2006/main">
              <a:ext uri="{FF2B5EF4-FFF2-40B4-BE49-F238E27FC236}">
                <a16:creationId xmlns:a16="http://schemas.microsoft.com/office/drawing/2014/main" id="{E52F63FB-0AF9-453D-8D0A-5DFC5261D27E}"/>
              </a:ext>
            </a:extLst>
          </p:cNvPr>
          <p:cNvSpPr>
            <a:spLocks xmlns:a="http://schemas.openxmlformats.org/drawingml/2006/main" noGrp="1"/>
          </p:cNvSpPr>
          <p:nvPr/>
        </p:nvSpPr>
        <p:spPr>
          <a:xfrm xmlns:a="http://schemas.openxmlformats.org/drawingml/2006/main">
            <a:off x="571500" y="48577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344E41"/>
                </a:solidFill>
                <a:latin typeface="Arial"/>
                <a:ea typeface="Arial"/>
                <a:cs typeface="Arial"/>
              </a:defRPr>
            </a:defPPr>
          </a:lstStyle>
          <a:p xmlns:a="http://schemas.openxmlformats.org/drawingml/2006/main">
            <a:pPr>
              <a:defRPr sz="1950" b="1">
                <a:solidFill>
                  <a:srgbClr val="344E41"/>
                </a:solidFill>
                <a:latin typeface="Arial"/>
                <a:ea typeface="Arial"/>
                <a:cs typeface="Arial"/>
              </a:defRPr>
            </a:pPr>
            <a:r>
              <a:rPr sz="1950" b="1">
                <a:solidFill>
                  <a:srgbClr val="344E41"/>
                </a:solidFill>
                <a:latin typeface="Arial"/>
                <a:ea typeface="Arial"/>
                <a:cs typeface="Arial"/>
              </a:rPr>
              <a:t>Next: finish CNN evaluation and compare fusion against word-only CNN.</a:t>
            </a:r>
          </a:p>
        </p:txBody>
      </p:sp>
      <p:sp>
        <p:nvSpPr>
          <p:cNvPr id="7" name="">
            <a:extLst xmlns:a="http://schemas.openxmlformats.org/drawingml/2006/main">
              <a:ext uri="{FF2B5EF4-FFF2-40B4-BE49-F238E27FC236}">
                <a16:creationId xmlns:a16="http://schemas.microsoft.com/office/drawing/2014/main" id="{12D3A2C8-D919-45DD-ADC0-062D6A2DA379}"/>
              </a:ext>
            </a:extLst>
          </p:cNvPr>
          <p:cNvSpPr>
            <a:spLocks xmlns:a="http://schemas.openxmlformats.org/drawingml/2006/main" noGrp="1"/>
          </p:cNvSpPr>
          <p:nvPr/>
        </p:nvSpPr>
        <p:spPr>
          <a:xfrm xmlns:a="http://schemas.openxmlformats.org/drawingml/2006/main">
            <a:off x="571500" y="552450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Rare-word tests and ablations must establish the contribution.</a:t>
            </a:r>
          </a:p>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Snapshot: 12/10/2026, 9:19:26 am IST</a:t>
            </a:r>
          </a:p>
        </p:txBody>
      </p:sp>
    </p:spTree>
    <p:extLst>
      <p:ext uri="{BB962C8B-B14F-4D97-AF65-F5344CB8AC3E}">
        <p14:creationId xmlns:p14="http://schemas.microsoft.com/office/powerpoint/2010/main" val="20408782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2026-10-12T03:49:29.2080000Z</dcterms:created>
  <dcterms:modified xsi:type="dcterms:W3CDTF">2026-10-12T03:49:29.2080000Z</dcterms:modified>
</coreProperties>
</file>