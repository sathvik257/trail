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80f63e0f4e4d9e" /><Relationship Type="http://schemas.openxmlformats.org/officeDocument/2006/relationships/extended-properties" Target="/docProps/app.xml" Id="R2d2e9339727549f5" /><Relationship Type="http://schemas.openxmlformats.org/officeDocument/2006/relationships/officeDocument" Target="/ppt/presentation.xml" Id="Rcfb1206ffca7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31533a28e4699"/>
  </p:sldMasterIdLst>
  <p:notesMasterIdLst>
    <p:notesMasterId xmlns:r="http://schemas.openxmlformats.org/officeDocument/2006/relationships" r:id="Rb49f4888e9fb4ef8"/>
  </p:notesMasterIdLst>
  <p:sldIdLst>
    <p:sldId xmlns:r="http://schemas.openxmlformats.org/officeDocument/2006/relationships" id="256" r:id="Rb1b90cff735442b0"/>
    <p:sldId xmlns:r="http://schemas.openxmlformats.org/officeDocument/2006/relationships" id="257" r:id="R3c1bb54e5a31429c"/>
    <p:sldId xmlns:r="http://schemas.openxmlformats.org/officeDocument/2006/relationships" id="258" r:id="Ra92274f2ba5b4555"/>
    <p:sldId xmlns:r="http://schemas.openxmlformats.org/officeDocument/2006/relationships" id="259" r:id="R904ddc1a5720404e"/>
    <p:sldId xmlns:r="http://schemas.openxmlformats.org/officeDocument/2006/relationships" id="260" r:id="Rae9350bf6a1c4533"/>
    <p:sldId xmlns:r="http://schemas.openxmlformats.org/officeDocument/2006/relationships" id="261" r:id="R8937f4f6a5474bcc"/>
    <p:sldId xmlns:r="http://schemas.openxmlformats.org/officeDocument/2006/relationships" id="262" r:id="R24a6a458fd6f43cc"/>
    <p:sldId xmlns:r="http://schemas.openxmlformats.org/officeDocument/2006/relationships" id="263" r:id="R06ae932d882b4d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93561f923481c" /><Relationship Type="http://schemas.openxmlformats.org/officeDocument/2006/relationships/slideMaster" Target="/ppt/slideMasters/slideMaster1.xml" Id="Rae031533a28e4699" /><Relationship Type="http://schemas.openxmlformats.org/officeDocument/2006/relationships/notesMaster" Target="/ppt/notesMasters/notesMaster1.xml" Id="Rb49f4888e9fb4ef8" /><Relationship Type="http://schemas.openxmlformats.org/officeDocument/2006/relationships/presProps" Target="/ppt/presProps.xml" Id="R275b074866b94a0b" /><Relationship Type="http://schemas.openxmlformats.org/officeDocument/2006/relationships/tableStyles" Target="/ppt/tableStyles.xml" Id="Redf879d087d74eda" /><Relationship Type="http://schemas.openxmlformats.org/officeDocument/2006/relationships/slide" Target="/ppt/slides/slide1.xml" Id="Rb1b90cff735442b0" /><Relationship Type="http://schemas.openxmlformats.org/officeDocument/2006/relationships/slide" Target="/ppt/slides/slide2.xml" Id="R3c1bb54e5a31429c" /><Relationship Type="http://schemas.openxmlformats.org/officeDocument/2006/relationships/slide" Target="/ppt/slides/slide3.xml" Id="Ra92274f2ba5b4555" /><Relationship Type="http://schemas.openxmlformats.org/officeDocument/2006/relationships/slide" Target="/ppt/slides/slide4.xml" Id="R904ddc1a5720404e" /><Relationship Type="http://schemas.openxmlformats.org/officeDocument/2006/relationships/slide" Target="/ppt/slides/slide5.xml" Id="Rae9350bf6a1c4533" /><Relationship Type="http://schemas.openxmlformats.org/officeDocument/2006/relationships/slide" Target="/ppt/slides/slide6.xml" Id="R8937f4f6a5474bcc" /><Relationship Type="http://schemas.openxmlformats.org/officeDocument/2006/relationships/slide" Target="/ppt/slides/slide7.xml" Id="R24a6a458fd6f43cc" /><Relationship Type="http://schemas.openxmlformats.org/officeDocument/2006/relationships/slide" Target="/ppt/slides/slide8.xml" Id="R06ae932d882b4d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ceff0c64b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11699c0ce4384" /><Relationship Type="http://schemas.openxmlformats.org/officeDocument/2006/relationships/notesMaster" Target="/ppt/notesMasters/notesMaster1.xml" Id="Rf4360e7b201645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2e54f3a04d406b" /><Relationship Type="http://schemas.openxmlformats.org/officeDocument/2006/relationships/notesMaster" Target="/ppt/notesMasters/notesMaster1.xml" Id="R6dd6dca5b7d2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32b7b2422405c" /><Relationship Type="http://schemas.openxmlformats.org/officeDocument/2006/relationships/notesMaster" Target="/ppt/notesMasters/notesMaster1.xml" Id="Rd1ee1d0e0002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f218f4b2ce4c0f" /><Relationship Type="http://schemas.openxmlformats.org/officeDocument/2006/relationships/notesMaster" Target="/ppt/notesMasters/notesMaster1.xml" Id="Rb095bcffbbb8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2c9b7add444a9" /><Relationship Type="http://schemas.openxmlformats.org/officeDocument/2006/relationships/notesMaster" Target="/ppt/notesMasters/notesMaster1.xml" Id="R93bb4a3e95a243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fbd9a5f8d54d07" /><Relationship Type="http://schemas.openxmlformats.org/officeDocument/2006/relationships/notesMaster" Target="/ppt/notesMasters/notesMaster1.xml" Id="R5a0954bdfbf641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7a290a384487c" /><Relationship Type="http://schemas.openxmlformats.org/officeDocument/2006/relationships/notesMaster" Target="/ppt/notesMasters/notesMaster1.xml" Id="R58c3194bff404a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7bf56b0d64e7d" /><Relationship Type="http://schemas.openxmlformats.org/officeDocument/2006/relationships/notesMaster" Target="/ppt/notesMasters/notesMaster1.xml" Id="R006ae9a6799e49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project predicts the next word from a short text prefix. The overall scope is multilingual, with Telugu as the current implementation. All four models have completed five epochs, held-out evaluation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Telugu-LLM-Labs/telugu_alpaca_yahma_cleaned_filtered_romanized and Telugu-LLM-Labs/telugu_teknium_GPTeacher_general_instruct_filtered_romanized. We use telugu_instruction, telugu_input and telugu_output, not romanized fields. Counts refer to source records before preprocessing. Semantic duplication may remain.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data_telugu_llm/provenance.json; src/prepare_telugu_llm_data.py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models use the same word vocabulary, context length and data splits. The word CNN uses width 128, kernel 3 and a receptive field of 15, covering all eight input words. The character model adds a 16-dimensional character embedding and 64-dimensional convolutional features. LSTM has 3,959,328 parameters and Bi-LSTM 6,618,656. Parameter counts differ, so this is not a parameter-matched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src/wordchar_model.py;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gate retains useful memory, the input gate adds candidate information and the output gate exposes the hidden state. The Bi-LSTM combines terminal forward and reverse states of the input prefix. Neither direction sees the target word. W and U are learned weights and b is a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character branch uses Unicode code points, retaining up to the last 32 characters, then convolution and masked max pooling. The gate weights word and character features. Causal convolution produces v and u without looking beyond each prefix position. Unknown input words retain spelling information, but the fixed output vocabulary cannot generate unseen target words. This is an implemented project extension, not a claim of a first-of-its-kind algorithm. Rare-word evaluation is complete. Gate ablation and multiple-seed experiments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src/wordchar_model.py; src/model.py; src/check_wordchar.py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Softmax converts output logits to probabilities. Cross-entropy is the training objective. Top-k accuracy checks whether the target occurs among the k highest-ranked predictions. N is the number of examples. Perplexity uses the fixed vocabulary with unknown targets collapsed into the unknown token. The app shows five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checkpoints are epoch 5 for all four models. These are measured held-out results, not estimates. The models have different parameter 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outputs/telugu_comparison/lstm_test_metrics.json; outputs/telugu_comparison/bilstm_test_metrics.json; outputs/telugu_cnn/cnn_test_metrics.json; outputs/telugu_wordchar/wordchar_cnn_test_metrics.json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reproduces overall saved accuracies exactly. Unknown input spelling can inform character features, but the output vocabulary remains fixed. Rare known targets have only 125 examples: top-1 changes from 3 hits to 2, and top-5 stays at 4. This does not support a rare-target improvement claim. A trained ungated-fusion ablation, multiple seeds and literature comparison remain necessary. More languages are future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outputs/telugu_frequency_evaluation.json; TELUGU_FREQUENCY_RESULTS.md; FINAL_MODEL_RESULTS.md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cb80a162744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4ed92eea142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e43181b6146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b6e07303041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ba441d1aa43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7e0a867fb49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95CCDB-7081-4BFD-B3E3-478882B7C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859CF5-6F84-4F1A-8A78-A3378F38B6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424B40-DED5-4B82-BE9D-A54E5295F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6670C8-833E-4507-B7A0-5DF31787D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C6FF5B-3EEB-4DF8-80DA-5B0DE4C25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D8BBF7-DC9D-42AA-AC63-C743BE281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C88F4D-4907-4BF0-B7EC-D60CF6E2B8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DF0BE2-28F6-4E1D-B1E6-ACCDD9718A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C3E2CB-5870-4561-BE71-18ADD4433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BC87E3-BF24-4B60-90D1-8C6873E1EA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94a22bdde24c82" /><Relationship Type="http://schemas.openxmlformats.org/officeDocument/2006/relationships/slideLayout" Target="/ppt/slideLayouts/slideLayout1.xml" Id="R7ce9c5b5b1394282" /><Relationship Type="http://schemas.openxmlformats.org/officeDocument/2006/relationships/slideLayout" Target="/ppt/slideLayouts/slideLayout2.xml" Id="R6a4fdf5579544b48" /><Relationship Type="http://schemas.openxmlformats.org/officeDocument/2006/relationships/slideLayout" Target="/ppt/slideLayouts/slideLayout3.xml" Id="Rdc9058a4b4a849dd" /><Relationship Type="http://schemas.openxmlformats.org/officeDocument/2006/relationships/slideLayout" Target="/ppt/slideLayouts/slideLayout4.xml" Id="R5242984373ed4889" /><Relationship Type="http://schemas.openxmlformats.org/officeDocument/2006/relationships/slideLayout" Target="/ppt/slideLayouts/slideLayout5.xml" Id="R4daa951059774332" /><Relationship Type="http://schemas.openxmlformats.org/officeDocument/2006/relationships/slideLayout" Target="/ppt/slideLayouts/slideLayout6.xml" Id="R608a78431c2e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9c5b5b1394282"/>
    <p:sldLayoutId xmlns:r="http://schemas.openxmlformats.org/officeDocument/2006/relationships" id="2147483650" r:id="R6a4fdf5579544b48"/>
    <p:sldLayoutId xmlns:r="http://schemas.openxmlformats.org/officeDocument/2006/relationships" id="2147483651" r:id="Rdc9058a4b4a849dd"/>
    <p:sldLayoutId xmlns:r="http://schemas.openxmlformats.org/officeDocument/2006/relationships" id="2147483652" r:id="R5242984373ed4889"/>
    <p:sldLayoutId xmlns:r="http://schemas.openxmlformats.org/officeDocument/2006/relationships" id="2147483653" r:id="R4daa951059774332"/>
    <p:sldLayoutId xmlns:r="http://schemas.openxmlformats.org/officeDocument/2006/relationships" id="2147483654" r:id="R608a78431c2e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df243ff024ef2" /><Relationship Type="http://schemas.openxmlformats.org/officeDocument/2006/relationships/notesSlide" Target="/ppt/notesSlides/notesSlide1.xml" Id="Re6ad86d7c94b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38702a8284017" /><Relationship Type="http://schemas.openxmlformats.org/officeDocument/2006/relationships/notesSlide" Target="/ppt/notesSlides/notesSlide2.xml" Id="R1190c8b84fa4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fe1a87f16444a" /><Relationship Type="http://schemas.openxmlformats.org/officeDocument/2006/relationships/notesSlide" Target="/ppt/notesSlides/notesSlide3.xml" Id="R1e76b83acc4346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9a9b78d614a3f" /><Relationship Type="http://schemas.openxmlformats.org/officeDocument/2006/relationships/notesSlide" Target="/ppt/notesSlides/notesSlide4.xml" Id="Rd4e7d2f456f8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3503dac5546d8" /><Relationship Type="http://schemas.openxmlformats.org/officeDocument/2006/relationships/notesSlide" Target="/ppt/notesSlides/notesSlide5.xml" Id="Ra4d3f125abe64a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b19fc672542c7" /><Relationship Type="http://schemas.openxmlformats.org/officeDocument/2006/relationships/notesSlide" Target="/ppt/notesSlides/notesSlide6.xml" Id="R8d6dc0b643624e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341bf8a0242cb" /><Relationship Type="http://schemas.openxmlformats.org/officeDocument/2006/relationships/notesSlide" Target="/ppt/notesSlides/notesSlide7.xml" Id="Rc9819e75c07547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b41ab678848c0" /><Relationship Type="http://schemas.openxmlformats.org/officeDocument/2006/relationships/notesSlide" Target="/ppt/notesSlides/notesSlide8.xml" Id="Ra25950e23ef6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0D7D2-6EC7-43FB-99CC-C7FED08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06CAA-BA15-4FFB-9CAD-8905B59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81537-3960-47C9-8C23-B76303A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9A008-ABEF-492F-A1DA-E180E527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LSTM, Bi-LSTM and convolutional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00A98-72AF-47C7-B189-DCEC7C93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52545-C074-4A1D-BD6C-32464807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380993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42995-7900-4D9D-BBFC-53882ED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511F9-2874-43FD-B66F-6B8F5C20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F6602-6396-4D9D-8050-79D746F8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77092-2E87-492A-B39F-10C0C2BC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B34E-A984-41BC-8214-AC0B716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Telugu-LLM-Labs: Alpaca (28,910) + GPTeacher (43,614 records)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27DC9-8AB5-4FF3-BEF7-3CCBCDC8547F}"/>
              </a:ext>
            </a:extLst>
          </p:cNvPr>
          <p:cNvGraphicFramePr/>
          <p:nvPr/>
        </p:nvGraphicFramePr>
        <p:xfrm>
          <a:off xmlns:a="http://schemas.openxmlformats.org/drawingml/2006/main" x="571500" y="2143125"/>
          <a:ext xmlns:a="http://schemas.openxmlformats.org/drawingml/2006/main" cx="110490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3048000"/>
                <a:gridCol w="3810000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Sentences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Next-word examples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312,456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3,483,073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18,294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198,928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18,662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200,092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354E8-DF48-4702-89C3-2AACCDDF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Native Telugu text, Unicode normalization and prefix–target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B7014-5DAF-4CB8-9A7F-53D3A3F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8-word context and 20,000-word vocabulary learned from training text.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Grouped splits and exact-overlap removal reduce data leakage.</a:t>
            </a:r>
          </a:p>
        </p:txBody>
      </p:sp>
    </p:spTree>
    <p:extLst>
      <p:ext uri="{BB962C8B-B14F-4D97-AF65-F5344CB8AC3E}">
        <p14:creationId xmlns:p14="http://schemas.microsoft.com/office/powerpoint/2010/main" val="1477458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C34C2-DD59-4BD1-A44C-FADA757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A85E4-DFE4-4B62-A306-3225715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MODELS AND TRAINING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D747C-151F-442A-A8DD-5BCC472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58033-CA11-478B-B95F-FFCDFE0B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84611-D662-449F-829B-08D2E473AFB5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762000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64-d embedding, 128 recurrent units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units per direction, 256-d 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 causal gated blocks, dilations 1, 2, 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Word–character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Character features + gated word fusion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2C361-B7DD-4520-A979-33780A3C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Adam at 0.001, batch size 512, gradient clipping 1.0, seed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0E41C-10D2-47FE-A03D-D98575D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Five epochs per model. Select checkpoints by lowest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1979192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99765-DF81-4785-8A0D-14B1579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65271-0A35-447A-A971-BB0660C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AND BI-LSTM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A8C17-E0BE-4FB3-829C-52D1936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2939-893B-4CBA-985D-A39A143D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B91C9-C352-4B5A-8F22-17F5C002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qₜ = σ(Wq xₜ + Uq hₜ₋₁ + bq),  q ∈ {f, i, o}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9369F-3B07-4F3A-816B-ED3BDC7A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Forget, input, output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9CEA6-B664-4682-A51B-EC93DC1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3F99A-11B6-443D-A82C-EE64C5B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A87E0-C6B3-4495-B0FA-3D8083E7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6A4E7-5BF2-4983-BE78-CF37D656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B595E-F290-46AB-9FB2-C0FBAE0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0A817-53A3-46F9-B418-1FB6B6E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BEE30-2496-41C2-8B03-DEC93A76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hBi = concat(hforward, hreverse)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0FF60-9EC1-45B6-803D-9826694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Bi-LSTM terminal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EC663-4954-442F-A6DA-329BFFA9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read only the observed prefix. σ is sigmoid and ⊙ is element-wise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669422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13692-D946-4AAF-8309-B1A3AA9F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B978-ED63-4A31-865D-D700572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GATED WORD–CHARACTER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563C-897F-4F9F-89C1-D40CD61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Proposed contribution: combine word identity with Telugu spelling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AA7B1-5AFA-4AC2-BAE2-2F9FA45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3B3C4-09DF-402B-9E63-723D498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2163B-E78E-4D1C-8CB1-810F2ADB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 = MaxPool(ReLU(Conv(CharEmbed(word))))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98E75-0CCC-4F2A-8C83-FB158727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 = σ(Wg [e ; c]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7ADE6-B165-44CF-BB1C-9B1BA38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fused = g ⊙ e + (1 − g) ⊙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53E21-5AF8-4256-B5C1-DCD5917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Causal block: h′ = (h + v ⊙ σ(u)) / √2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CF758-40E7-49AE-86A2-A370BFC0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e: word embedding   c: character features   g: learned fusion gate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complete. Research originality requires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842792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42F2-914A-4984-83F1-B475190D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C0667-7DC0-4D1C-90F2-46E32E39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E6E1B-502F-417E-93F3-63DF928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6B954-979C-4528-8549-FCDEF14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58085-EEEE-48B4-AE4C-C6D839E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exp(zₖ),   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85435-97A3-44B9-8011-BA1F76D6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20B05-7B86-4173-ABCD-1208553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EBC62-0D1E-4275-B446-595303B8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F5119-11B4-451D-B71F-F587980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Higher accuracy and lower perplexity are better.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unknown words and count as accuracy misses.</a:t>
            </a:r>
          </a:p>
        </p:txBody>
      </p:sp>
    </p:spTree>
    <p:extLst>
      <p:ext uri="{BB962C8B-B14F-4D97-AF65-F5344CB8AC3E}">
        <p14:creationId xmlns:p14="http://schemas.microsoft.com/office/powerpoint/2010/main" val="1927287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A2CBB-8E05-4EA3-B87F-4894F9E7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261D7-CC32-4578-839E-7E53B41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FINAL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68D34-2450-402F-A7E7-236D91A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200,092 held-out examples. All four models completed five epochs.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CE517-1513-4D58-A581-0EE79BD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F2AE2-909E-4632-B8A2-DE096002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B9DDD-1729-436D-8789-C387BFE52F1A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76750"/>
                <a:gridCol w="2190750"/>
                <a:gridCol w="2190750"/>
                <a:gridCol w="21907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18.03%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33.57%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199.02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18.82%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35.00%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178.60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17.67%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33.53%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193.76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Word–character CNN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18.55%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34.68%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167.13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E5B08-0591-4854-8B2F-4A4405EA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Bi-LSTM has the highest accuracy. Character CNN has the lowest perplexity.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6E843-5A84-4E98-AA6B-51B3BC8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Single seed, different parameter counts. All checkpoint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353187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F4ECA-5A74-4866-B95F-DCB71FEB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D3583-C1AC-45D7-847F-78102DE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CONTRIBUTION AND FINAL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888BF-B662-4723-9B6C-5611AD55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Adaptive word–character fusion improves over the word-only CNN.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6EB22-447A-420F-9A79-DD5D3F6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C5FD9-B06E-44F4-821F-8C19C9D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8FD7-41E2-468A-8495-FE9A012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INPUTS CONTAINING UNKNOWN WORDS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E3AE8-E95A-4A20-B11F-4E49439AF52C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14.64%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11A3F-F229-4331-A8C0-7DEED03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57,089 test examples. Rare-target improvement was not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DC89B-B925-4740-9273-502A20E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and verification complete. Telugu web demo uses LSTM.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Research originality and the gate’s specific benefit need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75285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2026-10-13T15:01:27.9330000Z</dcterms:created>
  <dcterms:modified xsi:type="dcterms:W3CDTF">2026-10-13T15:01:27.9330000Z</dcterms:modified>
</coreProperties>
</file>