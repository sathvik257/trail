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b8392d07794b0f" /><Relationship Type="http://schemas.openxmlformats.org/officeDocument/2006/relationships/extended-properties" Target="/docProps/app.xml" Id="R0fe618b9fbd44a62" /><Relationship Type="http://schemas.openxmlformats.org/officeDocument/2006/relationships/officeDocument" Target="/ppt/presentation.xml" Id="Rf52194ba64f544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227d17931640ef"/>
  </p:sldMasterIdLst>
  <p:notesMasterIdLst>
    <p:notesMasterId xmlns:r="http://schemas.openxmlformats.org/officeDocument/2006/relationships" r:id="R8a8df6f811ea4a14"/>
  </p:notesMasterIdLst>
  <p:sldIdLst>
    <p:sldId xmlns:r="http://schemas.openxmlformats.org/officeDocument/2006/relationships" id="256" r:id="R181cdfea33a94a0d"/>
    <p:sldId xmlns:r="http://schemas.openxmlformats.org/officeDocument/2006/relationships" id="257" r:id="Rdc01253e68064170"/>
    <p:sldId xmlns:r="http://schemas.openxmlformats.org/officeDocument/2006/relationships" id="258" r:id="R3cfe76799e244a3f"/>
    <p:sldId xmlns:r="http://schemas.openxmlformats.org/officeDocument/2006/relationships" id="259" r:id="Rec614ab38ec44eb6"/>
    <p:sldId xmlns:r="http://schemas.openxmlformats.org/officeDocument/2006/relationships" id="260" r:id="R1ffd4ebea61e4b3b"/>
    <p:sldId xmlns:r="http://schemas.openxmlformats.org/officeDocument/2006/relationships" id="261" r:id="R99fcc7df429f47d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c924b7c5ddf48e2" /><Relationship Type="http://schemas.openxmlformats.org/officeDocument/2006/relationships/slideMaster" Target="/ppt/slideMasters/slideMaster1.xml" Id="R02227d17931640ef" /><Relationship Type="http://schemas.openxmlformats.org/officeDocument/2006/relationships/notesMaster" Target="/ppt/notesMasters/notesMaster1.xml" Id="R8a8df6f811ea4a14" /><Relationship Type="http://schemas.openxmlformats.org/officeDocument/2006/relationships/presProps" Target="/ppt/presProps.xml" Id="Rb7666651a042473f" /><Relationship Type="http://schemas.openxmlformats.org/officeDocument/2006/relationships/tableStyles" Target="/ppt/tableStyles.xml" Id="Rf0bd2c1cf3834f30" /><Relationship Type="http://schemas.openxmlformats.org/officeDocument/2006/relationships/slide" Target="/ppt/slides/slide1.xml" Id="R181cdfea33a94a0d" /><Relationship Type="http://schemas.openxmlformats.org/officeDocument/2006/relationships/slide" Target="/ppt/slides/slide2.xml" Id="Rdc01253e68064170" /><Relationship Type="http://schemas.openxmlformats.org/officeDocument/2006/relationships/slide" Target="/ppt/slides/slide3.xml" Id="R3cfe76799e244a3f" /><Relationship Type="http://schemas.openxmlformats.org/officeDocument/2006/relationships/slide" Target="/ppt/slides/slide4.xml" Id="Rec614ab38ec44eb6" /><Relationship Type="http://schemas.openxmlformats.org/officeDocument/2006/relationships/slide" Target="/ppt/slides/slide5.xml" Id="R1ffd4ebea61e4b3b" /><Relationship Type="http://schemas.openxmlformats.org/officeDocument/2006/relationships/slide" Target="/ppt/slides/slide6.xml" Id="R99fcc7df429f47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05056866414a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bb7fa2b33d45cf" /><Relationship Type="http://schemas.openxmlformats.org/officeDocument/2006/relationships/notesMaster" Target="/ppt/notesMasters/notesMaster1.xml" Id="Re51a8a8e3bd347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9321e141e44bf2" /><Relationship Type="http://schemas.openxmlformats.org/officeDocument/2006/relationships/notesMaster" Target="/ppt/notesMasters/notesMaster1.xml" Id="Rbe4c375269744b1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79db3cfd47a48e7" /><Relationship Type="http://schemas.openxmlformats.org/officeDocument/2006/relationships/notesMaster" Target="/ppt/notesMasters/notesMaster1.xml" Id="Rb965341bc28d4a2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472b1a4c89c4e43" /><Relationship Type="http://schemas.openxmlformats.org/officeDocument/2006/relationships/notesMaster" Target="/ppt/notesMasters/notesMaster1.xml" Id="Re4bc544b595242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329e44a075d46f3" /><Relationship Type="http://schemas.openxmlformats.org/officeDocument/2006/relationships/notesMaster" Target="/ppt/notesMasters/notesMaster1.xml" Id="Rcd278ebe600c42c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9462bc8f86440bd" /><Relationship Type="http://schemas.openxmlformats.org/officeDocument/2006/relationships/notesMaster" Target="/ppt/notesMasters/notesMaster1.xml" Id="R005b8cb9667d4d6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Our project predicts the next word from a short text prefix. The overall scope is multilingual, with Telugu as the current implementation. All four models have completed five epochs, held-out evaluation and verification.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data pipeline uses grouped partitions, exact-overlap removal and a training-only vocabulary of 20,000 tokens. Four models are separate experiments. The validation-selected checkpoint supplies held-out evaluation. The deployed interface loads lstm_best.pt, excludes special-token suggestions and handles empty, non-Telugu and entirely unknown input. The CNN variants remain evaluation artifacts and are not wired into the current web UI.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src/prepare_telugu_llm_data.py; src/train_telugu_comparison.py; src/telugu_app.py; src/telugu_neural_predictor.py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forget gate retains useful memory, the input gate adds candidate information and the output gate exposes the hidden state. The Bi-LSTM combines terminal forward and reverse states of the input prefix. Neither direction sees the target word. W and U are learned weights and b is a bias.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src/model.py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character branch uses Unicode code points, retaining up to the last 32 characters, then convolution and masked max pooling. The gate weights word and character features. Causal convolution produces v and u without looking beyond each prefix position. Unknown input words retain spelling information, but the fixed output vocabulary cannot generate unseen target words. This is an implemented project extension, not a claim of a first-of-its-kind algorithm. Rare-word evaluation is complete. Gate ablation and multiple-seed experiments are still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src/wordchar_model.py; src/model.py; src/check_wordchar.py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Softmax converts output logits to probabilities. Cross-entropy is the training objective. Top-k accuracy checks whether the target occurs among the k highest-ranked predictions. N is the number of examples. Perplexity uses the fixed vocabulary with unknown targets collapsed into the unknown token. The app shows five suggestions.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src/train_telugu_comparison.py; src/telugu_neural_predictor.py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diagnostic reproduces overall saved accuracies exactly. Unknown input spelling can inform character features, but the output vocabulary remains fixed. Rare known targets have only 125 examples: top-1 changes from 3 hits to 2, and top-5 stays at 4. This does not support a rare-target improvement claim. A trained ungated-fusion ablation, multiple seeds and literature comparison remain necessary. More languages are future scope.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outputs/telugu_frequency_evaluation.json; TELUGU_FREQUENCY_RESULTS.md; FINAL_MODEL_RESULTS.md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a46a8c2422489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2167fd4df24af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ffbb1670b34c2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61396b0cd54d2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77007fb3574aa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849e9a71384cf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7DA759A-1E2B-4614-872E-7D54BE0CE9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BB70FE2-C671-4CE0-9E28-4352A09A4FC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6F1E849-B2EF-4136-AA24-CCAF30708F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0BD348B-E557-4A0A-B721-F2DDB5762A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9EEC9A1-5691-44EB-B55B-D93364B97BF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2AAB213-58C4-4D49-9DB1-7CF4168097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36F3C3A-BD46-405A-9171-64D86F706D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EB6AFF7-AD50-49CD-AEE0-9E3401E9776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9E847CF-2130-4CCD-BEC0-475A9FECC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BFC6EA9-597F-4FF9-ABE3-CD3E4982CD8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11b733ee954758" /><Relationship Type="http://schemas.openxmlformats.org/officeDocument/2006/relationships/slideLayout" Target="/ppt/slideLayouts/slideLayout1.xml" Id="R8c631189908d4674" /><Relationship Type="http://schemas.openxmlformats.org/officeDocument/2006/relationships/slideLayout" Target="/ppt/slideLayouts/slideLayout2.xml" Id="R474f113670334725" /><Relationship Type="http://schemas.openxmlformats.org/officeDocument/2006/relationships/slideLayout" Target="/ppt/slideLayouts/slideLayout3.xml" Id="R1f68f05c52244521" /><Relationship Type="http://schemas.openxmlformats.org/officeDocument/2006/relationships/slideLayout" Target="/ppt/slideLayouts/slideLayout4.xml" Id="Rf2c40b7449c64a5e" /><Relationship Type="http://schemas.openxmlformats.org/officeDocument/2006/relationships/slideLayout" Target="/ppt/slideLayouts/slideLayout5.xml" Id="Rcdb8ade0e0f94550" /><Relationship Type="http://schemas.openxmlformats.org/officeDocument/2006/relationships/slideLayout" Target="/ppt/slideLayouts/slideLayout6.xml" Id="R996a7c674a4d4d0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631189908d4674"/>
    <p:sldLayoutId xmlns:r="http://schemas.openxmlformats.org/officeDocument/2006/relationships" id="2147483650" r:id="R474f113670334725"/>
    <p:sldLayoutId xmlns:r="http://schemas.openxmlformats.org/officeDocument/2006/relationships" id="2147483651" r:id="R1f68f05c52244521"/>
    <p:sldLayoutId xmlns:r="http://schemas.openxmlformats.org/officeDocument/2006/relationships" id="2147483652" r:id="Rf2c40b7449c64a5e"/>
    <p:sldLayoutId xmlns:r="http://schemas.openxmlformats.org/officeDocument/2006/relationships" id="2147483653" r:id="Rcdb8ade0e0f94550"/>
    <p:sldLayoutId xmlns:r="http://schemas.openxmlformats.org/officeDocument/2006/relationships" id="2147483654" r:id="R996a7c674a4d4d0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87093a3b7e4aaf" /><Relationship Type="http://schemas.openxmlformats.org/officeDocument/2006/relationships/notesSlide" Target="/ppt/notesSlides/notesSlide1.xml" Id="R3e5f808dd238441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36f496b0fe4084" /><Relationship Type="http://schemas.openxmlformats.org/officeDocument/2006/relationships/notesSlide" Target="/ppt/notesSlides/notesSlide2.xml" Id="R2c22fdd05f0f4fb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817f95ff4845f2" /><Relationship Type="http://schemas.openxmlformats.org/officeDocument/2006/relationships/notesSlide" Target="/ppt/notesSlides/notesSlide3.xml" Id="R1de5b5022359400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e2eb09b0d24b6d" /><Relationship Type="http://schemas.openxmlformats.org/officeDocument/2006/relationships/notesSlide" Target="/ppt/notesSlides/notesSlide4.xml" Id="R490f1b27523d4db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8a4c3b83df431f" /><Relationship Type="http://schemas.openxmlformats.org/officeDocument/2006/relationships/notesSlide" Target="/ppt/notesSlides/notesSlide5.xml" Id="Rd6dc5b6ccdb749b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b9eb181b6848f1" /><Relationship Type="http://schemas.openxmlformats.org/officeDocument/2006/relationships/notesSlide" Target="/ppt/notesSlides/notesSlide6.xml" Id="R9de7cfcc45b347d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9BEC82-5A32-4AF6-B1CA-10A085F0D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1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D9ED99-BAEA-43FB-87EE-E46D2F27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10763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57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57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pPr>
            <a:r>
              <a:rPr sz="5700" b="0">
                <a:solidFill>
                  <a:srgbClr val="344E41"/>
                </a:solidFill>
                <a:latin typeface="Georgia"/>
                <a:ea typeface="Georgia"/>
                <a:cs typeface="Georgia"/>
              </a:rPr>
              <a:t>MULTILINGUAL</a:t>
            </a:r>
          </a:p>
          <a:p xmlns:a="http://schemas.openxmlformats.org/drawingml/2006/main">
            <a:pPr algn="ctr">
              <a:defRPr sz="57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pPr>
            <a:r>
              <a:rPr sz="5700" b="0">
                <a:solidFill>
                  <a:srgbClr val="344E41"/>
                </a:solidFill>
                <a:latin typeface="Georgia"/>
                <a:ea typeface="Georgia"/>
                <a:cs typeface="Georgia"/>
              </a:rPr>
              <a:t>NEXT-WORD</a:t>
            </a:r>
          </a:p>
          <a:p xmlns:a="http://schemas.openxmlformats.org/drawingml/2006/main">
            <a:pPr algn="ctr">
              <a:defRPr sz="57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pPr>
            <a:r>
              <a:rPr sz="5700" b="0">
                <a:solidFill>
                  <a:srgbClr val="344E41"/>
                </a:solidFill>
                <a:latin typeface="Georgia"/>
                <a:ea typeface="Georgia"/>
                <a:cs typeface="Georgia"/>
              </a:rPr>
              <a:t>PREDICTION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7C7E39-FE64-4C5A-A1D5-8BA4EABA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14375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21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TELUGU PHASE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7BCCBC-4ACE-42E4-9D0B-DDF551776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577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21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LSTM, Bi-LSTM and convolutional models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32D9AF-243C-4566-B399-145724A0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13 October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F8478D-7114-4F9D-B716-1FF6E8E5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4008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UROP PROJECT REVIEW</a:t>
            </a:r>
          </a:p>
        </p:txBody>
      </p:sp>
    </p:spTree>
    <p:extLst>
      <p:ext uri="{BB962C8B-B14F-4D97-AF65-F5344CB8AC3E}">
        <p14:creationId xmlns:p14="http://schemas.microsoft.com/office/powerpoint/2010/main" val="536772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B65FD3-7477-40AC-B2EA-222654E6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1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5B416C-F5E7-4622-AB91-001A3041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344E41"/>
                </a:solidFill>
                <a:latin typeface="Georgia"/>
                <a:ea typeface="Georgia"/>
                <a:cs typeface="Georgia"/>
              </a:rPr>
              <a:t>PROJECT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DFFA53-7228-41DF-869D-BBA1C29C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Telugu data preparation, model comparison and live prediction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84C7A4-DCFB-418D-BCA2-A396D50E3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UROP  /  TELUGU PHASE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87A0AC-194C-4C91-8F5C-0C9FD8D8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560ABD-D335-481B-AC3D-D7240C03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344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44E41"/>
                </a:solidFill>
                <a:latin typeface="Arial"/>
                <a:ea typeface="Arial"/>
                <a:cs typeface="Arial"/>
              </a:rPr>
              <a:t>TRAINING AND EVALUATION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7AB1DD-2DB1-45EA-86D3-D233BAADB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2381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5DD"/>
          </a:solidFill>
          <a:ln xmlns:a="http://schemas.openxmlformats.org/drawingml/2006/main" w="19050">
            <a:solidFill>
              <a:srgbClr val="A3B18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CDF1E2-FE6C-4DB2-8087-9CAEC4E5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215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8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Telugu datasets</a:t>
            </a:r>
          </a:p>
          <a:p xmlns:a="http://schemas.openxmlformats.org/drawingml/2006/main">
            <a:pPr algn="ctr">
              <a:defRPr sz="18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Native 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304296-8189-43C8-80A2-EF487E582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571750"/>
            <a:ext cx="428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550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A955AE-96CB-4CCD-A8AD-828BAF1C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81250"/>
            <a:ext cx="2381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5DD"/>
          </a:solidFill>
          <a:ln xmlns:a="http://schemas.openxmlformats.org/drawingml/2006/main" w="19050">
            <a:solidFill>
              <a:srgbClr val="A3B18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747111-1256-421B-8234-2F853194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524125"/>
            <a:ext cx="215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8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Normalize and split</a:t>
            </a:r>
          </a:p>
          <a:p xmlns:a="http://schemas.openxmlformats.org/drawingml/2006/main">
            <a:pPr algn="ctr">
              <a:defRPr sz="18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8-word contexts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900F3C-CF69-43CD-9A57-FE18909DE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571750"/>
            <a:ext cx="428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550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5D3215-DADE-43CA-9345-7E6A13147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81250"/>
            <a:ext cx="2381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5DD"/>
          </a:solidFill>
          <a:ln xmlns:a="http://schemas.openxmlformats.org/drawingml/2006/main" w="19050">
            <a:solidFill>
              <a:srgbClr val="A3B18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268354-2943-4F3D-8ED7-7C1B11FDB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24125"/>
            <a:ext cx="215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8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Train four models</a:t>
            </a:r>
          </a:p>
          <a:p xmlns:a="http://schemas.openxmlformats.org/drawingml/2006/main">
            <a:pPr algn="ctr">
              <a:defRPr sz="18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5 epochs each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890054-2855-4C40-8D17-254774564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571750"/>
            <a:ext cx="428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550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99A65B-4AD4-4A7A-8B3E-98785CA2A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81250"/>
            <a:ext cx="2381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5DD"/>
          </a:solidFill>
          <a:ln xmlns:a="http://schemas.openxmlformats.org/drawingml/2006/main" w="19050">
            <a:solidFill>
              <a:srgbClr val="A3B18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E36F3F-0D69-4469-99F2-26AC4BA11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24125"/>
            <a:ext cx="215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8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Validation selection</a:t>
            </a:r>
          </a:p>
          <a:p xmlns:a="http://schemas.openxmlformats.org/drawingml/2006/main">
            <a:pPr algn="ctr">
              <a:defRPr sz="18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Held-out test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329EBC-A614-481E-B07A-D979214BA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0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LSTM, Bi-LSTM, word CNN and gated word–character CNN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7CBAD1-5115-4DC9-AF10-707E09AB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344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44E41"/>
                </a:solidFill>
                <a:latin typeface="Arial"/>
                <a:ea typeface="Arial"/>
                <a:cs typeface="Arial"/>
              </a:rPr>
              <a:t>LIVE WEB APPLICATION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2AD9CA-EBD0-4273-B2EE-AC93F867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2381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5DD"/>
          </a:solidFill>
          <a:ln xmlns:a="http://schemas.openxmlformats.org/drawingml/2006/main" w="19050">
            <a:solidFill>
              <a:srgbClr val="A3B18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CA01EF-96EE-44F3-8CC7-79C94A7A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215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8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User types</a:t>
            </a:r>
          </a:p>
          <a:p xmlns:a="http://schemas.openxmlformats.org/drawingml/2006/main">
            <a:pPr algn="ctr">
              <a:defRPr sz="18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Telugu phrase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EE7196-FF24-4056-BCE6-96FEA2D8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762500"/>
            <a:ext cx="428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550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D165B7-8D2A-418F-BF0A-090D0E705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72000"/>
            <a:ext cx="2381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5DD"/>
          </a:solidFill>
          <a:ln xmlns:a="http://schemas.openxmlformats.org/drawingml/2006/main" w="19050">
            <a:solidFill>
              <a:srgbClr val="A3B18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F4B116-1595-4226-A5F3-15840051B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714875"/>
            <a:ext cx="215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8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Encode input</a:t>
            </a:r>
          </a:p>
          <a:p xmlns:a="http://schemas.openxmlformats.org/drawingml/2006/main">
            <a:pPr algn="ctr">
              <a:defRPr sz="18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Last 8 words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B3A129-47FD-4159-8B62-2891BF2F9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4762500"/>
            <a:ext cx="428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550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C6EB81-743D-4E85-987D-D152576F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72000"/>
            <a:ext cx="2381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5DD"/>
          </a:solidFill>
          <a:ln xmlns:a="http://schemas.openxmlformats.org/drawingml/2006/main" w="19050">
            <a:solidFill>
              <a:srgbClr val="A3B18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FE72FC-B5E3-459B-8232-2B343311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14875"/>
            <a:ext cx="215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8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Saved LSTM</a:t>
            </a:r>
          </a:p>
          <a:p xmlns:a="http://schemas.openxmlformats.org/drawingml/2006/main">
            <a:pPr algn="ctr">
              <a:defRPr sz="18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Word probabilities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BF2C97-0195-4965-B7E7-D9FB946E0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762500"/>
            <a:ext cx="428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550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C1A8C9-41C4-4726-8716-94A681914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572000"/>
            <a:ext cx="2381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5DD"/>
          </a:solidFill>
          <a:ln xmlns:a="http://schemas.openxmlformats.org/drawingml/2006/main" w="19050">
            <a:solidFill>
              <a:srgbClr val="A3B18A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7C7104-D143-4B40-B436-BBCE71CB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714875"/>
            <a:ext cx="215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8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Streamlit displays</a:t>
            </a:r>
          </a:p>
          <a:p xmlns:a="http://schemas.openxmlformats.org/drawingml/2006/main">
            <a:pPr algn="ctr">
              <a:defRPr sz="18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Top 5 suggestions</a:t>
            </a:r>
          </a:p>
        </p:txBody>
      </p:sp>
    </p:spTree>
    <p:extLst>
      <p:ext uri="{BB962C8B-B14F-4D97-AF65-F5344CB8AC3E}">
        <p14:creationId xmlns:p14="http://schemas.microsoft.com/office/powerpoint/2010/main" val="20379801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85010B-C708-4958-AE70-F4C6C8FCC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1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450784-3468-4BD1-B772-7FFCF4EE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344E41"/>
                </a:solidFill>
                <a:latin typeface="Georgia"/>
                <a:ea typeface="Georgia"/>
                <a:cs typeface="Georgia"/>
              </a:rPr>
              <a:t>LSTM AND BI-LSTM FORMULAS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C8A4C8-7B70-4118-8753-D967F1D4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UROP  /  TELUGU PHASE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506A14-5877-4255-B99B-FB357232D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5B5328-2C33-4C0B-8B1D-A1693D5CB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1450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17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qₜ = σ(Wq xₜ + Uq hₜ₋₁ + bq),  q ∈ {f, i, o}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6A7DCC-0601-4F01-A3C1-5FDF04ADB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90700"/>
            <a:ext cx="2619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Forget, input, output gates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C767A9-0A77-4F6A-9836-581530E1D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57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17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gₜ = tanh(Wg xₜ + Ug hₜ₋₁ + bg)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8AC691-C83E-4BB2-86D0-6A03EE0D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33650"/>
            <a:ext cx="2619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Candidate memory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CBE8DF-4330-4279-8754-5615997CA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0040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17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cₜ = fₜ ⊙ cₜ₋₁ + iₜ ⊙ gₜ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E1DF8A-0169-4F62-B3FB-CB33ACD0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76600"/>
            <a:ext cx="2619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Cell update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0547B4-BA15-47A7-AC3F-01F6AEC67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433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17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hₜ = oₜ ⊙ tanh(cₜ)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DA6599-A623-49F5-802E-F9DB7A8F4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19550"/>
            <a:ext cx="2619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Hidden 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C733B6-6085-4131-941F-B7D370EF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8630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17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hBi = concat(hforward, hreverse)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97DCBD-2279-456F-8E14-42898F14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762500"/>
            <a:ext cx="2619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Bi-LSTM terminal states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331F53-F9B7-4E17-A74A-30279033F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4832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Both directions read only the observed prefix. σ is sigmoid and ⊙ is element-wise multiplication.</a:t>
            </a:r>
          </a:p>
        </p:txBody>
      </p:sp>
    </p:spTree>
    <p:extLst>
      <p:ext uri="{BB962C8B-B14F-4D97-AF65-F5344CB8AC3E}">
        <p14:creationId xmlns:p14="http://schemas.microsoft.com/office/powerpoint/2010/main" val="18518131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CC11E2-9FB3-494B-B027-EF33C94FF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1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53E403-C213-4CD6-AD69-65F7AB92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344E41"/>
                </a:solidFill>
                <a:latin typeface="Georgia"/>
                <a:ea typeface="Georgia"/>
                <a:cs typeface="Georgia"/>
              </a:rPr>
              <a:t>GATED WORD–CHARACTER CNN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2F3EDC-EA23-4F6F-B463-56475223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Proposed contribution: combine word identity with Telugu spelling features.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793692-EA6C-4183-9A64-5CCF5E85D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UROP  /  TELUGU PHASE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2DAB72-2E3F-4000-A04C-661B3DC4B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F75AFA-A167-4082-95D3-B4FA7B20B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5262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32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c = MaxPool(ReLU(Conv(CharEmbed(word))))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0D7A6D-3F76-428E-AE93-91A4695D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622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47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g = σ(Wg [e ; c] + bg)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C28FCD-90A3-4690-9E79-67018AB38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7187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47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fused = g ⊙ e + (1 − g) ⊙ 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94ED50-884A-4347-B44E-FEA2C43F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815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32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Causal block: h′ = (h + v ⊙ σ(u)) / √2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94A73D-A347-4AF4-BA4E-C8A283E2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3400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e: word embedding   c: character features   g: learned fusion gate</a:t>
            </a:r>
          </a:p>
          <a:p xmlns:a="http://schemas.openxmlformats.org/drawingml/2006/main">
            <a:pPr>
              <a:defRPr sz="18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Training complete. Research originality requires further validation.</a:t>
            </a:r>
          </a:p>
        </p:txBody>
      </p:sp>
    </p:spTree>
    <p:extLst>
      <p:ext uri="{BB962C8B-B14F-4D97-AF65-F5344CB8AC3E}">
        <p14:creationId xmlns:p14="http://schemas.microsoft.com/office/powerpoint/2010/main" val="5478895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2BC06C-5D8B-4476-8AC4-DE7B06BC9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1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2ADB06-9AD4-4D7C-ADFB-732DA96C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344E41"/>
                </a:solidFill>
                <a:latin typeface="Georgia"/>
                <a:ea typeface="Georgia"/>
                <a:cs typeface="Georgia"/>
              </a:rPr>
              <a:t>PREDICTION AND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F03866-8341-48EF-83A3-DA7C6134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UROP  /  TELUGU PHASE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4DA2AA-0883-4E01-8A07-15119FFD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347046-7A41-455A-964A-76B8371E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335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47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pⱼ = exp(zⱼ) / Σₖ exp(zₖ),   z = Wout h + bout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E6D925-B2F5-4471-A9E9-499397D1C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670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62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62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62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LCE = −(1/N) Σₙ log p(yₙ | xₙ)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EFAE6A-E665-44E4-9B7B-8595B205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004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47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Accuracy@k = (1/N) Σₙ 1{yₙ ∈ TopK(xₙ)}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4F271D-FAEB-468C-A309-03200355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339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62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62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62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Perplexity = exp(LCE)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2CA7BC-5981-4CE8-95A4-444FE8CA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483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Higher accuracy and lower perplexity are better.</a:t>
            </a:r>
          </a:p>
          <a:p xmlns:a="http://schemas.openxmlformats.org/drawingml/2006/main">
            <a:pPr>
              <a:defRPr sz="18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7.21% of test targets are unknown words and count as accuracy misses.</a:t>
            </a:r>
          </a:p>
        </p:txBody>
      </p:sp>
    </p:spTree>
    <p:extLst>
      <p:ext uri="{BB962C8B-B14F-4D97-AF65-F5344CB8AC3E}">
        <p14:creationId xmlns:p14="http://schemas.microsoft.com/office/powerpoint/2010/main" val="6613890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5CB161-054D-4ABD-B977-6D7134CFF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1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EB614F-A299-4F0A-AEAC-3F3DEDEB8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344E41"/>
                </a:solidFill>
                <a:latin typeface="Georgia"/>
                <a:ea typeface="Georgia"/>
                <a:cs typeface="Georgia"/>
              </a:rPr>
              <a:t>CONTRIBUTION AND FINAL STATUS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5C4F0D-0C72-46B1-9040-B6B476C5F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Adaptive word–character fusion improves over the word-only CNN.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F562D7-EE05-4DE7-BA3E-23D2FB84A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UROP  /  TELUGU PHASE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506ED2-C12A-4F8C-AA93-DCE5C6DD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B7EB79-16D5-4B1A-9911-D779B24C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344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44E41"/>
                </a:solidFill>
                <a:latin typeface="Arial"/>
                <a:ea typeface="Arial"/>
                <a:cs typeface="Arial"/>
              </a:rPr>
              <a:t>INPUTS CONTAINING UNKNOWN WORDS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236277-BFBD-49AB-BFFE-CB3B89AF4DEB}"/>
              </a:ext>
            </a:extLst>
          </p:cNvPr>
          <p:cNvGraphicFramePr/>
          <p:nvPr/>
        </p:nvGraphicFramePr>
        <p:xfrm>
          <a:off xmlns:a="http://schemas.openxmlformats.org/drawingml/2006/main" x="571500" y="2571750"/>
          <a:ext xmlns:a="http://schemas.openxmlformats.org/drawingml/2006/main" cx="11049000" cy="1809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572000"/>
                <a:gridCol w="3238500"/>
                <a:gridCol w="3238500"/>
              </a:tblGrid>
              <a:tr h="6032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A3B18A"/>
                      </a:solidFill>
                      <a:prstDash val="solid"/>
                    </a:lnL>
                    <a:lnR w="9525">
                      <a:solidFill>
                        <a:srgbClr val="A3B18A"/>
                      </a:solidFill>
                      <a:prstDash val="solid"/>
                    </a:lnR>
                    <a:lnT w="9525">
                      <a:solidFill>
                        <a:srgbClr val="A3B18A"/>
                      </a:solidFill>
                      <a:prstDash val="solid"/>
                    </a:lnT>
                    <a:lnB w="9525">
                      <a:solidFill>
                        <a:srgbClr val="A3B18A"/>
                      </a:solidFill>
                      <a:prstDash val="solid"/>
                    </a:lnB>
                    <a:solidFill>
                      <a:srgbClr val="344E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Word CNN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3B18A"/>
                      </a:solidFill>
                      <a:prstDash val="solid"/>
                    </a:lnR>
                    <a:lnT w="9525">
                      <a:solidFill>
                        <a:srgbClr val="A3B18A"/>
                      </a:solidFill>
                      <a:prstDash val="solid"/>
                    </a:lnT>
                    <a:lnB w="9525">
                      <a:solidFill>
                        <a:srgbClr val="A3B18A"/>
                      </a:solidFill>
                      <a:prstDash val="solid"/>
                    </a:lnB>
                    <a:solidFill>
                      <a:srgbClr val="344E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Character CNN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3B18A"/>
                      </a:solidFill>
                      <a:prstDash val="solid"/>
                    </a:lnR>
                    <a:lnT w="9525">
                      <a:solidFill>
                        <a:srgbClr val="A3B18A"/>
                      </a:solidFill>
                      <a:prstDash val="solid"/>
                    </a:lnT>
                    <a:lnB w="9525">
                      <a:solidFill>
                        <a:srgbClr val="A3B18A"/>
                      </a:solidFill>
                      <a:prstDash val="solid"/>
                    </a:lnB>
                    <a:solidFill>
                      <a:srgbClr val="344E41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Top-1 accuracy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A3B18A"/>
                      </a:solidFill>
                      <a:prstDash val="solid"/>
                    </a:lnL>
                    <a:lnR w="9525">
                      <a:solidFill>
                        <a:srgbClr val="A3B18A"/>
                      </a:solidFill>
                      <a:prstDash val="solid"/>
                    </a:lnR>
                    <a:lnB w="9525">
                      <a:solidFill>
                        <a:srgbClr val="A3B18A"/>
                      </a:solidFill>
                      <a:prstDash val="solid"/>
                    </a:lnB>
                    <a:solidFill>
                      <a:srgbClr val="E7E5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13.13%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3B18A"/>
                      </a:solidFill>
                      <a:prstDash val="solid"/>
                    </a:lnR>
                    <a:lnB w="9525">
                      <a:solidFill>
                        <a:srgbClr val="A3B18A"/>
                      </a:solidFill>
                      <a:prstDash val="solid"/>
                    </a:lnB>
                    <a:solidFill>
                      <a:srgbClr val="E7E5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14.64%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3B18A"/>
                      </a:solidFill>
                      <a:prstDash val="solid"/>
                    </a:lnR>
                    <a:lnB w="9525">
                      <a:solidFill>
                        <a:srgbClr val="A3B18A"/>
                      </a:solidFill>
                      <a:prstDash val="solid"/>
                    </a:lnB>
                    <a:solidFill>
                      <a:srgbClr val="E7E5DD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Top-5 accuracy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A3B18A"/>
                      </a:solidFill>
                      <a:prstDash val="solid"/>
                    </a:lnL>
                    <a:lnR w="9525">
                      <a:solidFill>
                        <a:srgbClr val="A3B18A"/>
                      </a:solidFill>
                      <a:prstDash val="solid"/>
                    </a:lnR>
                    <a:lnB w="9525">
                      <a:solidFill>
                        <a:srgbClr val="A3B18A"/>
                      </a:solidFill>
                      <a:prstDash val="solid"/>
                    </a:lnB>
                    <a:solidFill>
                      <a:srgbClr val="DAD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26.10%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3B18A"/>
                      </a:solidFill>
                      <a:prstDash val="solid"/>
                    </a:lnR>
                    <a:lnB w="9525">
                      <a:solidFill>
                        <a:srgbClr val="A3B18A"/>
                      </a:solidFill>
                      <a:prstDash val="solid"/>
                    </a:lnB>
                    <a:solidFill>
                      <a:srgbClr val="DAD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28.88%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3B18A"/>
                      </a:solidFill>
                      <a:prstDash val="solid"/>
                    </a:lnR>
                    <a:lnB w="9525">
                      <a:solidFill>
                        <a:srgbClr val="A3B18A"/>
                      </a:solidFill>
                      <a:prstDash val="solid"/>
                    </a:lnB>
                    <a:solidFill>
                      <a:srgbClr val="DAD7CD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155448-0078-4C27-94CC-2A9789BA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4820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57,089 test examples. Rare-target improvement was not demonstrated.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CF2B55-229F-4E10-BD88-47F2BCE4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911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Training and verification complete. Telugu web demo uses LSTM.</a:t>
            </a:r>
          </a:p>
          <a:p xmlns:a="http://schemas.openxmlformats.org/drawingml/2006/main">
            <a:pPr>
              <a:defRPr sz="18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Research originality and the gate’s specific benefit need further study.</a:t>
            </a:r>
          </a:p>
        </p:txBody>
      </p:sp>
    </p:spTree>
    <p:extLst>
      <p:ext uri="{BB962C8B-B14F-4D97-AF65-F5344CB8AC3E}">
        <p14:creationId xmlns:p14="http://schemas.microsoft.com/office/powerpoint/2010/main" val="7770356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2026-10-14T08:54:51.2300000Z</dcterms:created>
  <dcterms:modified xsi:type="dcterms:W3CDTF">2026-10-14T08:54:51.2300000Z</dcterms:modified>
</coreProperties>
</file>