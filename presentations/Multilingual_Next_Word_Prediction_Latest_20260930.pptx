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4c469151742d0" /><Relationship Type="http://schemas.openxmlformats.org/officeDocument/2006/relationships/extended-properties" Target="/docProps/app.xml" Id="Rf2d52e649d3f43b1" /><Relationship Type="http://schemas.openxmlformats.org/officeDocument/2006/relationships/officeDocument" Target="/ppt/presentation.xml" Id="R5f0c185456284d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bf34164b049d3"/>
  </p:sldMasterIdLst>
  <p:notesMasterIdLst>
    <p:notesMasterId xmlns:r="http://schemas.openxmlformats.org/officeDocument/2006/relationships" r:id="R7cac818154614222"/>
  </p:notesMasterIdLst>
  <p:sldIdLst>
    <p:sldId xmlns:r="http://schemas.openxmlformats.org/officeDocument/2006/relationships" id="256" r:id="Rb5fa6ebddc354817"/>
    <p:sldId xmlns:r="http://schemas.openxmlformats.org/officeDocument/2006/relationships" id="257" r:id="Rcc4b6e57f6724809"/>
    <p:sldId xmlns:r="http://schemas.openxmlformats.org/officeDocument/2006/relationships" id="258" r:id="R38c2378655b948fb"/>
    <p:sldId xmlns:r="http://schemas.openxmlformats.org/officeDocument/2006/relationships" id="259" r:id="R910dd38112764640"/>
    <p:sldId xmlns:r="http://schemas.openxmlformats.org/officeDocument/2006/relationships" id="260" r:id="R85d7873b97bc4b92"/>
    <p:sldId xmlns:r="http://schemas.openxmlformats.org/officeDocument/2006/relationships" id="261" r:id="R1004f7ba2144498f"/>
    <p:sldId xmlns:r="http://schemas.openxmlformats.org/officeDocument/2006/relationships" id="262" r:id="Re1638fab48df4956"/>
    <p:sldId xmlns:r="http://schemas.openxmlformats.org/officeDocument/2006/relationships" id="263" r:id="Rea4d5ebef6794270"/>
    <p:sldId xmlns:r="http://schemas.openxmlformats.org/officeDocument/2006/relationships" id="264" r:id="Ra83b2b0f795c4696"/>
    <p:sldId xmlns:r="http://schemas.openxmlformats.org/officeDocument/2006/relationships" id="265" r:id="R2b8029e8e94f4ea9"/>
    <p:sldId xmlns:r="http://schemas.openxmlformats.org/officeDocument/2006/relationships" id="266" r:id="Rc28e35ba70aa4e80"/>
    <p:sldId xmlns:r="http://schemas.openxmlformats.org/officeDocument/2006/relationships" id="267" r:id="R43457e2270ed42a2"/>
    <p:sldId xmlns:r="http://schemas.openxmlformats.org/officeDocument/2006/relationships" id="268" r:id="R4b0f885eacc3409e"/>
    <p:sldId xmlns:r="http://schemas.openxmlformats.org/officeDocument/2006/relationships" id="269" r:id="R8672329f39154590"/>
    <p:sldId xmlns:r="http://schemas.openxmlformats.org/officeDocument/2006/relationships" id="270" r:id="Rf49e8e76b4fe4324"/>
    <p:sldId xmlns:r="http://schemas.openxmlformats.org/officeDocument/2006/relationships" id="271" r:id="Rd2c542fa09f14e5d"/>
    <p:sldId xmlns:r="http://schemas.openxmlformats.org/officeDocument/2006/relationships" id="272" r:id="R585a3cfb9207493b"/>
    <p:sldId xmlns:r="http://schemas.openxmlformats.org/officeDocument/2006/relationships" id="273" r:id="Rc3857ec27d6548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c9142ee884dfa" /><Relationship Type="http://schemas.openxmlformats.org/officeDocument/2006/relationships/slideMaster" Target="/ppt/slideMasters/slideMaster1.xml" Id="Rc80bf34164b049d3" /><Relationship Type="http://schemas.openxmlformats.org/officeDocument/2006/relationships/notesMaster" Target="/ppt/notesMasters/notesMaster1.xml" Id="R7cac818154614222" /><Relationship Type="http://schemas.openxmlformats.org/officeDocument/2006/relationships/presProps" Target="/ppt/presProps.xml" Id="R2b116ff0eeaf428a" /><Relationship Type="http://schemas.openxmlformats.org/officeDocument/2006/relationships/tableStyles" Target="/ppt/tableStyles.xml" Id="R509f435620554691" /><Relationship Type="http://schemas.openxmlformats.org/officeDocument/2006/relationships/slide" Target="/ppt/slides/slide1.xml" Id="Rb5fa6ebddc354817" /><Relationship Type="http://schemas.openxmlformats.org/officeDocument/2006/relationships/slide" Target="/ppt/slides/slide2.xml" Id="Rcc4b6e57f6724809" /><Relationship Type="http://schemas.openxmlformats.org/officeDocument/2006/relationships/slide" Target="/ppt/slides/slide3.xml" Id="R38c2378655b948fb" /><Relationship Type="http://schemas.openxmlformats.org/officeDocument/2006/relationships/slide" Target="/ppt/slides/slide4.xml" Id="R910dd38112764640" /><Relationship Type="http://schemas.openxmlformats.org/officeDocument/2006/relationships/slide" Target="/ppt/slides/slide5.xml" Id="R85d7873b97bc4b92" /><Relationship Type="http://schemas.openxmlformats.org/officeDocument/2006/relationships/slide" Target="/ppt/slides/slide6.xml" Id="R1004f7ba2144498f" /><Relationship Type="http://schemas.openxmlformats.org/officeDocument/2006/relationships/slide" Target="/ppt/slides/slide7.xml" Id="Re1638fab48df4956" /><Relationship Type="http://schemas.openxmlformats.org/officeDocument/2006/relationships/slide" Target="/ppt/slides/slide8.xml" Id="Rea4d5ebef6794270" /><Relationship Type="http://schemas.openxmlformats.org/officeDocument/2006/relationships/slide" Target="/ppt/slides/slide9.xml" Id="Ra83b2b0f795c4696" /><Relationship Type="http://schemas.openxmlformats.org/officeDocument/2006/relationships/slide" Target="/ppt/slides/slide10.xml" Id="R2b8029e8e94f4ea9" /><Relationship Type="http://schemas.openxmlformats.org/officeDocument/2006/relationships/slide" Target="/ppt/slides/slide11.xml" Id="Rc28e35ba70aa4e80" /><Relationship Type="http://schemas.openxmlformats.org/officeDocument/2006/relationships/slide" Target="/ppt/slides/slide12.xml" Id="R43457e2270ed42a2" /><Relationship Type="http://schemas.openxmlformats.org/officeDocument/2006/relationships/slide" Target="/ppt/slides/slide13.xml" Id="R4b0f885eacc3409e" /><Relationship Type="http://schemas.openxmlformats.org/officeDocument/2006/relationships/slide" Target="/ppt/slides/slide14.xml" Id="R8672329f39154590" /><Relationship Type="http://schemas.openxmlformats.org/officeDocument/2006/relationships/slide" Target="/ppt/slides/slide15.xml" Id="Rf49e8e76b4fe4324" /><Relationship Type="http://schemas.openxmlformats.org/officeDocument/2006/relationships/slide" Target="/ppt/slides/slide16.xml" Id="Rd2c542fa09f14e5d" /><Relationship Type="http://schemas.openxmlformats.org/officeDocument/2006/relationships/slide" Target="/ppt/slides/slide17.xml" Id="R585a3cfb9207493b" /><Relationship Type="http://schemas.openxmlformats.org/officeDocument/2006/relationships/slide" Target="/ppt/slides/slide18.xml" Id="Rc3857ec27d65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69acefc23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75d6cb3e5943dc" /><Relationship Type="http://schemas.openxmlformats.org/officeDocument/2006/relationships/notesMaster" Target="/ppt/notesMasters/notesMaster1.xml" Id="Re6f5593a5088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6f351f7654bff" /><Relationship Type="http://schemas.openxmlformats.org/officeDocument/2006/relationships/notesMaster" Target="/ppt/notesMasters/notesMaster1.xml" Id="R8d0754f074b14a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8fb84a058b41d7" /><Relationship Type="http://schemas.openxmlformats.org/officeDocument/2006/relationships/notesMaster" Target="/ppt/notesMasters/notesMaster1.xml" Id="R2cce6d896d54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92b90ddca4bae" /><Relationship Type="http://schemas.openxmlformats.org/officeDocument/2006/relationships/notesMaster" Target="/ppt/notesMasters/notesMaster1.xml" Id="R1c694a40b778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135c9c7834328" /><Relationship Type="http://schemas.openxmlformats.org/officeDocument/2006/relationships/notesMaster" Target="/ppt/notesMasters/notesMaster1.xml" Id="Re44fb7d873a2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d2f102993747d9" /><Relationship Type="http://schemas.openxmlformats.org/officeDocument/2006/relationships/notesMaster" Target="/ppt/notesMasters/notesMaster1.xml" Id="R1e8617249c7c4d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4392b3d7e4762" /><Relationship Type="http://schemas.openxmlformats.org/officeDocument/2006/relationships/notesMaster" Target="/ppt/notesMasters/notesMaster1.xml" Id="R6d4454f91f4a41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afa03e57a44078" /><Relationship Type="http://schemas.openxmlformats.org/officeDocument/2006/relationships/notesMaster" Target="/ppt/notesMasters/notesMaster1.xml" Id="Rcf15592b8f3c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5d6ac2748b4792" /><Relationship Type="http://schemas.openxmlformats.org/officeDocument/2006/relationships/notesMaster" Target="/ppt/notesMasters/notesMaster1.xml" Id="Re3cf3f1773e1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dbaa862e0441f5" /><Relationship Type="http://schemas.openxmlformats.org/officeDocument/2006/relationships/notesMaster" Target="/ppt/notesMasters/notesMaster1.xml" Id="Rc95806fae43143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f87bf911764024" /><Relationship Type="http://schemas.openxmlformats.org/officeDocument/2006/relationships/notesMaster" Target="/ppt/notesMasters/notesMaster1.xml" Id="Rb9c97ad9718742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91501eb43d44cf" /><Relationship Type="http://schemas.openxmlformats.org/officeDocument/2006/relationships/notesMaster" Target="/ppt/notesMasters/notesMaster1.xml" Id="R9e393e7fdeb048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1dc008c2274bc4" /><Relationship Type="http://schemas.openxmlformats.org/officeDocument/2006/relationships/notesMaster" Target="/ppt/notesMasters/notesMaster1.xml" Id="R9f9be23901fe4b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095d5eff50435c" /><Relationship Type="http://schemas.openxmlformats.org/officeDocument/2006/relationships/notesMaster" Target="/ppt/notesMasters/notesMaster1.xml" Id="R25dc00de19484d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bb7b3e185d4d03" /><Relationship Type="http://schemas.openxmlformats.org/officeDocument/2006/relationships/notesMaster" Target="/ppt/notesMasters/notesMaster1.xml" Id="Re3216fafecc84a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8361341ab74f76" /><Relationship Type="http://schemas.openxmlformats.org/officeDocument/2006/relationships/notesMaster" Target="/ppt/notesMasters/notesMaster1.xml" Id="R44f1c12e5b1341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04eeaf3fb4923" /><Relationship Type="http://schemas.openxmlformats.org/officeDocument/2006/relationships/notesMaster" Target="/ppt/notesMasters/notesMaster1.xml" Id="R1c687af5256c4a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fb3bb6208e4278" /><Relationship Type="http://schemas.openxmlformats.org/officeDocument/2006/relationships/notesMaster" Target="/ppt/notesMasters/notesMaster1.xml" Id="R23b8a96554db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overall project is multilingual. The active experiment is Telugu. Five-epoch training is not yet declared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Hindi samples and federated prototypes are outside the active Telugu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identity, counts and licenses are recorded locally. These datasets provide text for a word-level predictor; this is not Llama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data_telugu_llm/provenance.json; https://huggingface.co/datasets/Telugu-LLM-Labs/telugu_alpaca_yahma_cleaned_filtered_romanized; https://huggingface.co/datasets/Telugu-LLM-Labs/telugu_teknium_GPTeacher_general_instruct_filtered_romanized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approximately 90/5/5 grouping. Grouping produces unequal sentence counts. Exact overlap removal does not establish semantic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target is the following word; input prefixes exclude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src/text_utils.py; src/preprocess.py; src/sequence_data.py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 tokens are excluded from displayed suggestions. Prefixes are converted to token IDs and padded.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Bi-LSTM concatenates final forward and reverse hidden states. LSTM uses the final sequence output. Comparison is not parameter-matched.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x_t is the embedding vector; h is hidden state. W and U are learned matrices. b combines input and recurrent biases. Sigmoid σ outputs values in [0,1].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https://docs.pytorch.org/docs/2.14/generated/torch.nn.LSTM.html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and input gates update the memory. The output gate controls which transformed memory values enter the hidden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https://docs.pytorch.org/docs/2.14/generated/torch.nn.LSTM.html;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concatenates hidden[-2] and hidden[-1], the two terminal hidden states. Bidirectionality here does not mean using unknown future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cross-entropy consumes logits directly and performs the log-softmax internally. N denotes evaluated examples for averaged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Optimizer state and progress are restored. Batch order is seeded per epoch. Periodic checkpointing and an output-directory lock guard recovery and duplicate workers. Resumed-segment loss is not full-epoch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src/complete_telugu_training.py;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Top-1, top-3 and top-5 are next-word hit rates. Unknown-token predictions are never credited. Fixed-vocabulary perplexity is not an open-vocabulary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200,092 test examples. Results have one seed and unequal parameter counts; no statistical significance claim. Do not replace these scores with validation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set contains 198,928 examples. Only completed epoch metrics are shown. Training losses from resumed segments are intentionally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outputs/telugu_comparison/bilstm_history.json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is a static snapshot and cannot report future completion. The current training status was read at build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outputs/telugu_comparison/status.json; outputs/telugu_comparison/completion_job.json; src/complete_telugu_training.py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Telugu neural app, not the older hybrid router. Best checkpoint is preferred, with latest checkpoint as a training preview fallback. Prior verification covered dependency/syntax checks, model unit tests and UI checks; it does not guarantee zero errors or final training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src/telugu_app.py; src/telugu_neural_predictor.py; src/check_telugu_comparison.py; src/check_telugu_ui.py; src/verify_telugu_training.py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 is proposed, not implemented or experimentally validated. Adding model names alone does not establish novelty. Complete training and held-out evaluation first. Federated code exists only as a separate prototype; no validated privacy or federated results are claimed. Sources for the deck appear in slide speaker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src/fl_client.py; src/fl_server.py; TELUGU_EXPERIMENT.md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5de9fb15748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22cecef4ac4189" /><Relationship Type="http://schemas.openxmlformats.org/officeDocument/2006/relationships/slideLayout" Target="/ppt/slideLayouts/slideLayout1.xml" Id="R1f8cf0cf742c4a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cf0cf742c4a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b3b6609e46c3" /><Relationship Type="http://schemas.openxmlformats.org/officeDocument/2006/relationships/notesSlide" Target="/ppt/notesSlides/notesSlide1.xml" Id="R064dab39aa3e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0ed14460e444b" /><Relationship Type="http://schemas.openxmlformats.org/officeDocument/2006/relationships/notesSlide" Target="/ppt/notesSlides/notesSlide2.xml" Id="Rff68a16fd76b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1264bf03642f7" /><Relationship Type="http://schemas.openxmlformats.org/officeDocument/2006/relationships/notesSlide" Target="/ppt/notesSlides/notesSlide3.xml" Id="R523ddb973754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4e94850b46f4" /><Relationship Type="http://schemas.openxmlformats.org/officeDocument/2006/relationships/notesSlide" Target="/ppt/notesSlides/notesSlide4.xml" Id="Rf327b6f4b5f8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c917481304a98" /><Relationship Type="http://schemas.openxmlformats.org/officeDocument/2006/relationships/notesSlide" Target="/ppt/notesSlides/notesSlide5.xml" Id="R5638fd713a704b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114b3d50d468c" /><Relationship Type="http://schemas.openxmlformats.org/officeDocument/2006/relationships/notesSlide" Target="/ppt/notesSlides/notesSlide6.xml" Id="R4ff45c9e942e40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3c9aaaf849bb" /><Relationship Type="http://schemas.openxmlformats.org/officeDocument/2006/relationships/notesSlide" Target="/ppt/notesSlides/notesSlide7.xml" Id="Re30dee8a360247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a61bf0ee43fe" /><Relationship Type="http://schemas.openxmlformats.org/officeDocument/2006/relationships/notesSlide" Target="/ppt/notesSlides/notesSlide8.xml" Id="Rd6ad1f05224a4f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bd1a0fbbb46e2" /><Relationship Type="http://schemas.openxmlformats.org/officeDocument/2006/relationships/notesSlide" Target="/ppt/notesSlides/notesSlide9.xml" Id="Rf503947be1b1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791be9fdc4fa7" /><Relationship Type="http://schemas.openxmlformats.org/officeDocument/2006/relationships/notesSlide" Target="/ppt/notesSlides/notesSlide10.xml" Id="Reae42833fd4047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646b383594c47" /><Relationship Type="http://schemas.openxmlformats.org/officeDocument/2006/relationships/notesSlide" Target="/ppt/notesSlides/notesSlide11.xml" Id="R898d5f44ad794a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bc7fcde04452e" /><Relationship Type="http://schemas.openxmlformats.org/officeDocument/2006/relationships/notesSlide" Target="/ppt/notesSlides/notesSlide12.xml" Id="Rd7a679e836a84c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4894b8a34504" /><Relationship Type="http://schemas.openxmlformats.org/officeDocument/2006/relationships/notesSlide" Target="/ppt/notesSlides/notesSlide13.xml" Id="R22c4aff918d24d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16a9306f347ba" /><Relationship Type="http://schemas.openxmlformats.org/officeDocument/2006/relationships/notesSlide" Target="/ppt/notesSlides/notesSlide14.xml" Id="R1670684cb4594c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c1f3b4304bec" /><Relationship Type="http://schemas.openxmlformats.org/officeDocument/2006/relationships/notesSlide" Target="/ppt/notesSlides/notesSlide15.xml" Id="R96018c7e533043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de67ca33b46bd" /><Relationship Type="http://schemas.openxmlformats.org/officeDocument/2006/relationships/notesSlide" Target="/ppt/notesSlides/notesSlide16.xml" Id="R2b1a3bebcbf042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853ddec74444b" /><Relationship Type="http://schemas.openxmlformats.org/officeDocument/2006/relationships/notesSlide" Target="/ppt/notesSlides/notesSlide17.xml" Id="R475e7f487b0349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37448218a483c" /><Relationship Type="http://schemas.openxmlformats.org/officeDocument/2006/relationships/notesSlide" Target="/ppt/notesSlides/notesSlide18.xml" Id="R40d1f03310b1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5B30B-49B9-4BC1-A7EF-03D42BA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Multilingual</a:t>
            </a:r>
          </a:p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Next-Word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52DFA-0649-4064-A459-862A426A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FD469-5C51-452F-8398-C36DD98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63040-3F69-49E3-982F-9C93894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775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Telugu phase • LSTM and Bi-LSTM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CD451-A96F-4A37-AFF8-0D07167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3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Updated project review with model equations</a:t>
            </a:r>
          </a:p>
          <a:p xmlns:a="http://schemas.openxmlformats.org/drawingml/2006/main">
            <a:pPr>
              <a:defRPr sz="23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3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and verified experimental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82C12-7191-4EC3-AA88-E603F259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Snapshot: 30/9/2026, 4:14:09 pm IST</a:t>
            </a:r>
          </a:p>
        </p:txBody>
      </p:sp>
    </p:spTree>
    <p:extLst>
      <p:ext uri="{BB962C8B-B14F-4D97-AF65-F5344CB8AC3E}">
        <p14:creationId xmlns:p14="http://schemas.microsoft.com/office/powerpoint/2010/main" val="1202851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6863D-09DB-46B2-BA4C-9C57B265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What changed in the current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D39C2-A501-4241-AD08-998D105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EA412-061B-4FDC-A500-EDAE6C4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F771-63BD-4ACB-B4C3-76F0230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8A51B-35CC-477F-9112-A318D82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Larger Telugu corpora replace the original small sample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64EFD-D1B0-422E-BD5D-A4172CE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12B6F-65DF-4CDB-B0EA-EA5ECE7F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A common data pipeline supports both LSTM and Bi-LSTM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D6D3E-6C9C-4722-8EEE-A52DEF1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47745-9FF4-41E4-83A8-729E19F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Independent test metrics and resumable training are now recorded.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49404-39B8-4DC1-B376-FADE7B5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60C24-3208-4FC8-B704-1603A88C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The prediction page hides model selection and training/evaluation panels.</a:t>
            </a:r>
          </a:p>
        </p:txBody>
      </p:sp>
    </p:spTree>
    <p:extLst>
      <p:ext uri="{BB962C8B-B14F-4D97-AF65-F5344CB8AC3E}">
        <p14:creationId xmlns:p14="http://schemas.microsoft.com/office/powerpoint/2010/main" val="598185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5BE57-CFF4-450C-817C-AD903F4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Dataset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3FE84-E1A0-4AEA-BA49-EFD149C9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Native Telugu fields are used; the dataset names include “romanized”.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70547-E134-439C-91C5-7E42FF4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7AF3-EB68-452D-B2AC-E664EB49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763000"/>
                <a:gridCol w="2286000"/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Hugging Face dataset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Source records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telugu_alpaca_yahma_cleaned_filtered_romanized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28,910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telugu_teknium_GPTeacher_general_instruct_filtered_romanized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43,614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260B3-E599-4AC1-83CE-5898BD89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Fields: telugu_instruction, telugu_input, telugu_output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1613-61C5-4BB1-93DF-A5E1B10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Recorded licenses: CC BY 4.0 (Alpaca); MIT (GPTeacher).</a:t>
            </a:r>
          </a:p>
        </p:txBody>
      </p:sp>
    </p:spTree>
    <p:extLst>
      <p:ext uri="{BB962C8B-B14F-4D97-AF65-F5344CB8AC3E}">
        <p14:creationId xmlns:p14="http://schemas.microsoft.com/office/powerpoint/2010/main" val="1667524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CEC0E-7EDC-4EF2-98A2-379343C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Data split and leakage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EFAA1-55DA-4084-A67A-6FC6A0E5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CBD26-6046-4ED5-BA9E-CA90D0B6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2857500"/>
                <a:gridCol w="3810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Sentences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Next-word examples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312,456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3,483,073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18,294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198,928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18,662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200,092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670C-1BD8-41CA-A66D-C774394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Instruction-grouped split • exact sentence overlaps removed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80541-A16E-4CC3-9AF1-A39F15FE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Vocabulary is fitted only on training text. Semantic overlap may remain.</a:t>
            </a:r>
          </a:p>
        </p:txBody>
      </p:sp>
    </p:spTree>
    <p:extLst>
      <p:ext uri="{BB962C8B-B14F-4D97-AF65-F5344CB8AC3E}">
        <p14:creationId xmlns:p14="http://schemas.microsoft.com/office/powerpoint/2010/main" val="949251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CC72C-DD1C-4BDE-B551-750FB4D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From Telugu text to training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8AFE1-0DF5-48FD-AE95-E37710CF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7B271-A053-4856-B2F1-683FF3F5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8B40-AAA0-40D2-82DF-99AEA1AC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9537B-90D2-417A-9026-8EA7115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Normalize Unicode and retain the relevant language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BB249-F231-4151-AE0C-5E12539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9189-DA9D-45F2-BC3A-D455E52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Split into words; build a 20,000-entry training vocabulary.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D4B9-B690-4BAE-811F-69AD41C4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CED62-0DEB-4599-8F22-34D5397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Create prefix–target pairs using up to eight preceding words.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6B9FA-9767-4081-986C-6F12997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CB8CE-5872-431A-B7F9-98FD594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Left-pad short prefixes; reserve &lt;pad&gt; = 0 and &lt;unk&gt; = 1.</a:t>
            </a:r>
          </a:p>
        </p:txBody>
      </p:sp>
    </p:spTree>
    <p:extLst>
      <p:ext uri="{BB962C8B-B14F-4D97-AF65-F5344CB8AC3E}">
        <p14:creationId xmlns:p14="http://schemas.microsoft.com/office/powerpoint/2010/main" val="1053972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29D5E-C86A-40EB-967A-940A6B4C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Formal next-word prediction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81811-A3A4-4BCF-9EFC-2367C02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28C31-DFB2-4043-A328-1DCE2ACA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15EA8-E4C2-42AD-BD28-7747979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x = (wₜ₋ₗ₊₁, …, wₜ),     1 ≤ l ≤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0FD7D-3538-4957-ADD6-C92AC890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ŵₜ₊₁ = arg maxᵥ Pθ(v | 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75B69-295A-4657-BF25-D86D7755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Learn the probability of each vocabulary word</a:t>
            </a:r>
          </a:p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from the observed prefix, then display the top five candidates.</a:t>
            </a:r>
          </a:p>
        </p:txBody>
      </p:sp>
    </p:spTree>
    <p:extLst>
      <p:ext uri="{BB962C8B-B14F-4D97-AF65-F5344CB8AC3E}">
        <p14:creationId xmlns:p14="http://schemas.microsoft.com/office/powerpoint/2010/main" val="2008931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D7F1-E509-49B9-9F4E-8562269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Architecture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1DB28-A8A7-4F22-9DEA-CDD276D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1B340-4A2F-4687-AC21-F05EBAD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8764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619500"/>
                <a:gridCol w="3619500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Embedding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Recurrent layer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128 units; 1 layer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128 per direction; 1 layer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Output representation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128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256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Vocabulary output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Trainable parameters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3,959,328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6,618,656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947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BE9D3-B698-4D42-8636-DC74B01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LSTM formulas: gates and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9153-5003-4BF9-B82D-2856F84B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45520-E35B-404F-9F53-BBC5356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2D89-3994-4426-BE7A-9805B22B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fₜ = σ(Wf xₜ + Uf hₜ₋₁ + bf)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7DC7-4CFC-4951-9E98-AE111F1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Forget gate: controls how much previous memory to retain.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69623-2B65-42E6-B7F6-D4C3522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iₜ = σ(Wi xₜ + Ui hₜ₋₁ + bi)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064B1-E2E7-408A-8335-4D8FB15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Input gate: controls how much new information to write.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9DB05-5369-40B9-97FF-5C6302BD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2F4B3-8470-499D-B89F-B5B3B74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Candidate memory generated from the current input and prior state.</a:t>
            </a:r>
          </a:p>
        </p:txBody>
      </p:sp>
    </p:spTree>
    <p:extLst>
      <p:ext uri="{BB962C8B-B14F-4D97-AF65-F5344CB8AC3E}">
        <p14:creationId xmlns:p14="http://schemas.microsoft.com/office/powerpoint/2010/main" val="1078678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67998-6AD1-433F-B73E-60D3512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LSTM formulas: memory and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F8590-CF40-428F-89C4-EE09F2B9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53E8D-6724-4730-9026-B9428DD2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9EBE7-DCFF-4361-B8D0-4698A211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8E622-2D0F-4DC3-953F-9D2C36B3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oₜ = σ(Wo xₜ + Uo hₜ₋₁ + bo)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D8870-9088-4C80-B1DF-1AEFB0A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0B680-05CF-4E4F-893A-2FF0A0C7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95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cₜ: cell memory     hₜ: hidden state     ⊙: element-wise product</a:t>
            </a:r>
          </a:p>
        </p:txBody>
      </p:sp>
    </p:spTree>
    <p:extLst>
      <p:ext uri="{BB962C8B-B14F-4D97-AF65-F5344CB8AC3E}">
        <p14:creationId xmlns:p14="http://schemas.microsoft.com/office/powerpoint/2010/main" val="922826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EDA8D-8CE6-49AE-A439-4E00A2B3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Bi-LSTM: two views of the observed prefix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EC6F0-DC0B-4C19-8EFA-125DA1E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63EC-0B55-41FE-8EC1-A762A26A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4F0B8-942D-4BCE-96B3-FBFCFF4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Forward:  x₁ → x₂ → … → xₗ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F2CF4-151B-4847-888E-C7C16A7A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Reverse:  xₗ → … → x₂ → x₁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1D4EA-CD23-4EB0-B72D-4E0DE34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h = concat(hforward, hreverse) ∈ ℝ²⁵⁶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7B323-E4AA-432F-9A5B-836AC9B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Both directions process only the supplied prefix.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Neither direction receives the next target word.</a:t>
            </a:r>
          </a:p>
        </p:txBody>
      </p:sp>
    </p:spTree>
    <p:extLst>
      <p:ext uri="{BB962C8B-B14F-4D97-AF65-F5344CB8AC3E}">
        <p14:creationId xmlns:p14="http://schemas.microsoft.com/office/powerpoint/2010/main" val="9511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99BAD-D5AC-4EC7-9E41-2673011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Output probabilities and training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C769C-AF7E-45A8-97C2-C248DF0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4A3B0-4411-4019-93E9-47AEA958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DFF4C-3DC8-4134-A08D-64FE70C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z = Wout h + 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9A9BF-E95A-4C97-B1DD-B952BE56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pⱼ = exp(zⱼ) / Σₖ exp(zₖ)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29CA-1D24-446E-AEBF-AC6FA5C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8C5B2-B0EA-415F-8FC3-803D5BA6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Softmax produces a distribution; cross-entropy trains the model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to assign higher probability to the true next word.</a:t>
            </a:r>
          </a:p>
        </p:txBody>
      </p:sp>
    </p:spTree>
    <p:extLst>
      <p:ext uri="{BB962C8B-B14F-4D97-AF65-F5344CB8AC3E}">
        <p14:creationId xmlns:p14="http://schemas.microsoft.com/office/powerpoint/2010/main" val="769470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D27B8-7495-4B39-9729-AF1C1AD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Training configuration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54695-F736-45BC-8F25-4F81FB8D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441B6-0F86-40C9-BAB7-CA3E4967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10490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6381750"/>
              </a:tblGrid>
              <a:tr h="5921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Current experiment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Optimizer / 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Adam / 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Batch / context / seed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512 / 8 words / 42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Device /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CPU /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Dropout / gradient clipping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0.0 / norm 1.0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Training budget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 total epochs per 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183C6-7583-4DB6-8767-752CFE1C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Latest checkpoint resumes training; best checkpoint minimizes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1853462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53CB-7D1C-46D4-AA8F-233C574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Evaluation formulas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E9400-41D6-4830-B034-3CEE3E5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7AE3B-9D5F-47CE-9D50-F52F4B00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76369-384B-4921-B132-D9D22D4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E87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007E87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4D87E-541B-43AB-8F17-1C18C13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72E40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172E40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68978-7006-4C80-A7E8-F6C86A2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Higher top-k accuracy is better; lower perplexity is better.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EA369-46E4-4338-9AAD-E98A765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Unknown test targets count as misses (7.21% of targets).</a:t>
            </a:r>
          </a:p>
          <a:p xmlns:a="http://schemas.openxmlformats.org/drawingml/2006/main">
            <a:pPr>
              <a:defRPr sz="187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Perplexity uses the fixed vocabulary with unknown words collapsed.</a:t>
            </a:r>
          </a:p>
        </p:txBody>
      </p:sp>
    </p:spTree>
    <p:extLst>
      <p:ext uri="{BB962C8B-B14F-4D97-AF65-F5344CB8AC3E}">
        <p14:creationId xmlns:p14="http://schemas.microsoft.com/office/powerpoint/2010/main" val="1481840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9489F-76B5-452A-B17D-52F19D71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Held-out test results: one-epoch checkpoints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B7E0D-CF09-461F-9CCA-23972315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These are completed baseline evaluations, not final five-epoch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D6D2B-6834-4369-A812-2C721A2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5FACE-0A65-4E25-91AB-0943E963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Top-1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13.92%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15.25%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Top-3 accuracy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22.56%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24.63%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Top-5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26.63%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29.03%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Cross-entropy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5.9623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5.7106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388.49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302.05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A93D-0769-415D-A73D-608752D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95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Bi-LSTM: +1.33 percentage points top-1; +2.41 points top-5.</a:t>
            </a:r>
          </a:p>
        </p:txBody>
      </p:sp>
    </p:spTree>
    <p:extLst>
      <p:ext uri="{BB962C8B-B14F-4D97-AF65-F5344CB8AC3E}">
        <p14:creationId xmlns:p14="http://schemas.microsoft.com/office/powerpoint/2010/main" val="20448114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223CA-1BE5-4CFD-97A9-C017555D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Bi-LSTM validation improves across epochs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0506C-6788-48C2-917A-5C41D696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Validation metrics guide checkpoint selection; they are not test scores.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F0D08-558C-41F6-97E7-036D74A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96B33-B73D-4CCF-AC6A-276A7BD1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000250"/>
                <a:gridCol w="2000250"/>
                <a:gridCol w="2000250"/>
                <a:gridCol w="20002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Completed epoch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Top-5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Loss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10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15.06%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28.77%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5.7511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314.55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17.17%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32.19%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5.4076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223.10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17.95%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33.59%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5.2918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OpenAI Sans"/>
                          <a:ea typeface="OpenAI Sans"/>
                          <a:cs typeface="OpenAI Sans"/>
                        </a:rPr>
                        <a:t>198.70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31481-A950-4798-BB35-83E0588C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Epoch 3 improves top-5 by 4.82 percentage points over epoch 1.</a:t>
            </a:r>
          </a:p>
        </p:txBody>
      </p:sp>
    </p:spTree>
    <p:extLst>
      <p:ext uri="{BB962C8B-B14F-4D97-AF65-F5344CB8AC3E}">
        <p14:creationId xmlns:p14="http://schemas.microsoft.com/office/powerpoint/2010/main" val="1242623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B59BB-CCD7-4FB0-A4B4-DD802C3D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Latest training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F37D2-A7AC-4CED-A4D3-21537C51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725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Snapshot: 30/9/2026, 4:14:09 pm 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44F46-3617-47B1-AE29-E644B64B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71882-F3D7-4505-A123-5FCFEFB8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3148D-F714-4763-9B78-DB0E05C6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300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BILSTM • epoch 4 of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1843E-E4A9-4F94-9274-6DED1CF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Saved status: training</a:t>
            </a:r>
          </a:p>
          <a:p xmlns:a="http://schemas.openxmlformats.org/drawingml/2006/main">
            <a:pPr>
              <a:def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25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Batch 3,900 / 6,803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C99E9-71D7-4C1B-B427-1700FD09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LSTM: one completed epoch; a partial second epoch is saved.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7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Completion workflow continues Bi-LSTM first, then LSTM.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939B2-4151-430F-8261-76889564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10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Final five-epoch test results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326888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5EF65-C0EE-4A72-A3D2-0AAC4C62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Prediction app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BD3BF-7D8E-4F17-A2A1-27D8DAFA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186F0-4C1C-4EC0-B142-AB39039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FD5FB-800E-46EE-8B1F-A2748D5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6DCC8-FA7D-461D-BF0D-F0EEC648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Streamlit page accepts Telugu input and ranks five next words.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2DEB1-4697-4EED-8AB2-DF6DBB7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26FE8-967E-4DCD-AF40-0460829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Model radio buttons and training/evaluation panels are hidden.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FFD60-C022-4AA7-BCE3-7C8644B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3E3F1-F19D-4555-97C3-F20964B5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Current default is LSTM; predictions come from the neural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71F85-1A00-4254-BDAC-862A405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25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D1823-55BB-40F0-8D87-484B0DC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100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Checks cover model loading, finite outputs, input validation and UI health.</a:t>
            </a:r>
          </a:p>
        </p:txBody>
      </p:sp>
    </p:spTree>
    <p:extLst>
      <p:ext uri="{BB962C8B-B14F-4D97-AF65-F5344CB8AC3E}">
        <p14:creationId xmlns:p14="http://schemas.microsoft.com/office/powerpoint/2010/main" val="10858606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22CF8-D4F3-484C-8722-CD2D9C14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defRPr>
            </a:pPr>
            <a:r>
              <a:rPr sz="3300" b="1">
                <a:solidFill>
                  <a:srgbClr val="102638"/>
                </a:solidFill>
                <a:latin typeface="OpenAI Sans"/>
                <a:ea typeface="OpenAI Sans"/>
                <a:cs typeface="OpenAI Sans"/>
              </a:rPr>
              <a:t>Novelty and next research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1EBBF-C130-434F-BA00-A5D9A7CB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defRPr>
            </a:pPr>
            <a:r>
              <a:rPr sz="1200" b="0">
                <a:solidFill>
                  <a:srgbClr val="526779"/>
                </a:solidFill>
                <a:latin typeface="OpenAI Sans"/>
                <a:ea typeface="OpenAI Sans"/>
                <a:cs typeface="OpenAI Sans"/>
              </a:rPr>
              <a:t>UROP  /  TELUGU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E345A-E35C-492A-82FE-7B556CAC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1500" b="0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6DCC6-1D3D-4CF7-A147-AC6497D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40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Current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387B-3F01-432F-9748-7708B77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A reproducible Telugu comparison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with grouped data splits, resumable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training and a usable prediction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LSTM and Bi-LSTM are established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architectures, not new algorithms.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C2C5-E0BB-46F8-991D-304BAAE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E87"/>
                </a:solidFill>
                <a:latin typeface="OpenAI Sans"/>
                <a:ea typeface="OpenAI Sans"/>
                <a:cs typeface="OpenAI Sans"/>
              </a:defRPr>
            </a:pPr>
            <a:r>
              <a:rPr sz="2400" b="1">
                <a:solidFill>
                  <a:srgbClr val="007E87"/>
                </a:solidFill>
                <a:latin typeface="OpenAI Sans"/>
                <a:ea typeface="OpenAI Sans"/>
                <a:cs typeface="OpenAI Sans"/>
              </a:rPr>
              <a:t>Proposed extension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D818A-6445-4475-8106-576EC24F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51911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Character-aware or subword modeling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for rare and inflected Telugu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Evaluate attention-based alternatives,</a:t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multiple seeds and more languages.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defRPr>
            </a:pPr>
            <a:r>
              <a:rPr sz="2025" b="0">
                <a:solidFill>
                  <a:srgbClr val="172E40"/>
                </a:solidFill>
                <a:latin typeface="OpenAI Sans"/>
                <a:ea typeface="OpenAI Sans"/>
                <a:cs typeface="OpenAI Sans"/>
              </a:rPr>
              <a:t>Validate gains through ablations.</a:t>
            </a:r>
          </a:p>
        </p:txBody>
      </p:sp>
    </p:spTree>
    <p:extLst>
      <p:ext uri="{BB962C8B-B14F-4D97-AF65-F5344CB8AC3E}">
        <p14:creationId xmlns:p14="http://schemas.microsoft.com/office/powerpoint/2010/main" val="1543152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2026-09-30T10:44:11.4220000Z</dcterms:created>
  <dcterms:modified xsi:type="dcterms:W3CDTF">2026-09-30T10:44:11.4220000Z</dcterms:modified>
</coreProperties>
</file>