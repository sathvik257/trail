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8dfeedd1264998" /><Relationship Type="http://schemas.openxmlformats.org/officeDocument/2006/relationships/extended-properties" Target="/docProps/app.xml" Id="R130ed501b9b74ecf" /><Relationship Type="http://schemas.openxmlformats.org/officeDocument/2006/relationships/officeDocument" Target="/ppt/presentation.xml" Id="R2ee4340ebff34ab9" /></Relationships>
</file>

<file path=ppt/presentation.xml><?xml version="1.0" encoding="utf-8"?>
<p:presentation xmlns:p="http://schemas.openxmlformats.org/presentationml/2006/main">
  <p:sldMasterIdLst>
    <p:sldMasterId xmlns:r="http://schemas.openxmlformats.org/officeDocument/2006/relationships" id="2147483648" r:id="R1eb8ee39e0ec4777"/>
  </p:sldMasterIdLst>
  <p:notesMasterIdLst>
    <p:notesMasterId xmlns:r="http://schemas.openxmlformats.org/officeDocument/2006/relationships" r:id="R26ca3bf8ab354304"/>
  </p:notesMasterIdLst>
  <p:sldIdLst>
    <p:sldId xmlns:r="http://schemas.openxmlformats.org/officeDocument/2006/relationships" id="256" r:id="Ra3f33982b949409a"/>
    <p:sldId xmlns:r="http://schemas.openxmlformats.org/officeDocument/2006/relationships" id="257" r:id="R6ce720d4db994034"/>
    <p:sldId xmlns:r="http://schemas.openxmlformats.org/officeDocument/2006/relationships" id="258" r:id="R94057ce3d43e4ef7"/>
    <p:sldId xmlns:r="http://schemas.openxmlformats.org/officeDocument/2006/relationships" id="259" r:id="R5eb7fc7a73b94d0a"/>
    <p:sldId xmlns:r="http://schemas.openxmlformats.org/officeDocument/2006/relationships" id="260" r:id="R17bc2989c3fb4762"/>
    <p:sldId xmlns:r="http://schemas.openxmlformats.org/officeDocument/2006/relationships" id="261" r:id="R8b513628e9e8404a"/>
    <p:sldId xmlns:r="http://schemas.openxmlformats.org/officeDocument/2006/relationships" id="262" r:id="Rd0d57a4cdd674ea2"/>
    <p:sldId xmlns:r="http://schemas.openxmlformats.org/officeDocument/2006/relationships" id="263" r:id="R1f02edae097e4755"/>
    <p:sldId xmlns:r="http://schemas.openxmlformats.org/officeDocument/2006/relationships" id="264" r:id="R16f1716ba77c4bc8"/>
    <p:sldId xmlns:r="http://schemas.openxmlformats.org/officeDocument/2006/relationships" id="265" r:id="Rd0ffaedb72da4c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0692ee45534a0a" /><Relationship Type="http://schemas.openxmlformats.org/officeDocument/2006/relationships/slideMaster" Target="/ppt/slideMasters/slideMaster1.xml" Id="R1eb8ee39e0ec4777" /><Relationship Type="http://schemas.openxmlformats.org/officeDocument/2006/relationships/notesMaster" Target="/ppt/notesMasters/notesMaster1.xml" Id="R26ca3bf8ab354304" /><Relationship Type="http://schemas.openxmlformats.org/officeDocument/2006/relationships/presProps" Target="/ppt/presProps.xml" Id="Rde1ef0b4ccf64df0" /><Relationship Type="http://schemas.openxmlformats.org/officeDocument/2006/relationships/tableStyles" Target="/ppt/tableStyles.xml" Id="R07a7d7592e784919" /><Relationship Type="http://schemas.openxmlformats.org/officeDocument/2006/relationships/slide" Target="/ppt/slides/slide1.xml" Id="Ra3f33982b949409a" /><Relationship Type="http://schemas.openxmlformats.org/officeDocument/2006/relationships/slide" Target="/ppt/slides/slide2.xml" Id="R6ce720d4db994034" /><Relationship Type="http://schemas.openxmlformats.org/officeDocument/2006/relationships/slide" Target="/ppt/slides/slide3.xml" Id="R94057ce3d43e4ef7" /><Relationship Type="http://schemas.openxmlformats.org/officeDocument/2006/relationships/slide" Target="/ppt/slides/slide4.xml" Id="R5eb7fc7a73b94d0a" /><Relationship Type="http://schemas.openxmlformats.org/officeDocument/2006/relationships/slide" Target="/ppt/slides/slide5.xml" Id="R17bc2989c3fb4762" /><Relationship Type="http://schemas.openxmlformats.org/officeDocument/2006/relationships/slide" Target="/ppt/slides/slide6.xml" Id="R8b513628e9e8404a" /><Relationship Type="http://schemas.openxmlformats.org/officeDocument/2006/relationships/slide" Target="/ppt/slides/slide7.xml" Id="Rd0d57a4cdd674ea2" /><Relationship Type="http://schemas.openxmlformats.org/officeDocument/2006/relationships/slide" Target="/ppt/slides/slide8.xml" Id="R1f02edae097e4755" /><Relationship Type="http://schemas.openxmlformats.org/officeDocument/2006/relationships/slide" Target="/ppt/slides/slide9.xml" Id="R16f1716ba77c4bc8" /><Relationship Type="http://schemas.openxmlformats.org/officeDocument/2006/relationships/slide" Target="/ppt/slides/slide10.xml" Id="Rd0ffaedb72da4c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041890701740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1bfc1738d847d5" /><Relationship Type="http://schemas.openxmlformats.org/officeDocument/2006/relationships/notesMaster" Target="/ppt/notesMasters/notesMaster1.xml" Id="Rbe3b8fc2f10f4c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7c5362ab64d30" /><Relationship Type="http://schemas.openxmlformats.org/officeDocument/2006/relationships/notesMaster" Target="/ppt/notesMasters/notesMaster1.xml" Id="R65150b7144f746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09453a04ee4e36" /><Relationship Type="http://schemas.openxmlformats.org/officeDocument/2006/relationships/notesMaster" Target="/ppt/notesMasters/notesMaster1.xml" Id="Rab6cc31b4bfb43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5b7b4496e04007" /><Relationship Type="http://schemas.openxmlformats.org/officeDocument/2006/relationships/notesMaster" Target="/ppt/notesMasters/notesMaster1.xml" Id="R1d0466207bf74b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68b92f7f8b46e7" /><Relationship Type="http://schemas.openxmlformats.org/officeDocument/2006/relationships/notesMaster" Target="/ppt/notesMasters/notesMaster1.xml" Id="R6381730c1d5143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d8b30d1ddd4dd2" /><Relationship Type="http://schemas.openxmlformats.org/officeDocument/2006/relationships/notesMaster" Target="/ppt/notesMasters/notesMaster1.xml" Id="R1db47790dede46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4598d478e446e" /><Relationship Type="http://schemas.openxmlformats.org/officeDocument/2006/relationships/notesMaster" Target="/ppt/notesMasters/notesMaster1.xml" Id="Redcd9bfd064d42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0abf6c1fa344d5" /><Relationship Type="http://schemas.openxmlformats.org/officeDocument/2006/relationships/notesMaster" Target="/ppt/notesMasters/notesMaster1.xml" Id="Rc3f0a232a2024d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80c5a5fa664fb4" /><Relationship Type="http://schemas.openxmlformats.org/officeDocument/2006/relationships/notesMaster" Target="/ppt/notesMasters/notesMaster1.xml" Id="R840165d41bee4d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352e0c4c9e432a" /><Relationship Type="http://schemas.openxmlformats.org/officeDocument/2006/relationships/notesMaster" Target="/ppt/notesMasters/notesMaster1.xml" Id="R0fa88bd8f13341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Multilingual describes the overall project scope. The verified interface currently supports Telugu only. The project predicts a next word rather than generating a full sentence.</a:t>
            </a:r>
          </a:p>
          <a:p xmlns:a="http://schemas.openxmlformats.org/drawingml/2006/main">
            <a:r>
              <a:t/>
            </a:r>
          </a:p>
          <a:p xmlns:a="http://schemas.openxmlformats.org/drawingml/2006/main">
            <a:r>
              <a:t>Evidence: src/telugu_app.py; FINAL_DELIVERY.md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dataset IDs: Telugu-LLM-Labs/telugu_alpaca_yahma_cleaned_filtered_romanized and Telugu-LLM-Labs/telugu_teknium_GPTeacher_general_instruct_filtered_romanized. We use native Telugu instruction/input/output fields, not romanized fields. Seed 42, CPU execution, gradient clipping 1.0, dropout 0. Flower is a legacy dependency, not part of the current training.</a:t>
            </a:r>
          </a:p>
          <a:p xmlns:a="http://schemas.openxmlformats.org/drawingml/2006/main">
            <a:r>
              <a:t/>
            </a:r>
          </a:p>
          <a:p xmlns:a="http://schemas.openxmlformats.org/drawingml/2006/main">
            <a:r>
              <a:t>Evidence: data_telugu_llm/provenance.json; src/train_telugu_comparison.py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tokenizer normalizes and extracts Telugu tokens. The last seq_length tokens form the context. The predictor rejects an empty context and an all-unknown context before running inference. It maps remaining unknown tokens to 1 and left-pads to eight tokens with 0. This diagram describes the deployed word-level LSTM path.</a:t>
            </a:r>
          </a:p>
          <a:p xmlns:a="http://schemas.openxmlformats.org/drawingml/2006/main">
            <a:r>
              <a:t/>
            </a:r>
          </a:p>
          <a:p xmlns:a="http://schemas.openxmlformats.org/drawingml/2006/main">
            <a:r>
              <a:t>Evidence: src/text_utils.py; src/telugu_neural_predictor.py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uses all logits. Special-token logits are masked only for ranking. Displayed probabilities are original softmax values and are not renormalized after filtering. Each button click invokes inference on the selected context. The cached model reloads if the checkpoint modification time changes. The default remains LSTM; no model selector or training panel is shown.</a:t>
            </a:r>
          </a:p>
          <a:p xmlns:a="http://schemas.openxmlformats.org/drawingml/2006/main">
            <a:r>
              <a:t/>
            </a:r>
          </a:p>
          <a:p xmlns:a="http://schemas.openxmlformats.org/drawingml/2006/main">
            <a:r>
              <a:t>Evidence: src/telugu_neural_predictor.py;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6fc6e755be43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68494d1eae49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e30f2e98c74b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fbfb85eee740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ac2c61656547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7719e063be4d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0F3E7E-E4AE-49A8-90A5-95EBB1AE80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67ABA9-2D2E-402F-A947-C52CA2B94F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556CD5-3778-4570-951A-52D1255D39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40EE00-21E7-4987-A013-62298548D7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710A2A-79D1-4AE2-A612-4483B49E18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06FAD6-571C-40B4-8173-348C51E4EF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DDF4FC-EFAE-455C-A149-7AD1E1AFBA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52D1BD-4252-4CFA-856D-F7A1137CAAE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30DE00-9ACA-475A-8418-A25F8057E1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E043D7-03CF-414B-B706-EDE2EE4053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15e4e2517e46d0" /><Relationship Type="http://schemas.openxmlformats.org/officeDocument/2006/relationships/slideLayout" Target="/ppt/slideLayouts/slideLayout1.xml" Id="Rc6b712ea76a044b9" /><Relationship Type="http://schemas.openxmlformats.org/officeDocument/2006/relationships/slideLayout" Target="/ppt/slideLayouts/slideLayout2.xml" Id="R50cd7242bcf44afe" /><Relationship Type="http://schemas.openxmlformats.org/officeDocument/2006/relationships/slideLayout" Target="/ppt/slideLayouts/slideLayout3.xml" Id="R911cd67c80b14cb9" /><Relationship Type="http://schemas.openxmlformats.org/officeDocument/2006/relationships/slideLayout" Target="/ppt/slideLayouts/slideLayout4.xml" Id="Reb9a6e750ad54fb1" /><Relationship Type="http://schemas.openxmlformats.org/officeDocument/2006/relationships/slideLayout" Target="/ppt/slideLayouts/slideLayout5.xml" Id="R1b07a4b2de0f401a" /><Relationship Type="http://schemas.openxmlformats.org/officeDocument/2006/relationships/slideLayout" Target="/ppt/slideLayouts/slideLayout6.xml" Id="R3439dd239b904f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b712ea76a044b9"/>
    <p:sldLayoutId xmlns:r="http://schemas.openxmlformats.org/officeDocument/2006/relationships" id="2147483650" r:id="R50cd7242bcf44afe"/>
    <p:sldLayoutId xmlns:r="http://schemas.openxmlformats.org/officeDocument/2006/relationships" id="2147483651" r:id="R911cd67c80b14cb9"/>
    <p:sldLayoutId xmlns:r="http://schemas.openxmlformats.org/officeDocument/2006/relationships" id="2147483652" r:id="Reb9a6e750ad54fb1"/>
    <p:sldLayoutId xmlns:r="http://schemas.openxmlformats.org/officeDocument/2006/relationships" id="2147483653" r:id="R1b07a4b2de0f401a"/>
    <p:sldLayoutId xmlns:r="http://schemas.openxmlformats.org/officeDocument/2006/relationships" id="2147483654" r:id="R3439dd239b904f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7023cfd8844e3f" /><Relationship Type="http://schemas.openxmlformats.org/officeDocument/2006/relationships/notesSlide" Target="/ppt/notesSlides/notesSlide1.xml" Id="R8974fbbb26e544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56daeb4fd74320" /><Relationship Type="http://schemas.openxmlformats.org/officeDocument/2006/relationships/notesSlide" Target="/ppt/notesSlides/notesSlide2.xml" Id="Rda3c6d3a4b85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a65b15733d45b8" /><Relationship Type="http://schemas.openxmlformats.org/officeDocument/2006/relationships/notesSlide" Target="/ppt/notesSlides/notesSlide3.xml" Id="R35f0af823fe043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88574449c44305" /><Relationship Type="http://schemas.openxmlformats.org/officeDocument/2006/relationships/notesSlide" Target="/ppt/notesSlides/notesSlide4.xml" Id="R1eebd69fad3b48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8139b651554f94" /><Relationship Type="http://schemas.openxmlformats.org/officeDocument/2006/relationships/notesSlide" Target="/ppt/notesSlides/notesSlide5.xml" Id="Red67b98c5db946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76576e71b04c60" /><Relationship Type="http://schemas.openxmlformats.org/officeDocument/2006/relationships/notesSlide" Target="/ppt/notesSlides/notesSlide6.xml" Id="R8bb4d19ddc6c4a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5076cf75a5489e" /><Relationship Type="http://schemas.openxmlformats.org/officeDocument/2006/relationships/notesSlide" Target="/ppt/notesSlides/notesSlide7.xml" Id="R7bf397004e0b46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84eaf317814291" /><Relationship Type="http://schemas.openxmlformats.org/officeDocument/2006/relationships/notesSlide" Target="/ppt/notesSlides/notesSlide8.xml" Id="Rc4824e8fbc4a4f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64bf2d08e6486c" /><Relationship Type="http://schemas.openxmlformats.org/officeDocument/2006/relationships/notesSlide" Target="/ppt/notesSlides/notesSlide9.xml" Id="Rb5465f8b231b48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b72ffb31ab41a7" /><Relationship Type="http://schemas.openxmlformats.org/officeDocument/2006/relationships/notesSlide" Target="/ppt/notesSlides/notesSlide10.xml" Id="Rf964f1febe9f41ea"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66D48-40F7-4E8B-A492-6FFE8355037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E0630E-D7FD-4962-AE73-647A477D7CB4}"/>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CBAA23D9-6247-4072-9DC1-8EF8F7B0C872}"/>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4598C1A8-BFA5-4FD5-AAED-207BB9AF9642}"/>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387A4161-6A7D-417D-966E-A5A10C9821C2}"/>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14 October 2026</a:t>
            </a:r>
          </a:p>
        </p:txBody>
      </p:sp>
      <p:sp>
        <p:nvSpPr>
          <p:cNvPr id="6" name="">
            <a:extLst xmlns:a="http://schemas.openxmlformats.org/drawingml/2006/main">
              <a:ext uri="{FF2B5EF4-FFF2-40B4-BE49-F238E27FC236}">
                <a16:creationId xmlns:a16="http://schemas.microsoft.com/office/drawing/2014/main" id="{D348C440-83B6-49AC-B2E7-58EFB4DC205A}"/>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206929890"/>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A18B50-6BBE-431B-8C38-D74FE936B85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6D1B4D-4E4F-44DA-9112-F804D4A662B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INTRODUCTION</a:t>
            </a:r>
          </a:p>
        </p:txBody>
      </p:sp>
      <p:sp>
        <p:nvSpPr>
          <p:cNvPr id="3" name="">
            <a:extLst xmlns:a="http://schemas.openxmlformats.org/drawingml/2006/main">
              <a:ext uri="{FF2B5EF4-FFF2-40B4-BE49-F238E27FC236}">
                <a16:creationId xmlns:a16="http://schemas.microsoft.com/office/drawing/2014/main" id="{A41AEBDD-2B61-45C7-BA81-A2CF73A1406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Multilingual next-word prediction: current focus on Telugu</a:t>
            </a:r>
          </a:p>
        </p:txBody>
      </p:sp>
      <p:sp>
        <p:nvSpPr>
          <p:cNvPr id="4" name="">
            <a:extLst xmlns:a="http://schemas.openxmlformats.org/drawingml/2006/main">
              <a:ext uri="{FF2B5EF4-FFF2-40B4-BE49-F238E27FC236}">
                <a16:creationId xmlns:a16="http://schemas.microsoft.com/office/drawing/2014/main" id="{81858A30-9327-4498-B571-C2D558CB0F47}"/>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F5CCCE13-3418-49D8-8C18-45FF3BD388E8}"/>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620C52D-A7BC-483A-8EAD-C6D2D1FEDF2B}"/>
              </a:ext>
            </a:extLst>
          </p:cNvPr>
          <p:cNvSpPr>
            <a:spLocks xmlns:a="http://schemas.openxmlformats.org/drawingml/2006/main" noGrp="1"/>
          </p:cNvSpPr>
          <p:nvPr/>
        </p:nvSpPr>
        <p:spPr>
          <a:xfrm xmlns:a="http://schemas.openxmlformats.org/drawingml/2006/main">
            <a:off x="571500" y="18573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DB66D41-5B47-4FDF-930F-F762558641B4}"/>
              </a:ext>
            </a:extLst>
          </p:cNvPr>
          <p:cNvSpPr>
            <a:spLocks xmlns:a="http://schemas.openxmlformats.org/drawingml/2006/main" noGrp="1"/>
          </p:cNvSpPr>
          <p:nvPr/>
        </p:nvSpPr>
        <p:spPr>
          <a:xfrm xmlns:a="http://schemas.openxmlformats.org/drawingml/2006/main">
            <a:off x="1428750" y="18573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Goal: suggest the next word from the phrase a user has typed.</a:t>
            </a:r>
          </a:p>
        </p:txBody>
      </p:sp>
      <p:sp>
        <p:nvSpPr>
          <p:cNvPr id="8" name="">
            <a:extLst xmlns:a="http://schemas.openxmlformats.org/drawingml/2006/main">
              <a:ext uri="{FF2B5EF4-FFF2-40B4-BE49-F238E27FC236}">
                <a16:creationId xmlns:a16="http://schemas.microsoft.com/office/drawing/2014/main" id="{32D9A78F-D69C-4CE0-A4A8-627EE042B3EF}"/>
              </a:ext>
            </a:extLst>
          </p:cNvPr>
          <p:cNvSpPr>
            <a:spLocks xmlns:a="http://schemas.openxmlformats.org/drawingml/2006/main" noGrp="1"/>
          </p:cNvSpPr>
          <p:nvPr/>
        </p:nvSpPr>
        <p:spPr>
          <a:xfrm xmlns:a="http://schemas.openxmlformats.org/drawingml/2006/main">
            <a:off x="571500" y="27908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6A486AA-09A5-48BC-B95A-891DCE13FDAF}"/>
              </a:ext>
            </a:extLst>
          </p:cNvPr>
          <p:cNvSpPr>
            <a:spLocks xmlns:a="http://schemas.openxmlformats.org/drawingml/2006/main" noGrp="1"/>
          </p:cNvSpPr>
          <p:nvPr/>
        </p:nvSpPr>
        <p:spPr>
          <a:xfrm xmlns:a="http://schemas.openxmlformats.org/drawingml/2006/main">
            <a:off x="1428750" y="27908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Current scope: Telugu input and five ranked word suggestions.</a:t>
            </a:r>
          </a:p>
        </p:txBody>
      </p:sp>
      <p:sp>
        <p:nvSpPr>
          <p:cNvPr id="10" name="">
            <a:extLst xmlns:a="http://schemas.openxmlformats.org/drawingml/2006/main">
              <a:ext uri="{FF2B5EF4-FFF2-40B4-BE49-F238E27FC236}">
                <a16:creationId xmlns:a16="http://schemas.microsoft.com/office/drawing/2014/main" id="{9DAA5904-4DBB-4D69-9660-2BF72F0F387C}"/>
              </a:ext>
            </a:extLst>
          </p:cNvPr>
          <p:cNvSpPr>
            <a:spLocks xmlns:a="http://schemas.openxmlformats.org/drawingml/2006/main" noGrp="1"/>
          </p:cNvSpPr>
          <p:nvPr/>
        </p:nvSpPr>
        <p:spPr>
          <a:xfrm xmlns:a="http://schemas.openxmlformats.org/drawingml/2006/main">
            <a:off x="571500" y="37242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286D47E-021F-41B6-9867-8E04D9045786}"/>
              </a:ext>
            </a:extLst>
          </p:cNvPr>
          <p:cNvSpPr>
            <a:spLocks xmlns:a="http://schemas.openxmlformats.org/drawingml/2006/main" noGrp="1"/>
          </p:cNvSpPr>
          <p:nvPr/>
        </p:nvSpPr>
        <p:spPr>
          <a:xfrm xmlns:a="http://schemas.openxmlformats.org/drawingml/2006/main">
            <a:off x="1428750" y="37242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Approach: compare LSTM, Bi-LSTM and two CNN models.</a:t>
            </a:r>
          </a:p>
        </p:txBody>
      </p:sp>
      <p:sp>
        <p:nvSpPr>
          <p:cNvPr id="12" name="">
            <a:extLst xmlns:a="http://schemas.openxmlformats.org/drawingml/2006/main">
              <a:ext uri="{FF2B5EF4-FFF2-40B4-BE49-F238E27FC236}">
                <a16:creationId xmlns:a16="http://schemas.microsoft.com/office/drawing/2014/main" id="{92619EAB-F24A-4094-BB1D-8548D48EED99}"/>
              </a:ext>
            </a:extLst>
          </p:cNvPr>
          <p:cNvSpPr>
            <a:spLocks xmlns:a="http://schemas.openxmlformats.org/drawingml/2006/main" noGrp="1"/>
          </p:cNvSpPr>
          <p:nvPr/>
        </p:nvSpPr>
        <p:spPr>
          <a:xfrm xmlns:a="http://schemas.openxmlformats.org/drawingml/2006/main">
            <a:off x="571500" y="46577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6C64F69C-9EC3-4DCD-AE75-DD634454E5B6}"/>
              </a:ext>
            </a:extLst>
          </p:cNvPr>
          <p:cNvSpPr>
            <a:spLocks xmlns:a="http://schemas.openxmlformats.org/drawingml/2006/main" noGrp="1"/>
          </p:cNvSpPr>
          <p:nvPr/>
        </p:nvSpPr>
        <p:spPr>
          <a:xfrm xmlns:a="http://schemas.openxmlformats.org/drawingml/2006/main">
            <a:off x="1428750" y="46577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Application: a Streamlit demo using the saved LSTM checkpoint.</a:t>
            </a:r>
          </a:p>
        </p:txBody>
      </p:sp>
    </p:spTree>
    <p:extLst>
      <p:ext uri="{BB962C8B-B14F-4D97-AF65-F5344CB8AC3E}">
        <p14:creationId xmlns:p14="http://schemas.microsoft.com/office/powerpoint/2010/main" val="433488754"/>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E83F2C-B21A-4C81-904A-9BBD1ADF33C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278BEA-6FDE-4940-9356-2D39CE6B9FE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81B59890-F1FA-4DBA-8949-34FAEC82EEA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2A72A68A-C663-468D-B9E3-5F019E91A61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FE73650-6D2A-44A4-A869-3CDC40D9B4F3}"/>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65815480-0A85-44FB-8A31-F7A0ADB0CE47}"/>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F97820F3-B2F6-49C5-B53C-3549AB9340B8}"/>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1179350064"/>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AFD3BA-2330-4FAF-A4F6-5DD60C163380}"/>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0DE683-E3C6-43B8-8082-D775E9E6F8F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WHAT WE USED</a:t>
            </a:r>
          </a:p>
        </p:txBody>
      </p:sp>
      <p:sp>
        <p:nvSpPr>
          <p:cNvPr id="3" name="">
            <a:extLst xmlns:a="http://schemas.openxmlformats.org/drawingml/2006/main">
              <a:ext uri="{FF2B5EF4-FFF2-40B4-BE49-F238E27FC236}">
                <a16:creationId xmlns:a16="http://schemas.microsoft.com/office/drawing/2014/main" id="{CB0B83A4-6C1A-4B03-997E-7AF14BE3131C}"/>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E2243DEF-CB53-4A04-90AB-C84E60EAB4F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A942CB00-D57E-4A5A-BD21-3C7990039B8F}"/>
              </a:ext>
            </a:extLst>
          </p:cNvPr>
          <p:cNvGraphicFramePr/>
          <p:nvPr/>
        </p:nvGraphicFramePr>
        <p:xfrm>
          <a:off xmlns:a="http://schemas.openxmlformats.org/drawingml/2006/main" x="571500" y="1619250"/>
          <a:ext xmlns:a="http://schemas.openxmlformats.org/drawingml/2006/main" cx="11049000" cy="3143250"/>
        </p:xfrm>
        <a:graphic xmlns:a="http://schemas.openxmlformats.org/drawingml/2006/main">
          <a:graphicData uri="http://schemas.openxmlformats.org/drawingml/2006/table">
            <a:tbl>
              <a:tblPr firstRow="1" bandRow="0"/>
              <a:tblGrid>
                <a:gridCol w="2952750"/>
                <a:gridCol w="8096250"/>
              </a:tblGrid>
              <a:tr h="523875">
                <a:tc>
                  <a:txBody>
                    <a:bodyPr/>
                    <a:lstStyle/>
                    <a:p>
                      <a:r>
                        <a:rPr sz="1875" b="1">
                          <a:solidFill>
                            <a:srgbClr val="FFFFFF"/>
                          </a:solidFill>
                          <a:latin typeface="Arial"/>
                          <a:ea typeface="Arial"/>
                          <a:cs typeface="Arial"/>
                        </a:rPr>
                        <a:t>Component</a:t>
                      </a:r>
                    </a:p>
                  </a:txBody>
                  <a:tcPr marL="91440" marR="91440" marT="45720" marB="45720">
                    <a:lnL w="9525">
                      <a:solidFill>
                        <a:srgbClr val="A3B18A"/>
                      </a:solidFill>
                      <a:prstDash val="solid"/>
                    </a:lnL>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c>
                  <a:txBody>
                    <a:bodyPr/>
                    <a:lstStyle/>
                    <a:p>
                      <a:r>
                        <a:rPr sz="1875" b="1">
                          <a:solidFill>
                            <a:srgbClr val="FFFFFF"/>
                          </a:solidFill>
                          <a:latin typeface="Arial"/>
                          <a:ea typeface="Arial"/>
                          <a:cs typeface="Arial"/>
                        </a:rPr>
                        <a:t>Current experiment</a:t>
                      </a:r>
                    </a:p>
                  </a:txBody>
                  <a:tcPr marL="91440" marR="91440" marT="45720" marB="45720">
                    <a:lnR w="9525">
                      <a:solidFill>
                        <a:srgbClr val="A3B18A"/>
                      </a:solidFill>
                      <a:prstDash val="solid"/>
                    </a:lnR>
                    <a:lnT w="9525">
                      <a:solidFill>
                        <a:srgbClr val="A3B18A"/>
                      </a:solidFill>
                      <a:prstDash val="solid"/>
                    </a:lnT>
                    <a:lnB w="9525">
                      <a:solidFill>
                        <a:srgbClr val="A3B18A"/>
                      </a:solidFill>
                      <a:prstDash val="solid"/>
                    </a:lnB>
                    <a:solidFill>
                      <a:srgbClr val="344E41"/>
                    </a:solidFill>
                  </a:tcPr>
                </a:tc>
              </a:tr>
              <a:tr h="523875">
                <a:tc>
                  <a:txBody>
                    <a:bodyPr/>
                    <a:lstStyle/>
                    <a:p>
                      <a:r>
                        <a:rPr sz="1875" b="0">
                          <a:solidFill>
                            <a:srgbClr val="344E41"/>
                          </a:solidFill>
                          <a:latin typeface="Arial"/>
                          <a:ea typeface="Arial"/>
                          <a:cs typeface="Arial"/>
                        </a:rPr>
                        <a:t>Data</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Telugu-LLM-Labs Alpaca and GPTeacher</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Software</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Python, PyTorch, NumPy and Streamlit</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Representations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20,000-token vocabulary, 8-word context</a:t>
                      </a:r>
                    </a:p>
                  </a:txBody>
                  <a:tcPr marL="91440" marR="91440" marT="45720" marB="45720">
                    <a:lnR w="9525">
                      <a:solidFill>
                        <a:srgbClr val="A3B18A"/>
                      </a:solidFill>
                      <a:prstDash val="solid"/>
                    </a:lnR>
                    <a:lnB w="9525">
                      <a:solidFill>
                        <a:srgbClr val="A3B18A"/>
                      </a:solidFill>
                      <a:prstDash val="solid"/>
                    </a:lnB>
                    <a:solidFill>
                      <a:srgbClr val="E7E5DD"/>
                    </a:solidFill>
                  </a:tcPr>
                </a:tc>
              </a:tr>
              <a:tr h="523875">
                <a:tc>
                  <a:txBody>
                    <a:bodyPr/>
                    <a:lstStyle/>
                    <a:p>
                      <a:r>
                        <a:rPr sz="1875" b="0">
                          <a:solidFill>
                            <a:srgbClr val="344E41"/>
                          </a:solidFill>
                          <a:latin typeface="Arial"/>
                          <a:ea typeface="Arial"/>
                          <a:cs typeface="Arial"/>
                        </a:rPr>
                        <a:t>Models</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DAD7CD"/>
                    </a:solidFill>
                  </a:tcPr>
                </a:tc>
                <a:tc>
                  <a:txBody>
                    <a:bodyPr/>
                    <a:lstStyle/>
                    <a:p>
                      <a:r>
                        <a:rPr sz="1875" b="0">
                          <a:solidFill>
                            <a:srgbClr val="344E41"/>
                          </a:solidFill>
                          <a:latin typeface="Arial"/>
                          <a:ea typeface="Arial"/>
                          <a:cs typeface="Arial"/>
                        </a:rPr>
                        <a:t>LSTM, Bi-LSTM, word CNN, word–character CNN</a:t>
                      </a:r>
                    </a:p>
                  </a:txBody>
                  <a:tcPr marL="91440" marR="91440" marT="45720" marB="45720">
                    <a:lnR w="9525">
                      <a:solidFill>
                        <a:srgbClr val="A3B18A"/>
                      </a:solidFill>
                      <a:prstDash val="solid"/>
                    </a:lnR>
                    <a:lnB w="9525">
                      <a:solidFill>
                        <a:srgbClr val="A3B18A"/>
                      </a:solidFill>
                      <a:prstDash val="solid"/>
                    </a:lnB>
                    <a:solidFill>
                      <a:srgbClr val="DAD7CD"/>
                    </a:solidFill>
                  </a:tcPr>
                </a:tc>
              </a:tr>
              <a:tr h="523875">
                <a:tc>
                  <a:txBody>
                    <a:bodyPr/>
                    <a:lstStyle/>
                    <a:p>
                      <a:r>
                        <a:rPr sz="1875" b="0">
                          <a:solidFill>
                            <a:srgbClr val="344E41"/>
                          </a:solidFill>
                          <a:latin typeface="Arial"/>
                          <a:ea typeface="Arial"/>
                          <a:cs typeface="Arial"/>
                        </a:rPr>
                        <a:t>Training</a:t>
                      </a:r>
                    </a:p>
                  </a:txBody>
                  <a:tcPr marL="91440" marR="91440" marT="45720" marB="45720">
                    <a:lnL w="9525">
                      <a:solidFill>
                        <a:srgbClr val="A3B18A"/>
                      </a:solidFill>
                      <a:prstDash val="solid"/>
                    </a:lnL>
                    <a:lnR w="9525">
                      <a:solidFill>
                        <a:srgbClr val="A3B18A"/>
                      </a:solidFill>
                      <a:prstDash val="solid"/>
                    </a:lnR>
                    <a:lnB w="9525">
                      <a:solidFill>
                        <a:srgbClr val="A3B18A"/>
                      </a:solidFill>
                      <a:prstDash val="solid"/>
                    </a:lnB>
                    <a:solidFill>
                      <a:srgbClr val="E7E5DD"/>
                    </a:solidFill>
                  </a:tcPr>
                </a:tc>
                <a:tc>
                  <a:txBody>
                    <a:bodyPr/>
                    <a:lstStyle/>
                    <a:p>
                      <a:r>
                        <a:rPr sz="1875" b="0">
                          <a:solidFill>
                            <a:srgbClr val="344E41"/>
                          </a:solidFill>
                          <a:latin typeface="Arial"/>
                          <a:ea typeface="Arial"/>
                          <a:cs typeface="Arial"/>
                        </a:rPr>
                        <a:t>Adam, learning rate 0.001, batch 512, 5 epochs</a:t>
                      </a:r>
                    </a:p>
                  </a:txBody>
                  <a:tcPr marL="91440" marR="91440" marT="45720" marB="45720">
                    <a:lnR w="9525">
                      <a:solidFill>
                        <a:srgbClr val="A3B18A"/>
                      </a:solidFill>
                      <a:prstDash val="solid"/>
                    </a:lnR>
                    <a:lnB w="9525">
                      <a:solidFill>
                        <a:srgbClr val="A3B18A"/>
                      </a:solidFill>
                      <a:prstDash val="solid"/>
                    </a:lnB>
                    <a:solidFill>
                      <a:srgbClr val="E7E5DD"/>
                    </a:solidFill>
                  </a:tcPr>
                </a:tc>
              </a:tr>
            </a:tbl>
          </a:graphicData>
        </a:graphic>
      </p:graphicFrame>
      <p:sp>
        <p:nvSpPr>
          <p:cNvPr id="6" name="">
            <a:extLst xmlns:a="http://schemas.openxmlformats.org/drawingml/2006/main">
              <a:ext uri="{FF2B5EF4-FFF2-40B4-BE49-F238E27FC236}">
                <a16:creationId xmlns:a16="http://schemas.microsoft.com/office/drawing/2014/main" id="{961E8C6F-806C-4BD4-8D9C-AFD7747AF89F}"/>
              </a:ext>
            </a:extLst>
          </p:cNvPr>
          <p:cNvSpPr>
            <a:spLocks xmlns:a="http://schemas.openxmlformats.org/drawingml/2006/main" noGrp="1"/>
          </p:cNvSpPr>
          <p:nvPr/>
        </p:nvSpPr>
        <p:spPr>
          <a:xfrm xmlns:a="http://schemas.openxmlformats.org/drawingml/2006/main">
            <a:off x="571500" y="5095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44E41"/>
                </a:solidFill>
                <a:latin typeface="Arial"/>
                <a:ea typeface="Arial"/>
                <a:cs typeface="Arial"/>
              </a:defRPr>
            </a:defPPr>
          </a:lstStyle>
          <a:p xmlns:a="http://schemas.openxmlformats.org/drawingml/2006/main">
            <a:pPr>
              <a:defRPr sz="1875" b="1">
                <a:solidFill>
                  <a:srgbClr val="344E41"/>
                </a:solidFill>
                <a:latin typeface="Arial"/>
                <a:ea typeface="Arial"/>
                <a:cs typeface="Arial"/>
              </a:defRPr>
            </a:pPr>
            <a:r>
              <a:rPr sz="1875" b="1">
                <a:solidFill>
                  <a:srgbClr val="344E41"/>
                </a:solidFill>
                <a:latin typeface="Arial"/>
                <a:ea typeface="Arial"/>
                <a:cs typeface="Arial"/>
              </a:rPr>
              <a:t>Train: 3,483,073 examples. Validation: 198,928. Test: 200,092.</a:t>
            </a:r>
          </a:p>
        </p:txBody>
      </p:sp>
      <p:sp>
        <p:nvSpPr>
          <p:cNvPr id="7" name="">
            <a:extLst xmlns:a="http://schemas.openxmlformats.org/drawingml/2006/main">
              <a:ext uri="{FF2B5EF4-FFF2-40B4-BE49-F238E27FC236}">
                <a16:creationId xmlns:a16="http://schemas.microsoft.com/office/drawing/2014/main" id="{907CF54C-6699-4E5D-BE05-E7D98212C28A}"/>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Native Telugu fields, grouped splits and training-only vocabulary.</a:t>
            </a:r>
          </a:p>
        </p:txBody>
      </p:sp>
    </p:spTree>
    <p:extLst>
      <p:ext uri="{BB962C8B-B14F-4D97-AF65-F5344CB8AC3E}">
        <p14:creationId xmlns:p14="http://schemas.microsoft.com/office/powerpoint/2010/main" val="1870569312"/>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0747025-6035-4F1A-9F42-BD8D2D4190E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6B8662-88C6-40CB-913C-52685D39C50A}"/>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206FA34F-DF5C-48E8-88B7-7595E4460347}"/>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A939EE40-22B4-4E1D-B90C-B62E8BB4C72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7ABBF083-4F2A-449C-9179-A240AB334ABB}"/>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31F25BC7-79F3-41C7-B0CE-6C17DECF7D5B}"/>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0D48B98D-A7C7-46A8-8065-482BA28F1D44}"/>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B9E44AA5-BF8E-4F29-9DBA-40579946E4A5}"/>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336DBC15-C492-497E-A54F-336F1065E1A6}"/>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EFE80114-AD40-44E7-B8DB-FAE117AFDD07}"/>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31ADC127-DF60-42D7-9C4E-4E0B0B3BE6F1}"/>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53E38374-34BB-4CB9-828D-6AD20C25ABB0}"/>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CA86BA85-ED08-4D83-92A5-79F81CF325C3}"/>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64A6064D-2649-4567-83D8-275C15D7015B}"/>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75D9C1D7-E60D-4994-86CB-4E93116501ED}"/>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30D5B208-2771-447B-83F5-9D8E5B370F18}"/>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5586B799-B9E3-43CF-A436-29C624DA93BF}"/>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65FE3FDD-1BC5-4600-956D-3F1330B2A469}"/>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2ADD148D-0380-4637-956F-E83E90EF937C}"/>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352317051"/>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E0122AB-D381-40A6-BD9C-2E5827A73A06}"/>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CA3686-0896-411C-B700-BAA3E97BD30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EF8DCF3C-1490-4931-94CD-84EC0010AE3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BC95B992-4833-48D2-B9C4-0DF99271CFE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8E01C9A-9184-435A-81D9-78BAEDBBC549}"/>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80897BE9-8E15-47DB-AE04-DBCD7F0F77EA}"/>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6FEE7958-5E37-4813-81DA-A1370647FF00}"/>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CEE193EB-0D1A-4479-9042-BF7E2E211A07}"/>
              </a:ext>
            </a:extLst>
          </p:cNvPr>
          <p:cNvSpPr>
            <a:spLocks xmlns:a="http://schemas.openxmlformats.org/drawingml/2006/main" noGrp="1"/>
          </p:cNvSpPr>
          <p:nvPr/>
        </p:nvSpPr>
        <p:spPr>
          <a:xfrm xmlns:a="http://schemas.openxmlformats.org/drawingml/2006/main">
            <a:off x="285750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5BEAB1-18EA-4C28-A196-8852B55DFAE1}"/>
              </a:ext>
            </a:extLst>
          </p:cNvPr>
          <p:cNvSpPr>
            <a:spLocks xmlns:a="http://schemas.openxmlformats.org/drawingml/2006/main" noGrp="1"/>
          </p:cNvSpPr>
          <p:nvPr/>
        </p:nvSpPr>
        <p:spPr>
          <a:xfrm xmlns:a="http://schemas.openxmlformats.org/drawingml/2006/main">
            <a:off x="31432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4C51CF-304E-43A9-BB79-3FA315F278AF}"/>
              </a:ext>
            </a:extLst>
          </p:cNvPr>
          <p:cNvSpPr>
            <a:spLocks xmlns:a="http://schemas.openxmlformats.org/drawingml/2006/main" noGrp="1"/>
          </p:cNvSpPr>
          <p:nvPr/>
        </p:nvSpPr>
        <p:spPr>
          <a:xfrm xmlns:a="http://schemas.openxmlformats.org/drawingml/2006/main">
            <a:off x="314325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92890F-F290-4A13-972A-A261B793848C}"/>
              </a:ext>
            </a:extLst>
          </p:cNvPr>
          <p:cNvSpPr>
            <a:spLocks xmlns:a="http://schemas.openxmlformats.org/drawingml/2006/main" noGrp="1"/>
          </p:cNvSpPr>
          <p:nvPr/>
        </p:nvSpPr>
        <p:spPr>
          <a:xfrm xmlns:a="http://schemas.openxmlformats.org/drawingml/2006/main">
            <a:off x="314325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A112F9-83A6-4F42-973E-4DA88F632435}"/>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F583C309-514B-4B8A-A687-ACA92DF9B0F5}"/>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4" name="">
            <a:extLst xmlns:a="http://schemas.openxmlformats.org/drawingml/2006/main">
              <a:ext uri="{FF2B5EF4-FFF2-40B4-BE49-F238E27FC236}">
                <a16:creationId xmlns:a16="http://schemas.microsoft.com/office/drawing/2014/main" id="{3D1E9C3B-0A7A-4918-8136-1319E412462D}"/>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855C704A-647A-49E6-A616-E8F35452BBFD}"/>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6" name="">
            <a:extLst xmlns:a="http://schemas.openxmlformats.org/drawingml/2006/main">
              <a:ext uri="{FF2B5EF4-FFF2-40B4-BE49-F238E27FC236}">
                <a16:creationId xmlns:a16="http://schemas.microsoft.com/office/drawing/2014/main" id="{DB51AD0D-B964-47A8-9674-94530B12C8BC}"/>
              </a:ext>
            </a:extLst>
          </p:cNvPr>
          <p:cNvSpPr>
            <a:spLocks xmlns:a="http://schemas.openxmlformats.org/drawingml/2006/main" noGrp="1"/>
          </p:cNvSpPr>
          <p:nvPr/>
        </p:nvSpPr>
        <p:spPr>
          <a:xfrm xmlns:a="http://schemas.openxmlformats.org/drawingml/2006/main">
            <a:off x="5715000" y="25241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8DFAAB-F7B8-4D31-A683-4987E41D3B13}"/>
              </a:ext>
            </a:extLst>
          </p:cNvPr>
          <p:cNvSpPr>
            <a:spLocks xmlns:a="http://schemas.openxmlformats.org/drawingml/2006/main" noGrp="1"/>
          </p:cNvSpPr>
          <p:nvPr/>
        </p:nvSpPr>
        <p:spPr>
          <a:xfrm xmlns:a="http://schemas.openxmlformats.org/drawingml/2006/main">
            <a:off x="5715000" y="414337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67EA1C8-00F8-4A5E-A14D-71D94A477E20}"/>
              </a:ext>
            </a:extLst>
          </p:cNvPr>
          <p:cNvSpPr>
            <a:spLocks xmlns:a="http://schemas.openxmlformats.org/drawingml/2006/main" noGrp="1"/>
          </p:cNvSpPr>
          <p:nvPr/>
        </p:nvSpPr>
        <p:spPr>
          <a:xfrm xmlns:a="http://schemas.openxmlformats.org/drawingml/2006/main">
            <a:off x="6000750" y="2524125"/>
            <a:ext cx="19050" cy="16192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A4E6A99-D24A-494F-B79A-DD2350258001}"/>
              </a:ext>
            </a:extLst>
          </p:cNvPr>
          <p:cNvSpPr>
            <a:spLocks xmlns:a="http://schemas.openxmlformats.org/drawingml/2006/main" noGrp="1"/>
          </p:cNvSpPr>
          <p:nvPr/>
        </p:nvSpPr>
        <p:spPr>
          <a:xfrm xmlns:a="http://schemas.openxmlformats.org/drawingml/2006/main">
            <a:off x="6000750" y="3324225"/>
            <a:ext cx="28575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224252-4FD4-480A-9D56-AA17D3BC6645}"/>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518A4357-122F-4301-BE39-06F4889124CA}"/>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22" name="">
            <a:extLst xmlns:a="http://schemas.openxmlformats.org/drawingml/2006/main">
              <a:ext uri="{FF2B5EF4-FFF2-40B4-BE49-F238E27FC236}">
                <a16:creationId xmlns:a16="http://schemas.microsoft.com/office/drawing/2014/main" id="{EE6D8B45-FE74-45EB-AC1E-77AB3B53AC74}"/>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3" name="">
            <a:extLst xmlns:a="http://schemas.openxmlformats.org/drawingml/2006/main">
              <a:ext uri="{FF2B5EF4-FFF2-40B4-BE49-F238E27FC236}">
                <a16:creationId xmlns:a16="http://schemas.microsoft.com/office/drawing/2014/main" id="{6F325345-F3A0-4E1D-92E7-6FAC6A0F78E6}"/>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4" name="">
            <a:extLst xmlns:a="http://schemas.openxmlformats.org/drawingml/2006/main">
              <a:ext uri="{FF2B5EF4-FFF2-40B4-BE49-F238E27FC236}">
                <a16:creationId xmlns:a16="http://schemas.microsoft.com/office/drawing/2014/main" id="{BF3FA172-7C1D-45F4-8223-D37D6B94033D}"/>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5" name="">
            <a:extLst xmlns:a="http://schemas.openxmlformats.org/drawingml/2006/main">
              <a:ext uri="{FF2B5EF4-FFF2-40B4-BE49-F238E27FC236}">
                <a16:creationId xmlns:a16="http://schemas.microsoft.com/office/drawing/2014/main" id="{27580548-25DC-463D-8B41-F3FB8A7A4833}"/>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6" name="">
            <a:extLst xmlns:a="http://schemas.openxmlformats.org/drawingml/2006/main">
              <a:ext uri="{FF2B5EF4-FFF2-40B4-BE49-F238E27FC236}">
                <a16:creationId xmlns:a16="http://schemas.microsoft.com/office/drawing/2014/main" id="{60E4A71D-2E80-44A7-A14B-C2C80D1C03FB}"/>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567144628"/>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C262FFC-FEFA-408C-8055-E808575ED69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C6A50D-934E-475F-9432-F07BF2BC286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A7E3536F-F59C-4C4E-AC7F-97E6D56F9F6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E77D2866-EE1D-4F77-90AB-D1202A32861A}"/>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32CE934D-F53C-4C7B-8651-CCC58D77F0D8}"/>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D0FBBFF8-152C-4AA7-BCCA-260DFEF5476E}"/>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CE0C75A4-CA56-426A-B9E7-E3A6D4C7AD3A}"/>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393F576E-DA27-4D47-B075-EEF8A3DB2093}"/>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F4790252-4CEF-433B-9082-4FEA14FE03F2}"/>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4BCB8AE7-9DB6-435D-84A7-9738F74EE966}"/>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621D9805-CFA4-4D0B-A310-C566AAB403BF}"/>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BDA2E259-D31A-485A-BE69-2BF9EA2C15FE}"/>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9CB2F686-5A4E-4B13-866D-0547F82B1E0C}"/>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C17156DF-DB96-439B-81A5-86FA75C86DC5}"/>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5DB6B61D-4198-4ABA-89B3-333E8A9E9D57}"/>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BCE55165-45AF-4828-9298-762CD347086C}"/>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DD2EF7A3-6CC2-4280-9920-D8B8BCE46B83}"/>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BA50E731-CD2E-4D01-A409-ED193D7C5907}"/>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60C4C94A-9B71-411D-98D1-9E6F6AD57C32}"/>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1052327958"/>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2C1B7B-3BEC-4F76-8070-6401A783BA99}"/>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3107C0-9031-4862-87E7-F3645BE20DC2}"/>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6796BD1A-885D-4DB4-9FCC-DD2535CA9B71}"/>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AEF6F190-0E50-4D9C-9E30-F3070B56214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DAACD645-A11D-40FE-9200-BC26AAAEABE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F4BCCE59-9C3D-46C3-836C-13DBB119F6A5}"/>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E3BCC78C-E49C-4295-B089-0A737150CAC5}"/>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8385ABFF-5965-44D0-8D49-0B970F0FF962}"/>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9E0D414D-066D-485E-9C30-2ED6D6C3C3A3}"/>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B7DC5B84-9F0D-4AE5-B838-D15ACB8FA2EE}"/>
              </a:ext>
            </a:extLst>
          </p:cNvPr>
          <p:cNvSpPr>
            <a:spLocks xmlns:a="http://schemas.openxmlformats.org/drawingml/2006/main" noGrp="1"/>
          </p:cNvSpPr>
          <p:nvPr/>
        </p:nvSpPr>
        <p:spPr>
          <a:xfrm xmlns:a="http://schemas.openxmlformats.org/drawingml/2006/main">
            <a:off x="2952750" y="2524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F1A305-3204-48D4-AE95-91050435E9BD}"/>
              </a:ext>
            </a:extLst>
          </p:cNvPr>
          <p:cNvSpPr>
            <a:spLocks xmlns:a="http://schemas.openxmlformats.org/drawingml/2006/main" noGrp="1"/>
          </p:cNvSpPr>
          <p:nvPr/>
        </p:nvSpPr>
        <p:spPr>
          <a:xfrm xmlns:a="http://schemas.openxmlformats.org/drawingml/2006/main">
            <a:off x="2952750" y="40481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5F08DB-A4B1-4EE5-A06D-CD9F93CB3DEF}"/>
              </a:ext>
            </a:extLst>
          </p:cNvPr>
          <p:cNvSpPr>
            <a:spLocks xmlns:a="http://schemas.openxmlformats.org/drawingml/2006/main" noGrp="1"/>
          </p:cNvSpPr>
          <p:nvPr/>
        </p:nvSpPr>
        <p:spPr>
          <a:xfrm xmlns:a="http://schemas.openxmlformats.org/drawingml/2006/main">
            <a:off x="3333750" y="2524125"/>
            <a:ext cx="19050" cy="152400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BC2DD74-CC6E-4197-ABC7-AF747CB25344}"/>
              </a:ext>
            </a:extLst>
          </p:cNvPr>
          <p:cNvSpPr>
            <a:spLocks xmlns:a="http://schemas.openxmlformats.org/drawingml/2006/main" noGrp="1"/>
          </p:cNvSpPr>
          <p:nvPr/>
        </p:nvSpPr>
        <p:spPr>
          <a:xfrm xmlns:a="http://schemas.openxmlformats.org/drawingml/2006/main">
            <a:off x="3333750" y="3324225"/>
            <a:ext cx="381000" cy="19050"/>
          </a:xfrm>
          <a:prstGeom xmlns:a="http://schemas.openxmlformats.org/drawingml/2006/main" prst="rect">
            <a:avLst/>
          </a:prstGeom>
          <a:solidFill xmlns:a="http://schemas.openxmlformats.org/drawingml/2006/main">
            <a:srgbClr val="344E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7AC219-221A-4893-8EF4-93EE750C2B5A}"/>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5" name="">
            <a:extLst xmlns:a="http://schemas.openxmlformats.org/drawingml/2006/main">
              <a:ext uri="{FF2B5EF4-FFF2-40B4-BE49-F238E27FC236}">
                <a16:creationId xmlns:a16="http://schemas.microsoft.com/office/drawing/2014/main" id="{AA93ACD1-04B9-49CE-8923-BFAA1F439D24}"/>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6" name="">
            <a:extLst xmlns:a="http://schemas.openxmlformats.org/drawingml/2006/main">
              <a:ext uri="{FF2B5EF4-FFF2-40B4-BE49-F238E27FC236}">
                <a16:creationId xmlns:a16="http://schemas.microsoft.com/office/drawing/2014/main" id="{8E846AF6-C121-47D5-A889-0D59C9D176FB}"/>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7" name="">
            <a:extLst xmlns:a="http://schemas.openxmlformats.org/drawingml/2006/main">
              <a:ext uri="{FF2B5EF4-FFF2-40B4-BE49-F238E27FC236}">
                <a16:creationId xmlns:a16="http://schemas.microsoft.com/office/drawing/2014/main" id="{6CF04FC4-A393-4242-82A0-897E53040ADF}"/>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8" name="">
            <a:extLst xmlns:a="http://schemas.openxmlformats.org/drawingml/2006/main">
              <a:ext uri="{FF2B5EF4-FFF2-40B4-BE49-F238E27FC236}">
                <a16:creationId xmlns:a16="http://schemas.microsoft.com/office/drawing/2014/main" id="{6F2FB4AE-E575-47B8-AC8D-755C8D1E8B29}"/>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9" name="">
            <a:extLst xmlns:a="http://schemas.openxmlformats.org/drawingml/2006/main">
              <a:ext uri="{FF2B5EF4-FFF2-40B4-BE49-F238E27FC236}">
                <a16:creationId xmlns:a16="http://schemas.microsoft.com/office/drawing/2014/main" id="{F93272FB-7872-4357-9AFD-5B412B3CCE3A}"/>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0" name="">
            <a:extLst xmlns:a="http://schemas.openxmlformats.org/drawingml/2006/main">
              <a:ext uri="{FF2B5EF4-FFF2-40B4-BE49-F238E27FC236}">
                <a16:creationId xmlns:a16="http://schemas.microsoft.com/office/drawing/2014/main" id="{99F4E3AB-2302-424F-8CB1-48864F0E4B99}"/>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1" name="">
            <a:extLst xmlns:a="http://schemas.openxmlformats.org/drawingml/2006/main">
              <a:ext uri="{FF2B5EF4-FFF2-40B4-BE49-F238E27FC236}">
                <a16:creationId xmlns:a16="http://schemas.microsoft.com/office/drawing/2014/main" id="{3BF6E58D-0644-41E4-82E6-82E7E9CE8FE1}"/>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2" name="">
            <a:extLst xmlns:a="http://schemas.openxmlformats.org/drawingml/2006/main">
              <a:ext uri="{FF2B5EF4-FFF2-40B4-BE49-F238E27FC236}">
                <a16:creationId xmlns:a16="http://schemas.microsoft.com/office/drawing/2014/main" id="{B7648E3B-E969-49F5-9C69-09C8FB5C0374}"/>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3" name="">
            <a:extLst xmlns:a="http://schemas.openxmlformats.org/drawingml/2006/main">
              <a:ext uri="{FF2B5EF4-FFF2-40B4-BE49-F238E27FC236}">
                <a16:creationId xmlns:a16="http://schemas.microsoft.com/office/drawing/2014/main" id="{3A2A011D-BCCD-4FDA-960C-DF66E4EC1526}"/>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4" name="">
            <a:extLst xmlns:a="http://schemas.openxmlformats.org/drawingml/2006/main">
              <a:ext uri="{FF2B5EF4-FFF2-40B4-BE49-F238E27FC236}">
                <a16:creationId xmlns:a16="http://schemas.microsoft.com/office/drawing/2014/main" id="{4C993944-3B1F-4E7D-BAF1-4B6BB6308CC0}"/>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273219752"/>
      </p:ext>
    </p:extLst>
  </p:cSld>
</p:sld>
</file>

<file path=ppt/slides/slide9.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A5FA819-126A-4459-8318-75BCF7F29B12}"/>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A6C57E-E668-4289-9A8B-CE2E7D3EFC96}"/>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PREPARATION</a:t>
            </a:r>
          </a:p>
        </p:txBody>
      </p:sp>
      <p:sp>
        <p:nvSpPr>
          <p:cNvPr id="3" name="">
            <a:extLst xmlns:a="http://schemas.openxmlformats.org/drawingml/2006/main">
              <a:ext uri="{FF2B5EF4-FFF2-40B4-BE49-F238E27FC236}">
                <a16:creationId xmlns:a16="http://schemas.microsoft.com/office/drawing/2014/main" id="{9ACBBC89-17AE-497B-B734-CD52BC608723}"/>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1–4 in the live Telugu application</a:t>
            </a:r>
          </a:p>
        </p:txBody>
      </p:sp>
      <p:sp>
        <p:nvSpPr>
          <p:cNvPr id="4" name="">
            <a:extLst xmlns:a="http://schemas.openxmlformats.org/drawingml/2006/main">
              <a:ext uri="{FF2B5EF4-FFF2-40B4-BE49-F238E27FC236}">
                <a16:creationId xmlns:a16="http://schemas.microsoft.com/office/drawing/2014/main" id="{51D4F6F5-45E1-4F35-9C5C-8159B55B5C15}"/>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B434EA51-4513-4F10-BB3A-22D302B57895}"/>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956988C0-2B89-4599-BD2A-40AAA4414961}"/>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295EA327-2DD6-4A21-BCBE-5CB272420843}"/>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 Telugu phrase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types text</a:t>
            </a:r>
          </a:p>
        </p:txBody>
      </p:sp>
      <p:sp>
        <p:nvSpPr>
          <p:cNvPr id="8" name="">
            <a:extLst xmlns:a="http://schemas.openxmlformats.org/drawingml/2006/main">
              <a:ext uri="{FF2B5EF4-FFF2-40B4-BE49-F238E27FC236}">
                <a16:creationId xmlns:a16="http://schemas.microsoft.com/office/drawing/2014/main" id="{5A4999FE-287F-4E85-92BB-649317C835AB}"/>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A22D0163-5171-4673-A5AB-F8B19FC3DE32}"/>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08D1F93-9749-42E5-A92B-55CA6E4FE965}"/>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 Tokenize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Normalize text</a:t>
            </a:r>
          </a:p>
        </p:txBody>
      </p:sp>
      <p:sp>
        <p:nvSpPr>
          <p:cNvPr id="11" name="">
            <a:extLst xmlns:a="http://schemas.openxmlformats.org/drawingml/2006/main">
              <a:ext uri="{FF2B5EF4-FFF2-40B4-BE49-F238E27FC236}">
                <a16:creationId xmlns:a16="http://schemas.microsoft.com/office/drawing/2014/main" id="{BC41CE1B-435A-4FF1-A9A8-C803C80E4764}"/>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D212A0B0-7F93-4A5E-91CC-9930FB93B33F}"/>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1487C0F4-57A0-429B-B07E-6D40A013EB52}"/>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Keep context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14" name="">
            <a:extLst xmlns:a="http://schemas.openxmlformats.org/drawingml/2006/main">
              <a:ext uri="{FF2B5EF4-FFF2-40B4-BE49-F238E27FC236}">
                <a16:creationId xmlns:a16="http://schemas.microsoft.com/office/drawing/2014/main" id="{CDFA8C9E-60D0-4225-ABD9-5FBA44590895}"/>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DB9A5EA6-1C2B-459F-93FD-7A54761886FD}"/>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F2DDD685-C57B-4769-92DC-BD35E6737533}"/>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4. Encode + pad</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integer IDs</a:t>
            </a:r>
          </a:p>
        </p:txBody>
      </p:sp>
      <p:sp>
        <p:nvSpPr>
          <p:cNvPr id="17" name="">
            <a:extLst xmlns:a="http://schemas.openxmlformats.org/drawingml/2006/main">
              <a:ext uri="{FF2B5EF4-FFF2-40B4-BE49-F238E27FC236}">
                <a16:creationId xmlns:a16="http://schemas.microsoft.com/office/drawing/2014/main" id="{ABA8E489-B940-40C6-9F54-7E079E578C92}"/>
              </a:ext>
            </a:extLst>
          </p:cNvPr>
          <p:cNvSpPr>
            <a:spLocks xmlns:a="http://schemas.openxmlformats.org/drawingml/2006/main" noGrp="1"/>
          </p:cNvSpPr>
          <p:nvPr/>
        </p:nvSpPr>
        <p:spPr>
          <a:xfrm xmlns:a="http://schemas.openxmlformats.org/drawingml/2006/main">
            <a:off x="571500" y="3619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Arial"/>
                <a:ea typeface="Arial"/>
                <a:cs typeface="Arial"/>
              </a:defRPr>
            </a:defPPr>
          </a:lstStyle>
          <a:p xmlns:a="http://schemas.openxmlformats.org/drawingml/2006/main">
            <a:pPr>
              <a:defRPr sz="2250" b="0">
                <a:solidFill>
                  <a:srgbClr val="344E41"/>
                </a:solidFill>
                <a:latin typeface="Arial"/>
                <a:ea typeface="Arial"/>
                <a:cs typeface="Arial"/>
              </a:defRPr>
            </a:pPr>
            <a:r>
              <a:rPr sz="2250" b="0">
                <a:solidFill>
                  <a:srgbClr val="344E41"/>
                </a:solidFill>
                <a:latin typeface="Arial"/>
                <a:ea typeface="Arial"/>
                <a:cs typeface="Arial"/>
              </a:rPr>
              <a:t>Input example: ఆరోగ్యంగా ఉండటానికి</a:t>
            </a:r>
          </a:p>
        </p:txBody>
      </p:sp>
      <p:sp>
        <p:nvSpPr>
          <p:cNvPr id="18" name="">
            <a:extLst xmlns:a="http://schemas.openxmlformats.org/drawingml/2006/main">
              <a:ext uri="{FF2B5EF4-FFF2-40B4-BE49-F238E27FC236}">
                <a16:creationId xmlns:a16="http://schemas.microsoft.com/office/drawing/2014/main" id="{AE5197A6-E48B-4240-9FF2-22B11C950486}"/>
              </a:ext>
            </a:extLst>
          </p:cNvPr>
          <p:cNvSpPr>
            <a:spLocks xmlns:a="http://schemas.openxmlformats.org/drawingml/2006/main" noGrp="1"/>
          </p:cNvSpPr>
          <p:nvPr/>
        </p:nvSpPr>
        <p:spPr>
          <a:xfrm xmlns:a="http://schemas.openxmlformats.org/drawingml/2006/main">
            <a:off x="571500" y="44291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Known words use vocabulary IDs. Unknown words use ID 1.</a:t>
            </a:r>
          </a:p>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Short inputs receive padding ID 0 on the left.</a:t>
            </a:r>
          </a:p>
        </p:txBody>
      </p:sp>
      <p:sp>
        <p:nvSpPr>
          <p:cNvPr id="19" name="">
            <a:extLst xmlns:a="http://schemas.openxmlformats.org/drawingml/2006/main">
              <a:ext uri="{FF2B5EF4-FFF2-40B4-BE49-F238E27FC236}">
                <a16:creationId xmlns:a16="http://schemas.microsoft.com/office/drawing/2014/main" id="{FDE1BF4F-3C52-4520-99CA-AD4C9D036C42}"/>
              </a:ext>
            </a:extLst>
          </p:cNvPr>
          <p:cNvSpPr>
            <a:spLocks xmlns:a="http://schemas.openxmlformats.org/drawingml/2006/main" noGrp="1"/>
          </p:cNvSpPr>
          <p:nvPr/>
        </p:nvSpPr>
        <p:spPr>
          <a:xfrm xmlns:a="http://schemas.openxmlformats.org/drawingml/2006/main">
            <a:off x="571500" y="55721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Empty, non-Telugu or entirely unknown input produces a warning.</a:t>
            </a:r>
          </a:p>
        </p:txBody>
      </p:sp>
    </p:spTree>
    <p:extLst>
      <p:ext uri="{BB962C8B-B14F-4D97-AF65-F5344CB8AC3E}">
        <p14:creationId xmlns:p14="http://schemas.microsoft.com/office/powerpoint/2010/main" val="386603204"/>
      </p:ext>
    </p:extLst>
  </p:cSld>
</p:sld>
</file>

<file path=ppt/slides/slide10.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347C41-5C1A-4F31-846C-A16B64659AC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FF88C5-9900-477C-B81E-AA6EA46C800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INPUT TO OUTPUT: PREDICTION</a:t>
            </a:r>
          </a:p>
        </p:txBody>
      </p:sp>
      <p:sp>
        <p:nvSpPr>
          <p:cNvPr id="3" name="">
            <a:extLst xmlns:a="http://schemas.openxmlformats.org/drawingml/2006/main">
              <a:ext uri="{FF2B5EF4-FFF2-40B4-BE49-F238E27FC236}">
                <a16:creationId xmlns:a16="http://schemas.microsoft.com/office/drawing/2014/main" id="{352765D9-D9A0-43DA-8BFE-E0405DA478B0}"/>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Steps 5–8 after the input becomes eight token IDs</a:t>
            </a:r>
          </a:p>
        </p:txBody>
      </p:sp>
      <p:sp>
        <p:nvSpPr>
          <p:cNvPr id="4" name="">
            <a:extLst xmlns:a="http://schemas.openxmlformats.org/drawingml/2006/main">
              <a:ext uri="{FF2B5EF4-FFF2-40B4-BE49-F238E27FC236}">
                <a16:creationId xmlns:a16="http://schemas.microsoft.com/office/drawing/2014/main" id="{544C59BB-3193-4CA0-B8A5-413C8C5687AE}"/>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1C5D4951-9956-4FBE-BC93-058A60C15ECA}"/>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D91B3A97-C108-4A2E-B67D-8C7A517A900E}"/>
              </a:ext>
            </a:extLst>
          </p:cNvPr>
          <p:cNvSpPr>
            <a:spLocks xmlns:a="http://schemas.openxmlformats.org/drawingml/2006/main" noGrp="1"/>
          </p:cNvSpPr>
          <p:nvPr/>
        </p:nvSpPr>
        <p:spPr>
          <a:xfrm xmlns:a="http://schemas.openxmlformats.org/drawingml/2006/main">
            <a:off x="571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C9F8561D-4185-400B-83AF-CF36F038313B}"/>
              </a:ext>
            </a:extLst>
          </p:cNvPr>
          <p:cNvSpPr>
            <a:spLocks xmlns:a="http://schemas.openxmlformats.org/drawingml/2006/main" noGrp="1"/>
          </p:cNvSpPr>
          <p:nvPr/>
        </p:nvSpPr>
        <p:spPr>
          <a:xfrm xmlns:a="http://schemas.openxmlformats.org/drawingml/2006/main">
            <a:off x="647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Embed words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 64 features</a:t>
            </a:r>
          </a:p>
        </p:txBody>
      </p:sp>
      <p:sp>
        <p:nvSpPr>
          <p:cNvPr id="8" name="">
            <a:extLst xmlns:a="http://schemas.openxmlformats.org/drawingml/2006/main">
              <a:ext uri="{FF2B5EF4-FFF2-40B4-BE49-F238E27FC236}">
                <a16:creationId xmlns:a16="http://schemas.microsoft.com/office/drawing/2014/main" id="{62422718-E1A8-415B-B8C6-732121DB07EA}"/>
              </a:ext>
            </a:extLst>
          </p:cNvPr>
          <p:cNvSpPr>
            <a:spLocks xmlns:a="http://schemas.openxmlformats.org/drawingml/2006/main" noGrp="1"/>
          </p:cNvSpPr>
          <p:nvPr/>
        </p:nvSpPr>
        <p:spPr>
          <a:xfrm xmlns:a="http://schemas.openxmlformats.org/drawingml/2006/main">
            <a:off x="2952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CDB61464-C62C-4993-B49F-552327A1AEA4}"/>
              </a:ext>
            </a:extLst>
          </p:cNvPr>
          <p:cNvSpPr>
            <a:spLocks xmlns:a="http://schemas.openxmlformats.org/drawingml/2006/main" noGrp="1"/>
          </p:cNvSpPr>
          <p:nvPr/>
        </p:nvSpPr>
        <p:spPr>
          <a:xfrm xmlns:a="http://schemas.openxmlformats.org/drawingml/2006/main">
            <a:off x="3429000" y="2190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B6FD6B73-BF25-49DF-91AF-97F8D758E10B}"/>
              </a:ext>
            </a:extLst>
          </p:cNvPr>
          <p:cNvSpPr>
            <a:spLocks xmlns:a="http://schemas.openxmlformats.org/drawingml/2006/main" noGrp="1"/>
          </p:cNvSpPr>
          <p:nvPr/>
        </p:nvSpPr>
        <p:spPr>
          <a:xfrm xmlns:a="http://schemas.openxmlformats.org/drawingml/2006/main">
            <a:off x="3505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6. 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128-d final state</a:t>
            </a:r>
          </a:p>
        </p:txBody>
      </p:sp>
      <p:sp>
        <p:nvSpPr>
          <p:cNvPr id="11" name="">
            <a:extLst xmlns:a="http://schemas.openxmlformats.org/drawingml/2006/main">
              <a:ext uri="{FF2B5EF4-FFF2-40B4-BE49-F238E27FC236}">
                <a16:creationId xmlns:a16="http://schemas.microsoft.com/office/drawing/2014/main" id="{58E6B567-4B69-4D0E-B673-B89D887D8F27}"/>
              </a:ext>
            </a:extLst>
          </p:cNvPr>
          <p:cNvSpPr>
            <a:spLocks xmlns:a="http://schemas.openxmlformats.org/drawingml/2006/main" noGrp="1"/>
          </p:cNvSpPr>
          <p:nvPr/>
        </p:nvSpPr>
        <p:spPr>
          <a:xfrm xmlns:a="http://schemas.openxmlformats.org/drawingml/2006/main">
            <a:off x="58102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DD7FCCAA-C3BE-45B3-90C7-EEE374730D2B}"/>
              </a:ext>
            </a:extLst>
          </p:cNvPr>
          <p:cNvSpPr>
            <a:spLocks xmlns:a="http://schemas.openxmlformats.org/drawingml/2006/main" noGrp="1"/>
          </p:cNvSpPr>
          <p:nvPr/>
        </p:nvSpPr>
        <p:spPr>
          <a:xfrm xmlns:a="http://schemas.openxmlformats.org/drawingml/2006/main">
            <a:off x="62865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E7E8BACA-3D08-4CCB-9E73-1CB0A91E7711}"/>
              </a:ext>
            </a:extLst>
          </p:cNvPr>
          <p:cNvSpPr>
            <a:spLocks xmlns:a="http://schemas.openxmlformats.org/drawingml/2006/main" noGrp="1"/>
          </p:cNvSpPr>
          <p:nvPr/>
        </p:nvSpPr>
        <p:spPr>
          <a:xfrm xmlns:a="http://schemas.openxmlformats.org/drawingml/2006/main">
            <a:off x="63627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7. Output layer</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scores</a:t>
            </a:r>
          </a:p>
        </p:txBody>
      </p:sp>
      <p:sp>
        <p:nvSpPr>
          <p:cNvPr id="14" name="">
            <a:extLst xmlns:a="http://schemas.openxmlformats.org/drawingml/2006/main">
              <a:ext uri="{FF2B5EF4-FFF2-40B4-BE49-F238E27FC236}">
                <a16:creationId xmlns:a16="http://schemas.microsoft.com/office/drawing/2014/main" id="{72C4DE51-80E7-4B15-9FEC-9FDBA05E7696}"/>
              </a:ext>
            </a:extLst>
          </p:cNvPr>
          <p:cNvSpPr>
            <a:spLocks xmlns:a="http://schemas.openxmlformats.org/drawingml/2006/main" noGrp="1"/>
          </p:cNvSpPr>
          <p:nvPr/>
        </p:nvSpPr>
        <p:spPr>
          <a:xfrm xmlns:a="http://schemas.openxmlformats.org/drawingml/2006/main">
            <a:off x="8667750" y="2381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DA45A555-6CCC-4704-B26E-A677B0471DC2}"/>
              </a:ext>
            </a:extLst>
          </p:cNvPr>
          <p:cNvSpPr>
            <a:spLocks xmlns:a="http://schemas.openxmlformats.org/drawingml/2006/main" noGrp="1"/>
          </p:cNvSpPr>
          <p:nvPr/>
        </p:nvSpPr>
        <p:spPr>
          <a:xfrm xmlns:a="http://schemas.openxmlformats.org/drawingml/2006/main">
            <a:off x="9144000" y="21907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5B331FE-F785-44A9-A294-B1F377B712E6}"/>
              </a:ext>
            </a:extLst>
          </p:cNvPr>
          <p:cNvSpPr>
            <a:spLocks xmlns:a="http://schemas.openxmlformats.org/drawingml/2006/main" noGrp="1"/>
          </p:cNvSpPr>
          <p:nvPr/>
        </p:nvSpPr>
        <p:spPr>
          <a:xfrm xmlns:a="http://schemas.openxmlformats.org/drawingml/2006/main">
            <a:off x="9220200" y="2362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 Rank + display</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words</a:t>
            </a:r>
          </a:p>
        </p:txBody>
      </p:sp>
      <p:sp>
        <p:nvSpPr>
          <p:cNvPr id="17" name="">
            <a:extLst xmlns:a="http://schemas.openxmlformats.org/drawingml/2006/main">
              <a:ext uri="{FF2B5EF4-FFF2-40B4-BE49-F238E27FC236}">
                <a16:creationId xmlns:a16="http://schemas.microsoft.com/office/drawing/2014/main" id="{A94E1B04-0278-4F6E-9E7C-EE902644BE6B}"/>
              </a:ext>
            </a:extLst>
          </p:cNvPr>
          <p:cNvSpPr>
            <a:spLocks xmlns:a="http://schemas.openxmlformats.org/drawingml/2006/main" noGrp="1"/>
          </p:cNvSpPr>
          <p:nvPr/>
        </p:nvSpPr>
        <p:spPr>
          <a:xfrm xmlns:a="http://schemas.openxmlformats.org/drawingml/2006/main">
            <a:off x="619125" y="3762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344E41"/>
                </a:solidFill>
                <a:latin typeface="Cambria"/>
                <a:ea typeface="Cambria"/>
                <a:cs typeface="Cambria"/>
              </a:defRPr>
            </a:defPPr>
          </a:lstStyle>
          <a:p xmlns:a="http://schemas.openxmlformats.org/drawingml/2006/main">
            <a:pPr>
              <a:defRPr sz="2475" b="0">
                <a:solidFill>
                  <a:srgbClr val="344E41"/>
                </a:solidFill>
                <a:latin typeface="Cambria"/>
                <a:ea typeface="Cambria"/>
                <a:cs typeface="Cambria"/>
              </a:defRPr>
            </a:pPr>
            <a:r>
              <a:rPr sz="2475" b="0">
                <a:solidFill>
                  <a:srgbClr val="344E41"/>
                </a:solidFill>
                <a:latin typeface="Cambria"/>
                <a:ea typeface="Cambria"/>
                <a:cs typeface="Cambria"/>
              </a:rPr>
              <a:t>z = Wout h + bout      pⱼ = exp(zⱼ) / Σₖ exp(zₖ)</a:t>
            </a:r>
          </a:p>
        </p:txBody>
      </p:sp>
      <p:sp>
        <p:nvSpPr>
          <p:cNvPr id="18" name="">
            <a:extLst xmlns:a="http://schemas.openxmlformats.org/drawingml/2006/main">
              <a:ext uri="{FF2B5EF4-FFF2-40B4-BE49-F238E27FC236}">
                <a16:creationId xmlns:a16="http://schemas.microsoft.com/office/drawing/2014/main" id="{478EF58B-4711-4A36-9513-C981D69A05E3}"/>
              </a:ext>
            </a:extLst>
          </p:cNvPr>
          <p:cNvSpPr>
            <a:spLocks xmlns:a="http://schemas.openxmlformats.org/drawingml/2006/main" noGrp="1"/>
          </p:cNvSpPr>
          <p:nvPr/>
        </p:nvSpPr>
        <p:spPr>
          <a:xfrm xmlns:a="http://schemas.openxmlformats.org/drawingml/2006/main">
            <a:off x="571500" y="4714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Exclude PAD and UNK from suggestions. Convert the highest-ranked</a:t>
            </a:r>
          </a:p>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word IDs back to Telugu words and show their probabilities.</a:t>
            </a:r>
          </a:p>
        </p:txBody>
      </p:sp>
      <p:sp>
        <p:nvSpPr>
          <p:cNvPr id="19" name="">
            <a:extLst xmlns:a="http://schemas.openxmlformats.org/drawingml/2006/main">
              <a:ext uri="{FF2B5EF4-FFF2-40B4-BE49-F238E27FC236}">
                <a16:creationId xmlns:a16="http://schemas.microsoft.com/office/drawing/2014/main" id="{3497E8F6-31B2-4AE1-B168-2F58F735C3C4}"/>
              </a:ext>
            </a:extLst>
          </p:cNvPr>
          <p:cNvSpPr>
            <a:spLocks xmlns:a="http://schemas.openxmlformats.org/drawingml/2006/main" noGrp="1"/>
          </p:cNvSpPr>
          <p:nvPr/>
        </p:nvSpPr>
        <p:spPr>
          <a:xfrm xmlns:a="http://schemas.openxmlformats.org/drawingml/2006/main">
            <a:off x="571500" y="56578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456052"/>
                </a:solidFill>
                <a:latin typeface="Arial"/>
                <a:ea typeface="Arial"/>
                <a:cs typeface="Arial"/>
              </a:defRPr>
            </a:defPPr>
          </a:lstStyle>
          <a:p xmlns:a="http://schemas.openxmlformats.org/drawingml/2006/main">
            <a:pPr>
              <a:defRPr sz="1800" b="0">
                <a:solidFill>
                  <a:srgbClr val="456052"/>
                </a:solidFill>
                <a:latin typeface="Arial"/>
                <a:ea typeface="Arial"/>
                <a:cs typeface="Arial"/>
              </a:defRPr>
            </a:pPr>
            <a:r>
              <a:rPr sz="1800" b="0">
                <a:solidFill>
                  <a:srgbClr val="456052"/>
                </a:solidFill>
                <a:latin typeface="Arial"/>
                <a:ea typeface="Arial"/>
                <a:cs typeface="Arial"/>
              </a:rPr>
              <a:t>Inference uses saved weights. Clicking Predict does not retrain the model.</a:t>
            </a:r>
          </a:p>
        </p:txBody>
      </p:sp>
    </p:spTree>
    <p:extLst>
      <p:ext uri="{BB962C8B-B14F-4D97-AF65-F5344CB8AC3E}">
        <p14:creationId xmlns:p14="http://schemas.microsoft.com/office/powerpoint/2010/main" val="1705092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2026-10-14T09:57:35.0120000Z</dcterms:created>
  <dcterms:modified xsi:type="dcterms:W3CDTF">2026-10-14T09:57:35.0120000Z</dcterms:modified>
</coreProperties>
</file>